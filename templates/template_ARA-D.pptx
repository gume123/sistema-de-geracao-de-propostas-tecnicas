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"/>
  </p:notesMasterIdLst>
  <p:sldIdLst>
    <p:sldId id="256" r:id="rId2"/>
    <p:sldId id="263" r:id="rId3"/>
    <p:sldId id="258" r:id="rId4"/>
    <p:sldId id="264" r:id="rId5"/>
    <p:sldId id="265" r:id="rId6"/>
    <p:sldId id="261" r:id="rId7"/>
    <p:sldId id="262" r:id="rId8"/>
  </p:sldIdLst>
  <p:sldSz cx="7561263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F0EF"/>
    <a:srgbClr val="E0168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247" autoAdjust="0"/>
  </p:normalViewPr>
  <p:slideViewPr>
    <p:cSldViewPr snapToGrid="0">
      <p:cViewPr varScale="1">
        <p:scale>
          <a:sx n="72" d="100"/>
          <a:sy n="72" d="100"/>
        </p:scale>
        <p:origin x="3120" y="60"/>
      </p:cViewPr>
      <p:guideLst/>
    </p:cSldViewPr>
  </p:slideViewPr>
  <p:notesTextViewPr>
    <p:cViewPr>
      <p:scale>
        <a:sx n="150" d="100"/>
        <a:sy n="1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CAEED2-BC16-4826-88B5-7A60AAAA0FBF}" type="datetimeFigureOut">
              <a:rPr lang="pt-BR" smtClean="0"/>
              <a:t>30/04/2026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097D3D-285D-4500-AB96-F7BD5CB94F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0008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A85676-3050-B7A4-0D80-6DCE23B10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BD63050-3B23-FA3E-8344-DC41D5810C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0A5C84F-7862-965D-F9A8-BB66EEEB1A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DB0E24A-3BB8-EAF3-2B5B-8DD9420A45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097D3D-285D-4500-AB96-F7BD5CB94F5C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09074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7095" y="1749795"/>
            <a:ext cx="6427074" cy="3722335"/>
          </a:xfrm>
        </p:spPr>
        <p:txBody>
          <a:bodyPr anchor="b"/>
          <a:lstStyle>
            <a:lvl1pPr algn="ctr">
              <a:defRPr sz="4961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5158" y="5615678"/>
            <a:ext cx="5670947" cy="2581379"/>
          </a:xfrm>
        </p:spPr>
        <p:txBody>
          <a:bodyPr/>
          <a:lstStyle>
            <a:lvl1pPr marL="0" indent="0" algn="ctr">
              <a:buNone/>
              <a:defRPr sz="1985"/>
            </a:lvl1pPr>
            <a:lvl2pPr marL="378059" indent="0" algn="ctr">
              <a:buNone/>
              <a:defRPr sz="1654"/>
            </a:lvl2pPr>
            <a:lvl3pPr marL="756117" indent="0" algn="ctr">
              <a:buNone/>
              <a:defRPr sz="1488"/>
            </a:lvl3pPr>
            <a:lvl4pPr marL="1134176" indent="0" algn="ctr">
              <a:buNone/>
              <a:defRPr sz="1323"/>
            </a:lvl4pPr>
            <a:lvl5pPr marL="1512235" indent="0" algn="ctr">
              <a:buNone/>
              <a:defRPr sz="1323"/>
            </a:lvl5pPr>
            <a:lvl6pPr marL="1890293" indent="0" algn="ctr">
              <a:buNone/>
              <a:defRPr sz="1323"/>
            </a:lvl6pPr>
            <a:lvl7pPr marL="2268352" indent="0" algn="ctr">
              <a:buNone/>
              <a:defRPr sz="1323"/>
            </a:lvl7pPr>
            <a:lvl8pPr marL="2646411" indent="0" algn="ctr">
              <a:buNone/>
              <a:defRPr sz="1323"/>
            </a:lvl8pPr>
            <a:lvl9pPr marL="3024469" indent="0" algn="ctr">
              <a:buNone/>
              <a:defRPr sz="1323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30/04/2026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4862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30/04/2026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24714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899" y="2665532"/>
            <a:ext cx="6521589" cy="4447496"/>
          </a:xfrm>
        </p:spPr>
        <p:txBody>
          <a:bodyPr anchor="b"/>
          <a:lstStyle>
            <a:lvl1pPr>
              <a:defRPr sz="4961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899" y="7155103"/>
            <a:ext cx="6521589" cy="2338833"/>
          </a:xfrm>
        </p:spPr>
        <p:txBody>
          <a:bodyPr/>
          <a:lstStyle>
            <a:lvl1pPr marL="0" indent="0">
              <a:buNone/>
              <a:defRPr sz="1985">
                <a:solidFill>
                  <a:schemeClr val="tx1">
                    <a:tint val="82000"/>
                  </a:schemeClr>
                </a:solidFill>
              </a:defRPr>
            </a:lvl1pPr>
            <a:lvl2pPr marL="378059" indent="0">
              <a:buNone/>
              <a:defRPr sz="1654">
                <a:solidFill>
                  <a:schemeClr val="tx1">
                    <a:tint val="82000"/>
                  </a:schemeClr>
                </a:solidFill>
              </a:defRPr>
            </a:lvl2pPr>
            <a:lvl3pPr marL="756117" indent="0">
              <a:buNone/>
              <a:defRPr sz="1488">
                <a:solidFill>
                  <a:schemeClr val="tx1">
                    <a:tint val="82000"/>
                  </a:schemeClr>
                </a:solidFill>
              </a:defRPr>
            </a:lvl3pPr>
            <a:lvl4pPr marL="1134176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4pPr>
            <a:lvl5pPr marL="1512235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5pPr>
            <a:lvl6pPr marL="1890293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6pPr>
            <a:lvl7pPr marL="2268352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7pPr>
            <a:lvl8pPr marL="2646411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8pPr>
            <a:lvl9pPr marL="3024469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30/04/2026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34084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837" y="2846200"/>
            <a:ext cx="3213537" cy="6783857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889" y="2846200"/>
            <a:ext cx="3213537" cy="6783857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30/04/2026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19463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822" y="569242"/>
            <a:ext cx="6521589" cy="206659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823" y="2620980"/>
            <a:ext cx="3198768" cy="1284502"/>
          </a:xfrm>
        </p:spPr>
        <p:txBody>
          <a:bodyPr anchor="b"/>
          <a:lstStyle>
            <a:lvl1pPr marL="0" indent="0">
              <a:buNone/>
              <a:defRPr sz="1985" b="1"/>
            </a:lvl1pPr>
            <a:lvl2pPr marL="378059" indent="0">
              <a:buNone/>
              <a:defRPr sz="1654" b="1"/>
            </a:lvl2pPr>
            <a:lvl3pPr marL="756117" indent="0">
              <a:buNone/>
              <a:defRPr sz="1488" b="1"/>
            </a:lvl3pPr>
            <a:lvl4pPr marL="1134176" indent="0">
              <a:buNone/>
              <a:defRPr sz="1323" b="1"/>
            </a:lvl4pPr>
            <a:lvl5pPr marL="1512235" indent="0">
              <a:buNone/>
              <a:defRPr sz="1323" b="1"/>
            </a:lvl5pPr>
            <a:lvl6pPr marL="1890293" indent="0">
              <a:buNone/>
              <a:defRPr sz="1323" b="1"/>
            </a:lvl6pPr>
            <a:lvl7pPr marL="2268352" indent="0">
              <a:buNone/>
              <a:defRPr sz="1323" b="1"/>
            </a:lvl7pPr>
            <a:lvl8pPr marL="2646411" indent="0">
              <a:buNone/>
              <a:defRPr sz="1323" b="1"/>
            </a:lvl8pPr>
            <a:lvl9pPr marL="3024469" indent="0">
              <a:buNone/>
              <a:defRPr sz="1323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823" y="3905482"/>
            <a:ext cx="3198768" cy="5744375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890" y="2620980"/>
            <a:ext cx="3214522" cy="1284502"/>
          </a:xfrm>
        </p:spPr>
        <p:txBody>
          <a:bodyPr anchor="b"/>
          <a:lstStyle>
            <a:lvl1pPr marL="0" indent="0">
              <a:buNone/>
              <a:defRPr sz="1985" b="1"/>
            </a:lvl1pPr>
            <a:lvl2pPr marL="378059" indent="0">
              <a:buNone/>
              <a:defRPr sz="1654" b="1"/>
            </a:lvl2pPr>
            <a:lvl3pPr marL="756117" indent="0">
              <a:buNone/>
              <a:defRPr sz="1488" b="1"/>
            </a:lvl3pPr>
            <a:lvl4pPr marL="1134176" indent="0">
              <a:buNone/>
              <a:defRPr sz="1323" b="1"/>
            </a:lvl4pPr>
            <a:lvl5pPr marL="1512235" indent="0">
              <a:buNone/>
              <a:defRPr sz="1323" b="1"/>
            </a:lvl5pPr>
            <a:lvl6pPr marL="1890293" indent="0">
              <a:buNone/>
              <a:defRPr sz="1323" b="1"/>
            </a:lvl6pPr>
            <a:lvl7pPr marL="2268352" indent="0">
              <a:buNone/>
              <a:defRPr sz="1323" b="1"/>
            </a:lvl7pPr>
            <a:lvl8pPr marL="2646411" indent="0">
              <a:buNone/>
              <a:defRPr sz="1323" b="1"/>
            </a:lvl8pPr>
            <a:lvl9pPr marL="3024469" indent="0">
              <a:buNone/>
              <a:defRPr sz="1323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890" y="3905482"/>
            <a:ext cx="3214522" cy="5744375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30/04/2026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26929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30/04/2026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6959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30/04/2026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82774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822" y="712788"/>
            <a:ext cx="2438704" cy="2494756"/>
          </a:xfrm>
        </p:spPr>
        <p:txBody>
          <a:bodyPr anchor="b"/>
          <a:lstStyle>
            <a:lvl1pPr>
              <a:defRPr sz="2646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4522" y="1539425"/>
            <a:ext cx="3827889" cy="7598117"/>
          </a:xfrm>
        </p:spPr>
        <p:txBody>
          <a:bodyPr/>
          <a:lstStyle>
            <a:lvl1pPr>
              <a:defRPr sz="2646"/>
            </a:lvl1pPr>
            <a:lvl2pPr>
              <a:defRPr sz="2315"/>
            </a:lvl2pPr>
            <a:lvl3pPr>
              <a:defRPr sz="1985"/>
            </a:lvl3pPr>
            <a:lvl4pPr>
              <a:defRPr sz="1654"/>
            </a:lvl4pPr>
            <a:lvl5pPr>
              <a:defRPr sz="1654"/>
            </a:lvl5pPr>
            <a:lvl6pPr>
              <a:defRPr sz="1654"/>
            </a:lvl6pPr>
            <a:lvl7pPr>
              <a:defRPr sz="1654"/>
            </a:lvl7pPr>
            <a:lvl8pPr>
              <a:defRPr sz="1654"/>
            </a:lvl8pPr>
            <a:lvl9pPr>
              <a:defRPr sz="1654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822" y="3207544"/>
            <a:ext cx="2438704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8059" indent="0">
              <a:buNone/>
              <a:defRPr sz="1158"/>
            </a:lvl2pPr>
            <a:lvl3pPr marL="756117" indent="0">
              <a:buNone/>
              <a:defRPr sz="992"/>
            </a:lvl3pPr>
            <a:lvl4pPr marL="1134176" indent="0">
              <a:buNone/>
              <a:defRPr sz="827"/>
            </a:lvl4pPr>
            <a:lvl5pPr marL="1512235" indent="0">
              <a:buNone/>
              <a:defRPr sz="827"/>
            </a:lvl5pPr>
            <a:lvl6pPr marL="1890293" indent="0">
              <a:buNone/>
              <a:defRPr sz="827"/>
            </a:lvl6pPr>
            <a:lvl7pPr marL="2268352" indent="0">
              <a:buNone/>
              <a:defRPr sz="827"/>
            </a:lvl7pPr>
            <a:lvl8pPr marL="2646411" indent="0">
              <a:buNone/>
              <a:defRPr sz="827"/>
            </a:lvl8pPr>
            <a:lvl9pPr marL="3024469" indent="0">
              <a:buNone/>
              <a:defRPr sz="827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30/04/2026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91206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822" y="712788"/>
            <a:ext cx="2438704" cy="2494756"/>
          </a:xfrm>
        </p:spPr>
        <p:txBody>
          <a:bodyPr anchor="b"/>
          <a:lstStyle>
            <a:lvl1pPr>
              <a:defRPr sz="2646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4522" y="1539425"/>
            <a:ext cx="3827889" cy="7598117"/>
          </a:xfrm>
        </p:spPr>
        <p:txBody>
          <a:bodyPr anchor="t"/>
          <a:lstStyle>
            <a:lvl1pPr marL="0" indent="0">
              <a:buNone/>
              <a:defRPr sz="2646"/>
            </a:lvl1pPr>
            <a:lvl2pPr marL="378059" indent="0">
              <a:buNone/>
              <a:defRPr sz="2315"/>
            </a:lvl2pPr>
            <a:lvl3pPr marL="756117" indent="0">
              <a:buNone/>
              <a:defRPr sz="1985"/>
            </a:lvl3pPr>
            <a:lvl4pPr marL="1134176" indent="0">
              <a:buNone/>
              <a:defRPr sz="1654"/>
            </a:lvl4pPr>
            <a:lvl5pPr marL="1512235" indent="0">
              <a:buNone/>
              <a:defRPr sz="1654"/>
            </a:lvl5pPr>
            <a:lvl6pPr marL="1890293" indent="0">
              <a:buNone/>
              <a:defRPr sz="1654"/>
            </a:lvl6pPr>
            <a:lvl7pPr marL="2268352" indent="0">
              <a:buNone/>
              <a:defRPr sz="1654"/>
            </a:lvl7pPr>
            <a:lvl8pPr marL="2646411" indent="0">
              <a:buNone/>
              <a:defRPr sz="1654"/>
            </a:lvl8pPr>
            <a:lvl9pPr marL="3024469" indent="0">
              <a:buNone/>
              <a:defRPr sz="1654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822" y="3207544"/>
            <a:ext cx="2438704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8059" indent="0">
              <a:buNone/>
              <a:defRPr sz="1158"/>
            </a:lvl2pPr>
            <a:lvl3pPr marL="756117" indent="0">
              <a:buNone/>
              <a:defRPr sz="992"/>
            </a:lvl3pPr>
            <a:lvl4pPr marL="1134176" indent="0">
              <a:buNone/>
              <a:defRPr sz="827"/>
            </a:lvl4pPr>
            <a:lvl5pPr marL="1512235" indent="0">
              <a:buNone/>
              <a:defRPr sz="827"/>
            </a:lvl5pPr>
            <a:lvl6pPr marL="1890293" indent="0">
              <a:buNone/>
              <a:defRPr sz="827"/>
            </a:lvl6pPr>
            <a:lvl7pPr marL="2268352" indent="0">
              <a:buNone/>
              <a:defRPr sz="827"/>
            </a:lvl7pPr>
            <a:lvl8pPr marL="2646411" indent="0">
              <a:buNone/>
              <a:defRPr sz="827"/>
            </a:lvl8pPr>
            <a:lvl9pPr marL="3024469" indent="0">
              <a:buNone/>
              <a:defRPr sz="827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30/04/2026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3488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30/04/2026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76184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11029" y="569240"/>
            <a:ext cx="1630397" cy="90608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837" y="569240"/>
            <a:ext cx="4796676" cy="90608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30/04/2026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5912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837" y="569242"/>
            <a:ext cx="6521589" cy="20665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837" y="2846200"/>
            <a:ext cx="6521589" cy="67838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837" y="9909729"/>
            <a:ext cx="1701284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57E78B-50A5-4041-B8E5-C741E639875A}" type="datetimeFigureOut">
              <a:rPr lang="pt-BR" smtClean="0"/>
              <a:t>30/04/2026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669" y="9909729"/>
            <a:ext cx="2551926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40142" y="9909729"/>
            <a:ext cx="1701284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32661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56117" rtl="0" eaLnBrk="1" latinLnBrk="0" hangingPunct="1">
        <a:lnSpc>
          <a:spcPct val="90000"/>
        </a:lnSpc>
        <a:spcBef>
          <a:spcPct val="0"/>
        </a:spcBef>
        <a:buNone/>
        <a:defRPr sz="363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9029" indent="-189029" algn="l" defTabSz="756117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1pPr>
      <a:lvl2pPr marL="567088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2pPr>
      <a:lvl3pPr marL="945147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4" kern="1200">
          <a:solidFill>
            <a:schemeClr val="tx1"/>
          </a:solidFill>
          <a:latin typeface="+mn-lt"/>
          <a:ea typeface="+mn-ea"/>
          <a:cs typeface="+mn-cs"/>
        </a:defRPr>
      </a:lvl3pPr>
      <a:lvl4pPr marL="1323205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701264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2079323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457381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835440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213499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8059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6117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4176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2235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90293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8352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6411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4469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0.png"/><Relationship Id="rId7" Type="http://schemas.openxmlformats.org/officeDocument/2006/relationships/image" Target="../media/image2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Imagem 28">
            <a:extLst>
              <a:ext uri="{FF2B5EF4-FFF2-40B4-BE49-F238E27FC236}">
                <a16:creationId xmlns:a16="http://schemas.microsoft.com/office/drawing/2014/main" id="{13CDD406-37B5-AE55-73A2-1A6D4C7564C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" y="0"/>
            <a:ext cx="7558636" cy="10691813"/>
          </a:xfrm>
          <a:prstGeom prst="rect">
            <a:avLst/>
          </a:prstGeom>
        </p:spPr>
      </p:pic>
      <p:pic>
        <p:nvPicPr>
          <p:cNvPr id="27" name="Imagem 26">
            <a:extLst>
              <a:ext uri="{FF2B5EF4-FFF2-40B4-BE49-F238E27FC236}">
                <a16:creationId xmlns:a16="http://schemas.microsoft.com/office/drawing/2014/main" id="{B41925B5-F653-5F92-AAEB-B954175E16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2962" y="10125011"/>
            <a:ext cx="795338" cy="274618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3DC845A9-853D-9012-EDE5-0A9B2198D4E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8554" y="1604220"/>
            <a:ext cx="7738370" cy="7738370"/>
          </a:xfrm>
          <a:prstGeom prst="rect">
            <a:avLst/>
          </a:prstGeom>
        </p:spPr>
      </p:pic>
      <p:sp>
        <p:nvSpPr>
          <p:cNvPr id="12" name="CaixaDeTexto 11">
            <a:extLst>
              <a:ext uri="{FF2B5EF4-FFF2-40B4-BE49-F238E27FC236}">
                <a16:creationId xmlns:a16="http://schemas.microsoft.com/office/drawing/2014/main" id="{C3A9FCE9-3062-7079-4453-313B4A31E5C8}"/>
              </a:ext>
            </a:extLst>
          </p:cNvPr>
          <p:cNvSpPr txBox="1"/>
          <p:nvPr/>
        </p:nvSpPr>
        <p:spPr>
          <a:xfrm>
            <a:off x="283283" y="941644"/>
            <a:ext cx="6994696" cy="8489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5900"/>
              </a:lnSpc>
            </a:pPr>
            <a:r>
              <a:rPr lang="pt-BR" sz="5400" b="1">
                <a:solidFill>
                  <a:srgbClr val="E01684"/>
                </a:solidFill>
                <a:latin typeface="Arial Black" panose="020B0A04020102020204" pitchFamily="34" charset="0"/>
                <a:ea typeface="Inter" panose="02000503000000020004" pitchFamily="2" charset="0"/>
              </a:rPr>
              <a:t>ARA-D</a:t>
            </a:r>
            <a:endParaRPr lang="pt-BR" sz="5400" b="1" dirty="0">
              <a:solidFill>
                <a:srgbClr val="E01684"/>
              </a:solidFill>
              <a:latin typeface="Arial Black" panose="020B0A04020102020204" pitchFamily="34" charset="0"/>
              <a:ea typeface="Inter" panose="02000503000000020004" pitchFamily="2" charset="0"/>
            </a:endParaRP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EB4A31B7-E676-9D9D-EAA8-EA3E4D7A7EEC}"/>
              </a:ext>
            </a:extLst>
          </p:cNvPr>
          <p:cNvSpPr txBox="1"/>
          <p:nvPr/>
        </p:nvSpPr>
        <p:spPr>
          <a:xfrm>
            <a:off x="3521356" y="8618436"/>
            <a:ext cx="37057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6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Proposta</a:t>
            </a:r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1600" b="1">
                <a:latin typeface="Arial" panose="020B0604020202020204" pitchFamily="34" charset="0"/>
                <a:cs typeface="Arial" panose="020B0604020202020204" pitchFamily="34" charset="0"/>
              </a:rPr>
              <a:t>Técnica Nº {{proposta}}</a:t>
            </a:r>
            <a:endParaRPr lang="pt-BR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02C52F96-E06A-8FB8-4F3F-04D06453EBC0}"/>
              </a:ext>
            </a:extLst>
          </p:cNvPr>
          <p:cNvSpPr txBox="1"/>
          <p:nvPr/>
        </p:nvSpPr>
        <p:spPr>
          <a:xfrm>
            <a:off x="3819673" y="8931807"/>
            <a:ext cx="337427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6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Aplicação: </a:t>
            </a:r>
            <a:r>
              <a:rPr lang="pt-BR" sz="16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Alta Dispersão e Homogeneização</a:t>
            </a:r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F1C47C2C-100E-1994-48D5-4061233F7F52}"/>
              </a:ext>
            </a:extLst>
          </p:cNvPr>
          <p:cNvSpPr/>
          <p:nvPr/>
        </p:nvSpPr>
        <p:spPr>
          <a:xfrm>
            <a:off x="642937" y="8223749"/>
            <a:ext cx="1776413" cy="1901262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397C667B-4659-0887-0523-4C30231FC1C2}"/>
              </a:ext>
            </a:extLst>
          </p:cNvPr>
          <p:cNvSpPr txBox="1"/>
          <p:nvPr/>
        </p:nvSpPr>
        <p:spPr>
          <a:xfrm>
            <a:off x="855915" y="8326048"/>
            <a:ext cx="13609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Tecnologia: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</a:br>
            <a:r>
              <a:rPr lang="pt-BR" sz="1600" dirty="0">
                <a:solidFill>
                  <a:schemeClr val="bg1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ARA-D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DC3F947C-5F9A-DE09-4AC5-2F65D4F9C9CE}"/>
              </a:ext>
            </a:extLst>
          </p:cNvPr>
          <p:cNvSpPr txBox="1"/>
          <p:nvPr/>
        </p:nvSpPr>
        <p:spPr>
          <a:xfrm>
            <a:off x="742122" y="9165394"/>
            <a:ext cx="157700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Diâmetro: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</a:br>
            <a:r>
              <a:rPr lang="pt-BR" sz="1600" dirty="0">
                <a:solidFill>
                  <a:schemeClr val="bg1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{{</a:t>
            </a:r>
            <a:r>
              <a:rPr lang="pt-BR" sz="1600" dirty="0" err="1">
                <a:solidFill>
                  <a:schemeClr val="bg1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diametro_corpo</a:t>
            </a:r>
            <a:r>
              <a:rPr lang="pt-BR" sz="1600" dirty="0">
                <a:solidFill>
                  <a:schemeClr val="bg1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mm</a:t>
            </a:r>
          </a:p>
          <a:p>
            <a:pPr algn="ctr"/>
            <a:endParaRPr lang="pt-BR" sz="1600" dirty="0">
              <a:solidFill>
                <a:schemeClr val="bg1"/>
              </a:solidFill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cxnSp>
        <p:nvCxnSpPr>
          <p:cNvPr id="19" name="Conector reto 18">
            <a:extLst>
              <a:ext uri="{FF2B5EF4-FFF2-40B4-BE49-F238E27FC236}">
                <a16:creationId xmlns:a16="http://schemas.microsoft.com/office/drawing/2014/main" id="{9B12C594-B9D1-8FC7-D6D1-23BB98F79257}"/>
              </a:ext>
            </a:extLst>
          </p:cNvPr>
          <p:cNvCxnSpPr>
            <a:cxnSpLocks/>
          </p:cNvCxnSpPr>
          <p:nvPr/>
        </p:nvCxnSpPr>
        <p:spPr>
          <a:xfrm>
            <a:off x="642937" y="9051712"/>
            <a:ext cx="177641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41583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3DA2B-66A4-6132-B1DB-35EA12B7C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Imagem 52">
            <a:extLst>
              <a:ext uri="{FF2B5EF4-FFF2-40B4-BE49-F238E27FC236}">
                <a16:creationId xmlns:a16="http://schemas.microsoft.com/office/drawing/2014/main" id="{2DA6CAA3-6C7E-DF1D-C489-75B8DC67F73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" y="0"/>
            <a:ext cx="7558636" cy="10691813"/>
          </a:xfrm>
          <a:prstGeom prst="rect">
            <a:avLst/>
          </a:prstGeom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0169B29F-5158-B93F-9B80-AC854030C197}"/>
              </a:ext>
            </a:extLst>
          </p:cNvPr>
          <p:cNvSpPr txBox="1"/>
          <p:nvPr/>
        </p:nvSpPr>
        <p:spPr>
          <a:xfrm>
            <a:off x="195744" y="684011"/>
            <a:ext cx="6680618" cy="1371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5100"/>
              </a:lnSpc>
            </a:pPr>
            <a:r>
              <a:rPr lang="pt-BR" sz="4000" b="1" dirty="0">
                <a:solidFill>
                  <a:srgbClr val="E01684"/>
                </a:solidFill>
                <a:latin typeface="Arial Black" panose="020B0A04020102020204" pitchFamily="34" charset="0"/>
                <a:ea typeface="Inter" panose="02000503000000020004" pitchFamily="2" charset="0"/>
              </a:rPr>
              <a:t>Especificidades Técnicas</a:t>
            </a:r>
          </a:p>
        </p:txBody>
      </p:sp>
      <p:pic>
        <p:nvPicPr>
          <p:cNvPr id="37" name="Imagem 36">
            <a:extLst>
              <a:ext uri="{FF2B5EF4-FFF2-40B4-BE49-F238E27FC236}">
                <a16:creationId xmlns:a16="http://schemas.microsoft.com/office/drawing/2014/main" id="{13CA9346-23F1-71E1-6B40-3B6F77FDF3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0855" y="10150411"/>
            <a:ext cx="795338" cy="274618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67A9D501-15CB-9048-AF8C-694AEBB7128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030"/>
          <a:stretch>
            <a:fillRect/>
          </a:stretch>
        </p:blipFill>
        <p:spPr>
          <a:xfrm>
            <a:off x="752739" y="6372359"/>
            <a:ext cx="6057222" cy="4904524"/>
          </a:xfrm>
          <a:prstGeom prst="rect">
            <a:avLst/>
          </a:prstGeom>
        </p:spPr>
      </p:pic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9747E1B5-9B9D-B382-28B6-3CA5AA113FC8}"/>
              </a:ext>
            </a:extLst>
          </p:cNvPr>
          <p:cNvSpPr/>
          <p:nvPr/>
        </p:nvSpPr>
        <p:spPr>
          <a:xfrm>
            <a:off x="855720" y="2705196"/>
            <a:ext cx="97631" cy="100335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B3E8CE56-A77A-FC5C-5B0A-FF7ADAA1B93E}"/>
              </a:ext>
            </a:extLst>
          </p:cNvPr>
          <p:cNvSpPr txBox="1"/>
          <p:nvPr/>
        </p:nvSpPr>
        <p:spPr>
          <a:xfrm>
            <a:off x="1139584" y="2451964"/>
            <a:ext cx="20271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Vetor: 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ARA-D com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Aleta Dedicada.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26004139-C9BE-7310-618A-3E462744AADF}"/>
              </a:ext>
            </a:extLst>
          </p:cNvPr>
          <p:cNvSpPr txBox="1"/>
          <p:nvPr/>
        </p:nvSpPr>
        <p:spPr>
          <a:xfrm>
            <a:off x="1110556" y="3226129"/>
            <a:ext cx="23790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Diâmetro da Aleta: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{{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diametro_aleta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mm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82BFC55E-787D-A277-E960-E65951679B16}"/>
              </a:ext>
            </a:extLst>
          </p:cNvPr>
          <p:cNvSpPr txBox="1"/>
          <p:nvPr/>
        </p:nvSpPr>
        <p:spPr>
          <a:xfrm>
            <a:off x="1110556" y="3917899"/>
            <a:ext cx="20271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Espaçamento: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{{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espacamento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mm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22774EC6-F391-71E6-92E6-FFD83EC43CD0}"/>
              </a:ext>
            </a:extLst>
          </p:cNvPr>
          <p:cNvSpPr txBox="1"/>
          <p:nvPr/>
        </p:nvSpPr>
        <p:spPr>
          <a:xfrm>
            <a:off x="1110556" y="4627554"/>
            <a:ext cx="20271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Diâmetro do Corpo: 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{{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diametro_corpo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mm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BEBDEC61-84C3-707A-2A0A-5E11EEBEDA25}"/>
              </a:ext>
            </a:extLst>
          </p:cNvPr>
          <p:cNvSpPr txBox="1"/>
          <p:nvPr/>
        </p:nvSpPr>
        <p:spPr>
          <a:xfrm>
            <a:off x="4432093" y="2451964"/>
            <a:ext cx="20271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Acabamento: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Semi escovado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CE998BD9-7CD0-4678-AB5D-55B77A955AA6}"/>
              </a:ext>
            </a:extLst>
          </p:cNvPr>
          <p:cNvSpPr txBox="1"/>
          <p:nvPr/>
        </p:nvSpPr>
        <p:spPr>
          <a:xfrm>
            <a:off x="4403064" y="3187710"/>
            <a:ext cx="20271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Espessura: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{{espessura}} mm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E819861E-8799-95FB-10E1-0FC63CE80DBE}"/>
              </a:ext>
            </a:extLst>
          </p:cNvPr>
          <p:cNvSpPr txBox="1"/>
          <p:nvPr/>
        </p:nvSpPr>
        <p:spPr>
          <a:xfrm>
            <a:off x="4459361" y="3917899"/>
            <a:ext cx="22433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Furo central: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Padrão com {{furo}} mm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65687C04-D16C-5EEF-5CED-B54DB6D5C17F}"/>
              </a:ext>
            </a:extLst>
          </p:cNvPr>
          <p:cNvSpPr txBox="1"/>
          <p:nvPr/>
        </p:nvSpPr>
        <p:spPr>
          <a:xfrm>
            <a:off x="4403064" y="4648088"/>
            <a:ext cx="20271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Eixo/Haste: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{{haste}}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7F1B4E66-40A4-5383-B773-194482D12F48}"/>
              </a:ext>
            </a:extLst>
          </p:cNvPr>
          <p:cNvSpPr txBox="1"/>
          <p:nvPr/>
        </p:nvSpPr>
        <p:spPr>
          <a:xfrm>
            <a:off x="4432091" y="5413239"/>
            <a:ext cx="237643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RPM: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Balanceada para altas e baixas rotações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1FBCCFC5-785C-5936-83BB-5934E06F84E4}"/>
              </a:ext>
            </a:extLst>
          </p:cNvPr>
          <p:cNvSpPr/>
          <p:nvPr/>
        </p:nvSpPr>
        <p:spPr>
          <a:xfrm>
            <a:off x="854426" y="3440714"/>
            <a:ext cx="97631" cy="100335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8BAC4192-8A75-5722-1C23-08900177D84F}"/>
              </a:ext>
            </a:extLst>
          </p:cNvPr>
          <p:cNvSpPr/>
          <p:nvPr/>
        </p:nvSpPr>
        <p:spPr>
          <a:xfrm>
            <a:off x="855720" y="4164939"/>
            <a:ext cx="97631" cy="100335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E9C2BE1C-225C-182F-9938-15282FE7C048}"/>
              </a:ext>
            </a:extLst>
          </p:cNvPr>
          <p:cNvSpPr/>
          <p:nvPr/>
        </p:nvSpPr>
        <p:spPr>
          <a:xfrm>
            <a:off x="855720" y="4889164"/>
            <a:ext cx="97631" cy="100335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58A114F8-17DE-EEC6-28B9-81B36481E2E0}"/>
              </a:ext>
            </a:extLst>
          </p:cNvPr>
          <p:cNvSpPr/>
          <p:nvPr/>
        </p:nvSpPr>
        <p:spPr>
          <a:xfrm>
            <a:off x="855720" y="5624682"/>
            <a:ext cx="97631" cy="100335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46A783DC-8869-7DAF-3372-A3C7648EB73D}"/>
              </a:ext>
            </a:extLst>
          </p:cNvPr>
          <p:cNvSpPr/>
          <p:nvPr/>
        </p:nvSpPr>
        <p:spPr>
          <a:xfrm>
            <a:off x="4056192" y="2705196"/>
            <a:ext cx="97631" cy="100335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9" name="Retângulo: Cantos Arredondados 28">
            <a:extLst>
              <a:ext uri="{FF2B5EF4-FFF2-40B4-BE49-F238E27FC236}">
                <a16:creationId xmlns:a16="http://schemas.microsoft.com/office/drawing/2014/main" id="{9D43A297-CF2A-91FE-198C-FE57B460F5E5}"/>
              </a:ext>
            </a:extLst>
          </p:cNvPr>
          <p:cNvSpPr/>
          <p:nvPr/>
        </p:nvSpPr>
        <p:spPr>
          <a:xfrm>
            <a:off x="4056191" y="3432564"/>
            <a:ext cx="97631" cy="100335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0" name="Retângulo: Cantos Arredondados 29">
            <a:extLst>
              <a:ext uri="{FF2B5EF4-FFF2-40B4-BE49-F238E27FC236}">
                <a16:creationId xmlns:a16="http://schemas.microsoft.com/office/drawing/2014/main" id="{C79A5A48-360E-EA1F-F9AE-6FC5AE3FC10A}"/>
              </a:ext>
            </a:extLst>
          </p:cNvPr>
          <p:cNvSpPr/>
          <p:nvPr/>
        </p:nvSpPr>
        <p:spPr>
          <a:xfrm>
            <a:off x="4056190" y="4159932"/>
            <a:ext cx="97631" cy="100335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Retângulo: Cantos Arredondados 30">
            <a:extLst>
              <a:ext uri="{FF2B5EF4-FFF2-40B4-BE49-F238E27FC236}">
                <a16:creationId xmlns:a16="http://schemas.microsoft.com/office/drawing/2014/main" id="{BED5E37F-A036-2988-2EC9-1FED11AA4392}"/>
              </a:ext>
            </a:extLst>
          </p:cNvPr>
          <p:cNvSpPr/>
          <p:nvPr/>
        </p:nvSpPr>
        <p:spPr>
          <a:xfrm>
            <a:off x="4056189" y="4887300"/>
            <a:ext cx="97631" cy="100335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2" name="Retângulo: Cantos Arredondados 31">
            <a:extLst>
              <a:ext uri="{FF2B5EF4-FFF2-40B4-BE49-F238E27FC236}">
                <a16:creationId xmlns:a16="http://schemas.microsoft.com/office/drawing/2014/main" id="{F5B8DB84-D9C0-84C9-7B91-0AC32F8A4BAE}"/>
              </a:ext>
            </a:extLst>
          </p:cNvPr>
          <p:cNvSpPr/>
          <p:nvPr/>
        </p:nvSpPr>
        <p:spPr>
          <a:xfrm>
            <a:off x="4056189" y="5624682"/>
            <a:ext cx="97631" cy="100335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779642D6-2E2A-6B3F-CF13-4E096A735D1C}"/>
              </a:ext>
            </a:extLst>
          </p:cNvPr>
          <p:cNvSpPr txBox="1"/>
          <p:nvPr/>
        </p:nvSpPr>
        <p:spPr>
          <a:xfrm>
            <a:off x="1110555" y="5363177"/>
            <a:ext cx="20271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Material: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Aço Inox {{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aisi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18475021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m 24">
            <a:extLst>
              <a:ext uri="{FF2B5EF4-FFF2-40B4-BE49-F238E27FC236}">
                <a16:creationId xmlns:a16="http://schemas.microsoft.com/office/drawing/2014/main" id="{58B0150A-607A-439B-2AE7-91C0733BC6E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" y="0"/>
            <a:ext cx="7558636" cy="10691813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E268EB4-6172-811B-4097-FA9D7F73D484}"/>
              </a:ext>
            </a:extLst>
          </p:cNvPr>
          <p:cNvSpPr txBox="1"/>
          <p:nvPr/>
        </p:nvSpPr>
        <p:spPr>
          <a:xfrm>
            <a:off x="245398" y="703309"/>
            <a:ext cx="6680618" cy="7179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5100"/>
              </a:lnSpc>
            </a:pPr>
            <a:r>
              <a:rPr lang="pt-BR" sz="4000" b="1" dirty="0">
                <a:solidFill>
                  <a:srgbClr val="E01684"/>
                </a:solidFill>
                <a:latin typeface="Arial Black" panose="020B0A04020102020204" pitchFamily="34" charset="0"/>
                <a:ea typeface="Inter" panose="02000503000000020004" pitchFamily="2" charset="0"/>
              </a:rPr>
              <a:t>Objetivo da Oferta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94CF1CA-1A58-61AB-93F7-35A2D59D7DF6}"/>
              </a:ext>
            </a:extLst>
          </p:cNvPr>
          <p:cNvSpPr txBox="1"/>
          <p:nvPr/>
        </p:nvSpPr>
        <p:spPr>
          <a:xfrm>
            <a:off x="245397" y="1608980"/>
            <a:ext cx="668061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O objetivo desta proposta é definir o escopo e condições comerciais ideais para o fornecimento do vetor de mistura.  Obedece aos critérios de concorrência (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Farplay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) pré-estabelecidos pelo cliente como: segurança, economia de custos, garantia de procedência, balanceamento e baixíssima manutenção. 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59F7859-24E6-43C4-5EA1-85280CEE9A45}"/>
              </a:ext>
            </a:extLst>
          </p:cNvPr>
          <p:cNvSpPr txBox="1"/>
          <p:nvPr/>
        </p:nvSpPr>
        <p:spPr>
          <a:xfrm>
            <a:off x="440322" y="3183779"/>
            <a:ext cx="223030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>
                <a:solidFill>
                  <a:srgbClr val="E01684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Aletas dedicadas para melhor usabilidade em qualquer carga de sólido.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4C16CD1B-2E57-1686-AB08-456399A1B284}"/>
              </a:ext>
            </a:extLst>
          </p:cNvPr>
          <p:cNvSpPr txBox="1"/>
          <p:nvPr/>
        </p:nvSpPr>
        <p:spPr>
          <a:xfrm>
            <a:off x="4462126" y="3183779"/>
            <a:ext cx="255721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400" dirty="0">
                <a:solidFill>
                  <a:srgbClr val="E01684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Acabamento recomendado para cosméticos, alimentos, antissépticos, medicamentos, entre outros.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B4726EC4-31A0-A97C-4811-375E688922B5}"/>
              </a:ext>
            </a:extLst>
          </p:cNvPr>
          <p:cNvSpPr txBox="1"/>
          <p:nvPr/>
        </p:nvSpPr>
        <p:spPr>
          <a:xfrm>
            <a:off x="353770" y="8084889"/>
            <a:ext cx="2230307" cy="954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>
                <a:solidFill>
                  <a:srgbClr val="E01684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Aço Inox {{</a:t>
            </a:r>
            <a:r>
              <a:rPr lang="pt-BR" sz="1400" dirty="0" err="1">
                <a:solidFill>
                  <a:srgbClr val="E01684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aisi</a:t>
            </a:r>
            <a:r>
              <a:rPr lang="pt-BR" sz="1400" dirty="0">
                <a:solidFill>
                  <a:srgbClr val="E01684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com validação ambiental para evitar contaminação cruzada. 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6CBE7250-DEF4-1096-DD4E-0580BD140C9B}"/>
              </a:ext>
            </a:extLst>
          </p:cNvPr>
          <p:cNvSpPr txBox="1"/>
          <p:nvPr/>
        </p:nvSpPr>
        <p:spPr>
          <a:xfrm>
            <a:off x="4101389" y="8504931"/>
            <a:ext cx="282226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400" dirty="0">
                <a:solidFill>
                  <a:srgbClr val="E01684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Abertura do furo em qualquer torno para adaptação do eixo pré-existente</a:t>
            </a:r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63220CDD-650F-AB19-C767-2CFD93C3BB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625" y="3183779"/>
            <a:ext cx="5966160" cy="5966160"/>
          </a:xfrm>
          <a:prstGeom prst="rect">
            <a:avLst/>
          </a:prstGeom>
        </p:spPr>
      </p:pic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id="{86225594-C4EC-23AE-7EA7-D4CDD0F3FABD}"/>
              </a:ext>
            </a:extLst>
          </p:cNvPr>
          <p:cNvCxnSpPr>
            <a:cxnSpLocks/>
          </p:cNvCxnSpPr>
          <p:nvPr/>
        </p:nvCxnSpPr>
        <p:spPr>
          <a:xfrm>
            <a:off x="1683657" y="3922443"/>
            <a:ext cx="1145151" cy="469177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Conector de Seta Reta 16">
            <a:extLst>
              <a:ext uri="{FF2B5EF4-FFF2-40B4-BE49-F238E27FC236}">
                <a16:creationId xmlns:a16="http://schemas.microsoft.com/office/drawing/2014/main" id="{BBCF6FA9-48C4-1094-BD65-65857BD3C526}"/>
              </a:ext>
            </a:extLst>
          </p:cNvPr>
          <p:cNvCxnSpPr>
            <a:cxnSpLocks/>
          </p:cNvCxnSpPr>
          <p:nvPr/>
        </p:nvCxnSpPr>
        <p:spPr>
          <a:xfrm flipH="1">
            <a:off x="4101389" y="4137886"/>
            <a:ext cx="1225354" cy="1072652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Conector de Seta Reta 18">
            <a:extLst>
              <a:ext uri="{FF2B5EF4-FFF2-40B4-BE49-F238E27FC236}">
                <a16:creationId xmlns:a16="http://schemas.microsoft.com/office/drawing/2014/main" id="{EC5AA1ED-2518-1686-0FBF-CAAAFFBAA793}"/>
              </a:ext>
            </a:extLst>
          </p:cNvPr>
          <p:cNvCxnSpPr>
            <a:cxnSpLocks/>
          </p:cNvCxnSpPr>
          <p:nvPr/>
        </p:nvCxnSpPr>
        <p:spPr>
          <a:xfrm flipV="1">
            <a:off x="1468923" y="7105338"/>
            <a:ext cx="899523" cy="779488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Conector de Seta Reta 20">
            <a:extLst>
              <a:ext uri="{FF2B5EF4-FFF2-40B4-BE49-F238E27FC236}">
                <a16:creationId xmlns:a16="http://schemas.microsoft.com/office/drawing/2014/main" id="{B72907E6-1D93-9670-3B15-8A2EA62E334A}"/>
              </a:ext>
            </a:extLst>
          </p:cNvPr>
          <p:cNvCxnSpPr>
            <a:cxnSpLocks/>
          </p:cNvCxnSpPr>
          <p:nvPr/>
        </p:nvCxnSpPr>
        <p:spPr>
          <a:xfrm flipH="1" flipV="1">
            <a:off x="3823584" y="6220918"/>
            <a:ext cx="1503159" cy="2248237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3" name="Imagem 22">
            <a:extLst>
              <a:ext uri="{FF2B5EF4-FFF2-40B4-BE49-F238E27FC236}">
                <a16:creationId xmlns:a16="http://schemas.microsoft.com/office/drawing/2014/main" id="{5571CB0F-9649-7B4C-8396-DC7F4BBE06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0855" y="10150411"/>
            <a:ext cx="795338" cy="274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217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m 12">
            <a:extLst>
              <a:ext uri="{FF2B5EF4-FFF2-40B4-BE49-F238E27FC236}">
                <a16:creationId xmlns:a16="http://schemas.microsoft.com/office/drawing/2014/main" id="{53B017D2-BCED-17B2-B63A-4B702D2D6A2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" y="0"/>
            <a:ext cx="7558636" cy="10691813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A9111E26-1C29-2DCB-0179-FE1CA9867733}"/>
              </a:ext>
            </a:extLst>
          </p:cNvPr>
          <p:cNvSpPr txBox="1"/>
          <p:nvPr/>
        </p:nvSpPr>
        <p:spPr>
          <a:xfrm>
            <a:off x="193576" y="728135"/>
            <a:ext cx="6680618" cy="7179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5100"/>
              </a:lnSpc>
            </a:pPr>
            <a:r>
              <a:rPr lang="pt-BR" sz="4000" b="1" dirty="0">
                <a:solidFill>
                  <a:srgbClr val="E01684"/>
                </a:solidFill>
                <a:latin typeface="Arial Black" panose="020B0A04020102020204" pitchFamily="34" charset="0"/>
                <a:ea typeface="Inter" panose="02000503000000020004" pitchFamily="2" charset="0"/>
              </a:rPr>
              <a:t>Sugestão de Valores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61C05CDD-B802-2921-6793-2BEF6ADCAADE}"/>
              </a:ext>
            </a:extLst>
          </p:cNvPr>
          <p:cNvSpPr txBox="1"/>
          <p:nvPr/>
        </p:nvSpPr>
        <p:spPr>
          <a:xfrm>
            <a:off x="245395" y="2014435"/>
            <a:ext cx="6680617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Aquisição:</a:t>
            </a:r>
          </a:p>
          <a:p>
            <a:endParaRPr lang="pt-BR" sz="2000" b="1" dirty="0"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- </a:t>
            </a:r>
            <a:r>
              <a:rPr lang="pt-BR" sz="140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Vetor ARA-D 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de Alta Homogeneização {{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diametro_corpo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mm: (Inox {{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aisi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/ Verde) R$ {{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preco_unitario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(Unitário) // R$ {{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preco_lote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(Lote)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C7D46D8F-E44C-F399-B8B9-0F277FFF5FCC}"/>
              </a:ext>
            </a:extLst>
          </p:cNvPr>
          <p:cNvSpPr txBox="1"/>
          <p:nvPr/>
        </p:nvSpPr>
        <p:spPr>
          <a:xfrm>
            <a:off x="245395" y="3719807"/>
            <a:ext cx="66806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Equipamento Acompanha:</a:t>
            </a:r>
          </a:p>
          <a:p>
            <a:endParaRPr lang="pt-BR" sz="2000" b="1" dirty="0"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Vetor em Aço Inox + Consultoria Técnica Full Time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4E4F6F1-4ABA-1D0B-6126-31DE2E71021B}"/>
              </a:ext>
            </a:extLst>
          </p:cNvPr>
          <p:cNvSpPr txBox="1"/>
          <p:nvPr/>
        </p:nvSpPr>
        <p:spPr>
          <a:xfrm>
            <a:off x="245395" y="5052654"/>
            <a:ext cx="668061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Escolha sua Forma de Pagamento:</a:t>
            </a:r>
          </a:p>
          <a:p>
            <a:endParaRPr lang="pt-BR" sz="2000" b="1" dirty="0"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- À vista 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- 50% de entrada + 50% em 30 dias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- Faturado mediante aprovação cadastral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- Cartão de crédito 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E32B3B0E-B1FB-44E3-8C44-A28C78AD2945}"/>
              </a:ext>
            </a:extLst>
          </p:cNvPr>
          <p:cNvSpPr txBox="1"/>
          <p:nvPr/>
        </p:nvSpPr>
        <p:spPr>
          <a:xfrm>
            <a:off x="245396" y="7155511"/>
            <a:ext cx="6680617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Escolha sua forma de Envio: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- Via PAC – R$ {{</a:t>
            </a:r>
            <a:r>
              <a:rPr kumimoji="0" lang="pt-BR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frete_pac</a:t>
            </a:r>
            <a:r>
              <a:rPr kumimoji="0" lang="pt-BR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- Via SEDEX -  R$ {{</a:t>
            </a:r>
            <a:r>
              <a:rPr kumimoji="0" lang="pt-BR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frete_sedex</a:t>
            </a:r>
            <a:r>
              <a:rPr kumimoji="0" lang="pt-BR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9FF1F0D0-67BE-9938-A38E-68B114009BCE}"/>
              </a:ext>
            </a:extLst>
          </p:cNvPr>
          <p:cNvSpPr txBox="1"/>
          <p:nvPr/>
        </p:nvSpPr>
        <p:spPr>
          <a:xfrm>
            <a:off x="245395" y="8618375"/>
            <a:ext cx="66806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Envio:</a:t>
            </a:r>
          </a:p>
          <a:p>
            <a:endParaRPr lang="pt-BR" sz="2000" b="1" dirty="0"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{{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condiçao_envio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</a:t>
            </a: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C0F997C1-CDD9-B71B-4FBD-4ADFA8F459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0855" y="10150411"/>
            <a:ext cx="795338" cy="274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559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C00599EE-FD6D-B2D1-C7D1-4E799D7D874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71449" y="-1"/>
            <a:ext cx="679449" cy="10691813"/>
          </a:xfrm>
          <a:prstGeom prst="rect">
            <a:avLst/>
          </a:prstGeom>
          <a:solidFill>
            <a:srgbClr val="F4F0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E98E0F27-3B3F-063A-1085-6DF67A1021A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981" y="0"/>
            <a:ext cx="7558636" cy="10691813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307D2093-2261-F9A9-C92B-6752AF3E3C27}"/>
              </a:ext>
            </a:extLst>
          </p:cNvPr>
          <p:cNvSpPr txBox="1"/>
          <p:nvPr/>
        </p:nvSpPr>
        <p:spPr>
          <a:xfrm>
            <a:off x="216368" y="741884"/>
            <a:ext cx="6680617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Impostos e Classificação Fiscal:</a:t>
            </a:r>
          </a:p>
          <a:p>
            <a:endParaRPr lang="pt-BR" sz="2000" b="1" dirty="0"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IPI: 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0% | </a:t>
            </a:r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ICMS: 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8.8% (incluso) | </a:t>
            </a:r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IMPOSTOS: 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Inclusos - Optante Simples</a:t>
            </a:r>
          </a:p>
          <a:p>
            <a:endParaRPr lang="pt-BR" sz="1400" dirty="0"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CD9471C-41E9-84AE-D3D1-62ACA4C1A695}"/>
              </a:ext>
            </a:extLst>
          </p:cNvPr>
          <p:cNvSpPr txBox="1"/>
          <p:nvPr/>
        </p:nvSpPr>
        <p:spPr>
          <a:xfrm>
            <a:off x="201856" y="2458071"/>
            <a:ext cx="698543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Dados Bancários:</a:t>
            </a:r>
          </a:p>
          <a:p>
            <a:endParaRPr lang="pt-BR" sz="2000" b="1" dirty="0"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Banco: 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Bradesco |</a:t>
            </a:r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 Agência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: 0516 | </a:t>
            </a:r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Conta Corrente: 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0293863-4 </a:t>
            </a:r>
          </a:p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Razão social: 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Só Comércio de Equipamentos para Inteligência e Mistura LTDA. | </a:t>
            </a:r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CNPJ: 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26.863.716/0001-06 (Pix) </a:t>
            </a:r>
          </a:p>
          <a:p>
            <a:endParaRPr lang="pt-BR" sz="1400" dirty="0"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5411E17-D183-EB4B-94DD-D917AB304952}"/>
              </a:ext>
            </a:extLst>
          </p:cNvPr>
          <p:cNvSpPr txBox="1"/>
          <p:nvPr/>
        </p:nvSpPr>
        <p:spPr>
          <a:xfrm>
            <a:off x="201855" y="4581713"/>
            <a:ext cx="6680617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Objetivo da Oferta:</a:t>
            </a:r>
          </a:p>
          <a:p>
            <a:endParaRPr lang="pt-BR" sz="2000" b="1" dirty="0"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3.1: Número de NCM: 84.8790.00.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3.2: Validade da Proposta: 10 dias (Referente ao valor ofertado)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3.3: O pedido será aceito após confirmação via e-mail.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3.4: Consulte disponibilidade das peças no ato da compra.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3.5: O relatório de instalação será enviado em até 7 dias úteis a partir da confirmação da compra.</a:t>
            </a:r>
          </a:p>
          <a:p>
            <a:endParaRPr lang="pt-BR" sz="1400" dirty="0"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7E5D9E1E-E82B-6570-0D53-326A2BD2D0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5024"/>
          <a:stretch>
            <a:fillRect/>
          </a:stretch>
        </p:blipFill>
        <p:spPr>
          <a:xfrm>
            <a:off x="-478466" y="4605145"/>
            <a:ext cx="8518193" cy="6086667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D70232F8-B1DA-19DB-BBD1-A50CCC6DB6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0855" y="10150411"/>
            <a:ext cx="795338" cy="274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54219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m 18">
            <a:extLst>
              <a:ext uri="{FF2B5EF4-FFF2-40B4-BE49-F238E27FC236}">
                <a16:creationId xmlns:a16="http://schemas.microsoft.com/office/drawing/2014/main" id="{961345F8-0608-871A-DB85-C88B2DA327F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" y="0"/>
            <a:ext cx="7558636" cy="10691813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8700D33-762A-742B-32A0-8AFB038793E7}"/>
              </a:ext>
            </a:extLst>
          </p:cNvPr>
          <p:cNvSpPr txBox="1"/>
          <p:nvPr/>
        </p:nvSpPr>
        <p:spPr>
          <a:xfrm>
            <a:off x="245398" y="703309"/>
            <a:ext cx="6680618" cy="13720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5100"/>
              </a:lnSpc>
            </a:pPr>
            <a:r>
              <a:rPr lang="pt-BR" sz="4000" b="1" dirty="0">
                <a:solidFill>
                  <a:srgbClr val="E01684"/>
                </a:solidFill>
                <a:latin typeface="Arial Black" panose="020B0A04020102020204" pitchFamily="34" charset="0"/>
                <a:ea typeface="Inter" panose="02000503000000020004" pitchFamily="2" charset="0"/>
              </a:rPr>
              <a:t>Consulte nossa Reputação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F6A4E49-8109-AFAC-721A-A6D995DBE37F}"/>
              </a:ext>
            </a:extLst>
          </p:cNvPr>
          <p:cNvSpPr txBox="1"/>
          <p:nvPr/>
        </p:nvSpPr>
        <p:spPr>
          <a:xfrm>
            <a:off x="245398" y="2443696"/>
            <a:ext cx="59755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Desde Novembro de 2020, trabalhamos com índice zero de reclamações em mais de 10.000 atendimentos. </a:t>
            </a:r>
          </a:p>
        </p:txBody>
      </p:sp>
      <p:pic>
        <p:nvPicPr>
          <p:cNvPr id="1026" name="Picture 2" descr="Internet - ícones de sinais grátis">
            <a:extLst>
              <a:ext uri="{FF2B5EF4-FFF2-40B4-BE49-F238E27FC236}">
                <a16:creationId xmlns:a16="http://schemas.microsoft.com/office/drawing/2014/main" id="{C97C1AFD-2FDC-5E98-F84C-C292F8F020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376201" y="5371305"/>
            <a:ext cx="52045" cy="520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logotipo do facebook png, ícone do facebook transparente png 18930538 PNG">
            <a:extLst>
              <a:ext uri="{FF2B5EF4-FFF2-40B4-BE49-F238E27FC236}">
                <a16:creationId xmlns:a16="http://schemas.microsoft.com/office/drawing/2014/main" id="{E2782CCE-AE41-0487-81E9-CC6D4A3CF8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414" r="53895"/>
          <a:stretch>
            <a:fillRect/>
          </a:stretch>
        </p:blipFill>
        <p:spPr bwMode="auto">
          <a:xfrm>
            <a:off x="338352" y="4669548"/>
            <a:ext cx="423648" cy="6429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Instagram logotipo png, Instagram logotipo transparente png, Instagram  ícone transparente livre png 23986547 PNG">
            <a:extLst>
              <a:ext uri="{FF2B5EF4-FFF2-40B4-BE49-F238E27FC236}">
                <a16:creationId xmlns:a16="http://schemas.microsoft.com/office/drawing/2014/main" id="{460FD1FB-2864-C944-AADE-9B81A0E976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018" y="4006020"/>
            <a:ext cx="549072" cy="549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Internet - ícones de sinais grátis">
            <a:extLst>
              <a:ext uri="{FF2B5EF4-FFF2-40B4-BE49-F238E27FC236}">
                <a16:creationId xmlns:a16="http://schemas.microsoft.com/office/drawing/2014/main" id="{9B72D5DC-E972-D41F-1CB8-C3BECAA221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263" y="6088063"/>
            <a:ext cx="433387" cy="4333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8DA6310F-6F56-F15B-5731-AED7A9520B15}"/>
              </a:ext>
            </a:extLst>
          </p:cNvPr>
          <p:cNvSpPr txBox="1"/>
          <p:nvPr/>
        </p:nvSpPr>
        <p:spPr>
          <a:xfrm>
            <a:off x="894471" y="4112167"/>
            <a:ext cx="19630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@sohelices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4769437-C7D9-0FC8-69F6-845D06DA9D39}"/>
              </a:ext>
            </a:extLst>
          </p:cNvPr>
          <p:cNvSpPr txBox="1"/>
          <p:nvPr/>
        </p:nvSpPr>
        <p:spPr>
          <a:xfrm>
            <a:off x="894471" y="4822161"/>
            <a:ext cx="19630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Só Hélices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31B95116-79F8-E465-F5E4-6E5A86FA7099}"/>
              </a:ext>
            </a:extLst>
          </p:cNvPr>
          <p:cNvSpPr txBox="1"/>
          <p:nvPr/>
        </p:nvSpPr>
        <p:spPr>
          <a:xfrm>
            <a:off x="894471" y="5442809"/>
            <a:ext cx="19630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Só Hélices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47ADF7ED-4A67-2BEB-873B-8518333ED7D5}"/>
              </a:ext>
            </a:extLst>
          </p:cNvPr>
          <p:cNvSpPr txBox="1"/>
          <p:nvPr/>
        </p:nvSpPr>
        <p:spPr>
          <a:xfrm>
            <a:off x="894471" y="6160359"/>
            <a:ext cx="21281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www.sohelices.com.br</a:t>
            </a: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BB836953-59EA-955D-2AD4-178509DA4B1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414" y="8790867"/>
            <a:ext cx="1228286" cy="1228286"/>
          </a:xfrm>
          <a:prstGeom prst="rect">
            <a:avLst/>
          </a:prstGeom>
        </p:spPr>
      </p:pic>
      <p:cxnSp>
        <p:nvCxnSpPr>
          <p:cNvPr id="13" name="Conector reto 12">
            <a:extLst>
              <a:ext uri="{FF2B5EF4-FFF2-40B4-BE49-F238E27FC236}">
                <a16:creationId xmlns:a16="http://schemas.microsoft.com/office/drawing/2014/main" id="{B9E7B11F-61A3-DF0F-105B-7FB2647EC07E}"/>
              </a:ext>
            </a:extLst>
          </p:cNvPr>
          <p:cNvCxnSpPr/>
          <p:nvPr/>
        </p:nvCxnSpPr>
        <p:spPr>
          <a:xfrm>
            <a:off x="1739900" y="8790867"/>
            <a:ext cx="0" cy="122828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04856DBE-1BEC-E4C9-DC6B-0DCE8D47C873}"/>
              </a:ext>
            </a:extLst>
          </p:cNvPr>
          <p:cNvSpPr txBox="1"/>
          <p:nvPr/>
        </p:nvSpPr>
        <p:spPr>
          <a:xfrm>
            <a:off x="1845115" y="8866401"/>
            <a:ext cx="452654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São Paulo,  {{data}}. </a:t>
            </a:r>
          </a:p>
          <a:p>
            <a:r>
              <a:rPr lang="pt-BR" sz="16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{{</a:t>
            </a:r>
            <a:r>
              <a:rPr lang="pt-BR" sz="16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nome_vendedor</a:t>
            </a:r>
            <a:r>
              <a:rPr lang="pt-BR" sz="16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[Atendimento/Vendas] </a:t>
            </a:r>
          </a:p>
          <a:p>
            <a:r>
              <a:rPr lang="pt-BR" sz="16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WhatsApp: (11) 94984-2894 </a:t>
            </a:r>
          </a:p>
          <a:p>
            <a:r>
              <a:rPr lang="pt-BR" sz="16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E-mail: {{</a:t>
            </a:r>
            <a:r>
              <a:rPr lang="pt-BR" sz="16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email_vendedor</a:t>
            </a:r>
            <a:r>
              <a:rPr lang="pt-BR" sz="160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</a:t>
            </a:r>
            <a:endParaRPr lang="pt-BR" sz="1600" dirty="0"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9B50589B-B756-1E37-C729-F8675BDE6A4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0855" y="10150411"/>
            <a:ext cx="795338" cy="274618"/>
          </a:xfrm>
          <a:prstGeom prst="rect">
            <a:avLst/>
          </a:prstGeom>
        </p:spPr>
      </p:pic>
      <p:pic>
        <p:nvPicPr>
          <p:cNvPr id="1036" name="Picture 12" descr="youtube logo | Figma">
            <a:extLst>
              <a:ext uri="{FF2B5EF4-FFF2-40B4-BE49-F238E27FC236}">
                <a16:creationId xmlns:a16="http://schemas.microsoft.com/office/drawing/2014/main" id="{72C8EA68-EFB8-3009-0579-8F477FA03C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940" y="5379317"/>
            <a:ext cx="894471" cy="447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2E7C345E-EA12-112A-2B8A-E0796A390B9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1946"/>
          <a:stretch>
            <a:fillRect/>
          </a:stretch>
        </p:blipFill>
        <p:spPr>
          <a:xfrm>
            <a:off x="2329545" y="2399244"/>
            <a:ext cx="5231718" cy="6702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6193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3092B84F-C2B6-E55E-6396-16A2F8E8E90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" y="0"/>
            <a:ext cx="7558636" cy="10691813"/>
          </a:xfrm>
          <a:prstGeom prst="rect">
            <a:avLst/>
          </a:prstGeom>
        </p:spPr>
      </p:pic>
      <p:sp>
        <p:nvSpPr>
          <p:cNvPr id="6" name="Google Shape;147;p7">
            <a:extLst>
              <a:ext uri="{FF2B5EF4-FFF2-40B4-BE49-F238E27FC236}">
                <a16:creationId xmlns:a16="http://schemas.microsoft.com/office/drawing/2014/main" id="{D4CF83FD-7A2B-6CA5-A391-C7BA490B06F9}"/>
              </a:ext>
            </a:extLst>
          </p:cNvPr>
          <p:cNvSpPr txBox="1"/>
          <p:nvPr/>
        </p:nvSpPr>
        <p:spPr>
          <a:xfrm>
            <a:off x="1817328" y="9520438"/>
            <a:ext cx="3926604" cy="834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Rua </a:t>
            </a:r>
            <a:r>
              <a:rPr lang="pt-BR" sz="14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Américo Brasiliense, </a:t>
            </a:r>
            <a:r>
              <a:rPr lang="pt-BR" sz="1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1490, sala 75, Chácara Santo Antônio, São Paulo, SP</a:t>
            </a:r>
            <a:endParaRPr sz="1400" i="0" u="none" strike="noStrike" cap="none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2176E031-90C1-4B7C-2EB7-ABEA48BA9B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3427" y="3426993"/>
            <a:ext cx="3414406" cy="2416849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13CAE41B-063C-6834-F260-2F4FA9FEF712}"/>
              </a:ext>
            </a:extLst>
          </p:cNvPr>
          <p:cNvSpPr txBox="1"/>
          <p:nvPr/>
        </p:nvSpPr>
        <p:spPr>
          <a:xfrm>
            <a:off x="2617964" y="5345906"/>
            <a:ext cx="23253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www.sohelices.com.br</a:t>
            </a:r>
          </a:p>
        </p:txBody>
      </p:sp>
    </p:spTree>
    <p:extLst>
      <p:ext uri="{BB962C8B-B14F-4D97-AF65-F5344CB8AC3E}">
        <p14:creationId xmlns:p14="http://schemas.microsoft.com/office/powerpoint/2010/main" val="373931427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orçamento ara s</Template>
  <TotalTime>253</TotalTime>
  <Words>539</Words>
  <Application>Microsoft Office PowerPoint</Application>
  <PresentationFormat>Personalizar</PresentationFormat>
  <Paragraphs>78</Paragraphs>
  <Slides>7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3" baseType="lpstr">
      <vt:lpstr>Aptos</vt:lpstr>
      <vt:lpstr>Aptos Display</vt:lpstr>
      <vt:lpstr>Arial</vt:lpstr>
      <vt:lpstr>Arial Black</vt:lpstr>
      <vt:lpstr>Inter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G3 MISTURADORES DO BRASIL LTDA</dc:creator>
  <cp:lastModifiedBy>G3 MISTURADORES DO BRASIL LTDA</cp:lastModifiedBy>
  <cp:revision>11</cp:revision>
  <dcterms:created xsi:type="dcterms:W3CDTF">2026-03-24T12:26:03Z</dcterms:created>
  <dcterms:modified xsi:type="dcterms:W3CDTF">2026-04-30T12:37:09Z</dcterms:modified>
</cp:coreProperties>
</file>