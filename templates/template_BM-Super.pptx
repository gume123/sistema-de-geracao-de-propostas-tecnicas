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63" r:id="rId3"/>
    <p:sldId id="258" r:id="rId4"/>
    <p:sldId id="264" r:id="rId5"/>
    <p:sldId id="265" r:id="rId6"/>
    <p:sldId id="261" r:id="rId7"/>
    <p:sldId id="262" r:id="rId8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0EF"/>
    <a:srgbClr val="E01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69" d="100"/>
          <a:sy n="69" d="100"/>
        </p:scale>
        <p:origin x="3114" y="84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AEED2-BC16-4826-88B5-7A60AAAA0FBF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97D3D-285D-4500-AB96-F7BD5CB94F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00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5676-3050-B7A4-0D80-6DCE23B1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D63050-3B23-FA3E-8344-DC41D5810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A5C84F-7862-965D-F9A8-BB66EEEB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B0E24A-3BB8-EAF3-2B5B-8DD9420A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97D3D-285D-4500-AB96-F7BD5CB94F5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90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86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47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4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4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6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9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27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12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8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18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91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2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13CDD406-37B5-AE55-73A2-1A6D4C7564C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B41925B5-F653-5F92-AAEB-B954175E1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962" y="10125011"/>
            <a:ext cx="795338" cy="274618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F08F497B-2BE5-405D-6939-721161B8624F}"/>
              </a:ext>
            </a:extLst>
          </p:cNvPr>
          <p:cNvSpPr txBox="1"/>
          <p:nvPr/>
        </p:nvSpPr>
        <p:spPr>
          <a:xfrm>
            <a:off x="243890" y="932040"/>
            <a:ext cx="7073481" cy="848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900"/>
              </a:lnSpc>
            </a:pPr>
            <a:r>
              <a:rPr lang="pt-BR" sz="54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BM SUPER ARA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686D901-E622-309E-6996-A977F34E8674}"/>
              </a:ext>
            </a:extLst>
          </p:cNvPr>
          <p:cNvSpPr txBox="1"/>
          <p:nvPr/>
        </p:nvSpPr>
        <p:spPr>
          <a:xfrm>
            <a:off x="3521356" y="8618436"/>
            <a:ext cx="3705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Proposta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Técnica Nº {{proposta}}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FD5F4C4-2814-C466-60ED-B717F86A87C1}"/>
              </a:ext>
            </a:extLst>
          </p:cNvPr>
          <p:cNvSpPr txBox="1"/>
          <p:nvPr/>
        </p:nvSpPr>
        <p:spPr>
          <a:xfrm>
            <a:off x="3819673" y="8931807"/>
            <a:ext cx="3374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Aplicação: 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Alta Dispersão e Homogeneização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D5512939-228E-695E-8736-123C956396E6}"/>
              </a:ext>
            </a:extLst>
          </p:cNvPr>
          <p:cNvSpPr/>
          <p:nvPr/>
        </p:nvSpPr>
        <p:spPr>
          <a:xfrm>
            <a:off x="642937" y="8223749"/>
            <a:ext cx="1776413" cy="1578574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DD51783-DF28-1A28-D05F-6D4236BBB9B4}"/>
              </a:ext>
            </a:extLst>
          </p:cNvPr>
          <p:cNvSpPr txBox="1"/>
          <p:nvPr/>
        </p:nvSpPr>
        <p:spPr>
          <a:xfrm>
            <a:off x="749424" y="8342430"/>
            <a:ext cx="15634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Tecnologia: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</a:b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BM Super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C03BC49-F342-411B-54A7-97B857170AA3}"/>
              </a:ext>
            </a:extLst>
          </p:cNvPr>
          <p:cNvSpPr txBox="1"/>
          <p:nvPr/>
        </p:nvSpPr>
        <p:spPr>
          <a:xfrm>
            <a:off x="602158" y="9013036"/>
            <a:ext cx="18579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Diâmetro:</a:t>
            </a: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AF349FF2-80F7-8B57-E655-2224B9872B68}"/>
              </a:ext>
            </a:extLst>
          </p:cNvPr>
          <p:cNvCxnSpPr>
            <a:cxnSpLocks/>
          </p:cNvCxnSpPr>
          <p:nvPr/>
        </p:nvCxnSpPr>
        <p:spPr>
          <a:xfrm>
            <a:off x="642937" y="8971326"/>
            <a:ext cx="17764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7F2E2B67-4834-1C50-5989-27231A883B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329" y="2111782"/>
            <a:ext cx="6122602" cy="612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158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DA2B-66A4-6132-B1DB-35EA12B7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m 52">
            <a:extLst>
              <a:ext uri="{FF2B5EF4-FFF2-40B4-BE49-F238E27FC236}">
                <a16:creationId xmlns:a16="http://schemas.microsoft.com/office/drawing/2014/main" id="{2DA6CAA3-6C7E-DF1D-C489-75B8DC67F7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69B29F-5158-B93F-9B80-AC854030C197}"/>
              </a:ext>
            </a:extLst>
          </p:cNvPr>
          <p:cNvSpPr txBox="1"/>
          <p:nvPr/>
        </p:nvSpPr>
        <p:spPr>
          <a:xfrm>
            <a:off x="195744" y="684011"/>
            <a:ext cx="6680618" cy="137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Especificidades Técnicas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469791A-466E-1030-D63A-518310E66409}"/>
              </a:ext>
            </a:extLst>
          </p:cNvPr>
          <p:cNvSpPr/>
          <p:nvPr/>
        </p:nvSpPr>
        <p:spPr>
          <a:xfrm>
            <a:off x="855720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13CA9346-23F1-71E1-6B40-3B6F77FDF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719ACBEC-2335-D3C6-C787-EB10395C81E0}"/>
              </a:ext>
            </a:extLst>
          </p:cNvPr>
          <p:cNvSpPr txBox="1"/>
          <p:nvPr/>
        </p:nvSpPr>
        <p:spPr>
          <a:xfrm>
            <a:off x="1139584" y="2451964"/>
            <a:ext cx="2350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BM Super com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 Dedicada.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2B88C26-6B53-FF6B-EE27-501547791EBA}"/>
              </a:ext>
            </a:extLst>
          </p:cNvPr>
          <p:cNvSpPr txBox="1"/>
          <p:nvPr/>
        </p:nvSpPr>
        <p:spPr>
          <a:xfrm>
            <a:off x="1110556" y="3226129"/>
            <a:ext cx="237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da Aleta: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diametro_aleta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D91DAD4F-21E4-96B1-3E5B-3249BD815BF2}"/>
              </a:ext>
            </a:extLst>
          </p:cNvPr>
          <p:cNvSpPr txBox="1"/>
          <p:nvPr/>
        </p:nvSpPr>
        <p:spPr>
          <a:xfrm>
            <a:off x="1110556" y="3917899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Espaçamento: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espacamento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C0B93EA-4AD6-5850-7896-4F4EB64BAE1B}"/>
              </a:ext>
            </a:extLst>
          </p:cNvPr>
          <p:cNvSpPr txBox="1"/>
          <p:nvPr/>
        </p:nvSpPr>
        <p:spPr>
          <a:xfrm>
            <a:off x="1110556" y="462755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do Corpo: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543EE72-E33A-F4BC-4C69-C8B3D101DB3C}"/>
              </a:ext>
            </a:extLst>
          </p:cNvPr>
          <p:cNvSpPr txBox="1"/>
          <p:nvPr/>
        </p:nvSpPr>
        <p:spPr>
          <a:xfrm>
            <a:off x="1110555" y="5363177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Material: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4D41006-D99B-522E-1243-D17F001C5071}"/>
              </a:ext>
            </a:extLst>
          </p:cNvPr>
          <p:cNvSpPr txBox="1"/>
          <p:nvPr/>
        </p:nvSpPr>
        <p:spPr>
          <a:xfrm>
            <a:off x="4432093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Semi escovado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F884DB6-CE01-4400-DE4D-46A8B3ECDC8A}"/>
              </a:ext>
            </a:extLst>
          </p:cNvPr>
          <p:cNvSpPr txBox="1"/>
          <p:nvPr/>
        </p:nvSpPr>
        <p:spPr>
          <a:xfrm>
            <a:off x="4403064" y="3187710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Espessura: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{{espessura}} mm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2254A3C-DDF4-1E8E-4E2A-B86BBD3C0ABB}"/>
              </a:ext>
            </a:extLst>
          </p:cNvPr>
          <p:cNvSpPr txBox="1"/>
          <p:nvPr/>
        </p:nvSpPr>
        <p:spPr>
          <a:xfrm>
            <a:off x="4459361" y="3917899"/>
            <a:ext cx="2243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Furo central: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Padrão com {{furo}} mm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7B69787-EADC-6806-5E33-9033CAE74E02}"/>
              </a:ext>
            </a:extLst>
          </p:cNvPr>
          <p:cNvSpPr txBox="1"/>
          <p:nvPr/>
        </p:nvSpPr>
        <p:spPr>
          <a:xfrm>
            <a:off x="4403064" y="4648088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Eixo/Haste: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{{haste}}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C8949B0-39FD-C15C-A438-282037409479}"/>
              </a:ext>
            </a:extLst>
          </p:cNvPr>
          <p:cNvSpPr txBox="1"/>
          <p:nvPr/>
        </p:nvSpPr>
        <p:spPr>
          <a:xfrm>
            <a:off x="4432091" y="5413239"/>
            <a:ext cx="2376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RPM: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Balanceada para altas e baixas rotações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9B116E9-B084-A371-0EB6-A8E6BA8BD2A2}"/>
              </a:ext>
            </a:extLst>
          </p:cNvPr>
          <p:cNvSpPr/>
          <p:nvPr/>
        </p:nvSpPr>
        <p:spPr>
          <a:xfrm>
            <a:off x="854426" y="344071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7B61333-9915-7B82-EB10-76D67765DF93}"/>
              </a:ext>
            </a:extLst>
          </p:cNvPr>
          <p:cNvSpPr/>
          <p:nvPr/>
        </p:nvSpPr>
        <p:spPr>
          <a:xfrm>
            <a:off x="855720" y="4164939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62B453-109C-45A1-ED54-D010B379A2DE}"/>
              </a:ext>
            </a:extLst>
          </p:cNvPr>
          <p:cNvSpPr/>
          <p:nvPr/>
        </p:nvSpPr>
        <p:spPr>
          <a:xfrm>
            <a:off x="855720" y="48891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1E068BF-39E1-4211-0D13-6D4EEDC442E7}"/>
              </a:ext>
            </a:extLst>
          </p:cNvPr>
          <p:cNvSpPr/>
          <p:nvPr/>
        </p:nvSpPr>
        <p:spPr>
          <a:xfrm>
            <a:off x="855720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2DA3D67-F633-6C75-2F1F-8B82A582B33C}"/>
              </a:ext>
            </a:extLst>
          </p:cNvPr>
          <p:cNvSpPr/>
          <p:nvPr/>
        </p:nvSpPr>
        <p:spPr>
          <a:xfrm>
            <a:off x="4056192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0B3CAA0-4C67-D4F4-E885-50EB94228462}"/>
              </a:ext>
            </a:extLst>
          </p:cNvPr>
          <p:cNvSpPr/>
          <p:nvPr/>
        </p:nvSpPr>
        <p:spPr>
          <a:xfrm>
            <a:off x="4056191" y="34325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ECDD673-043B-4136-1A4B-D05120723685}"/>
              </a:ext>
            </a:extLst>
          </p:cNvPr>
          <p:cNvSpPr/>
          <p:nvPr/>
        </p:nvSpPr>
        <p:spPr>
          <a:xfrm>
            <a:off x="4056190" y="415993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892B26B-0554-C840-BE40-07ACB9B07758}"/>
              </a:ext>
            </a:extLst>
          </p:cNvPr>
          <p:cNvSpPr/>
          <p:nvPr/>
        </p:nvSpPr>
        <p:spPr>
          <a:xfrm>
            <a:off x="4056189" y="4887300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2A29CA7-384C-10DE-0216-54047510EF09}"/>
              </a:ext>
            </a:extLst>
          </p:cNvPr>
          <p:cNvSpPr/>
          <p:nvPr/>
        </p:nvSpPr>
        <p:spPr>
          <a:xfrm>
            <a:off x="4056189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11DC8E4-79B2-9232-70F2-977B2570EB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854" y="6024967"/>
            <a:ext cx="4760063" cy="4760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0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58B0150A-607A-439B-2AE7-91C0733BC6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268EB4-6172-811B-4097-FA9D7F73D484}"/>
              </a:ext>
            </a:extLst>
          </p:cNvPr>
          <p:cNvSpPr txBox="1"/>
          <p:nvPr/>
        </p:nvSpPr>
        <p:spPr>
          <a:xfrm>
            <a:off x="245398" y="703309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Objetivo da Oferta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4CF1CA-1A58-61AB-93F7-35A2D59D7DF6}"/>
              </a:ext>
            </a:extLst>
          </p:cNvPr>
          <p:cNvSpPr txBox="1"/>
          <p:nvPr/>
        </p:nvSpPr>
        <p:spPr>
          <a:xfrm>
            <a:off x="245397" y="1608980"/>
            <a:ext cx="66806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 objetivo desta proposta é definir o escopo e condições comerciais ideais para o fornecimento do vetor de mistura.  Obedece aos critérios de concorrência (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Farplay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) pré-estabelecidos pelo cliente como: segurança, economia de custos, garantia de procedência, balanceamento e baixíssima manutenção.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9F7859-24E6-43C4-5EA1-85280CEE9A45}"/>
              </a:ext>
            </a:extLst>
          </p:cNvPr>
          <p:cNvSpPr txBox="1"/>
          <p:nvPr/>
        </p:nvSpPr>
        <p:spPr>
          <a:xfrm>
            <a:off x="440322" y="3183779"/>
            <a:ext cx="2230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Aletas dedicadas para melhor usabilidade em qualquer carga de sólido.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16CD1B-2E57-1686-AB08-456399A1B284}"/>
              </a:ext>
            </a:extLst>
          </p:cNvPr>
          <p:cNvSpPr txBox="1"/>
          <p:nvPr/>
        </p:nvSpPr>
        <p:spPr>
          <a:xfrm>
            <a:off x="4462126" y="3183779"/>
            <a:ext cx="2557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 recomendado para cosméticos, alimentos, antissépticos, medicamentos, entre outros.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726EC4-31A0-A97C-4811-375E688922B5}"/>
              </a:ext>
            </a:extLst>
          </p:cNvPr>
          <p:cNvSpPr txBox="1"/>
          <p:nvPr/>
        </p:nvSpPr>
        <p:spPr>
          <a:xfrm>
            <a:off x="353770" y="8084889"/>
            <a:ext cx="2230307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com validação ambiental para evitar contaminação cruzada.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BE7250-DEF4-1096-DD4E-0580BD140C9B}"/>
              </a:ext>
            </a:extLst>
          </p:cNvPr>
          <p:cNvSpPr txBox="1"/>
          <p:nvPr/>
        </p:nvSpPr>
        <p:spPr>
          <a:xfrm>
            <a:off x="4101389" y="8504931"/>
            <a:ext cx="28222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Abertura do furo em qualquer torno para adaptação do eixo pré-existente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DA1E679-C7C4-2E6C-1D2C-39D97FC182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175" b="26236"/>
          <a:stretch>
            <a:fillRect/>
          </a:stretch>
        </p:blipFill>
        <p:spPr>
          <a:xfrm>
            <a:off x="-817452" y="3922443"/>
            <a:ext cx="8806314" cy="4367046"/>
          </a:xfrm>
          <a:prstGeom prst="rect">
            <a:avLst/>
          </a:prstGeom>
        </p:spPr>
      </p:pic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6225594-C4EC-23AE-7EA7-D4CDD0F3FABD}"/>
              </a:ext>
            </a:extLst>
          </p:cNvPr>
          <p:cNvCxnSpPr>
            <a:cxnSpLocks/>
          </p:cNvCxnSpPr>
          <p:nvPr/>
        </p:nvCxnSpPr>
        <p:spPr>
          <a:xfrm>
            <a:off x="1663700" y="3893085"/>
            <a:ext cx="686238" cy="65005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BCF6FA9-48C4-1094-BD65-65857BD3C526}"/>
              </a:ext>
            </a:extLst>
          </p:cNvPr>
          <p:cNvCxnSpPr>
            <a:cxnSpLocks/>
          </p:cNvCxnSpPr>
          <p:nvPr/>
        </p:nvCxnSpPr>
        <p:spPr>
          <a:xfrm flipH="1">
            <a:off x="4012325" y="4137886"/>
            <a:ext cx="1314418" cy="176251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72907E6-1D93-9670-3B15-8A2EA62E334A}"/>
              </a:ext>
            </a:extLst>
          </p:cNvPr>
          <p:cNvCxnSpPr>
            <a:cxnSpLocks/>
          </p:cNvCxnSpPr>
          <p:nvPr/>
        </p:nvCxnSpPr>
        <p:spPr>
          <a:xfrm flipH="1" flipV="1">
            <a:off x="3780631" y="6636327"/>
            <a:ext cx="1546112" cy="183282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C5AA1ED-2518-1686-0FBF-CAAAFFBAA793}"/>
              </a:ext>
            </a:extLst>
          </p:cNvPr>
          <p:cNvCxnSpPr>
            <a:cxnSpLocks/>
          </p:cNvCxnSpPr>
          <p:nvPr/>
        </p:nvCxnSpPr>
        <p:spPr>
          <a:xfrm flipV="1">
            <a:off x="1468923" y="7044316"/>
            <a:ext cx="1592932" cy="84051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Imagem 22">
            <a:extLst>
              <a:ext uri="{FF2B5EF4-FFF2-40B4-BE49-F238E27FC236}">
                <a16:creationId xmlns:a16="http://schemas.microsoft.com/office/drawing/2014/main" id="{5571CB0F-9649-7B4C-8396-DC7F4BBE06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1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3B017D2-BCED-17B2-B63A-4B702D2D6A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111E26-1C29-2DCB-0179-FE1CA9867733}"/>
              </a:ext>
            </a:extLst>
          </p:cNvPr>
          <p:cNvSpPr txBox="1"/>
          <p:nvPr/>
        </p:nvSpPr>
        <p:spPr>
          <a:xfrm>
            <a:off x="193576" y="728135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Sugestão de Valores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C05CDD-B802-2921-6793-2BEF6ADCAADE}"/>
              </a:ext>
            </a:extLst>
          </p:cNvPr>
          <p:cNvSpPr txBox="1"/>
          <p:nvPr/>
        </p:nvSpPr>
        <p:spPr>
          <a:xfrm>
            <a:off x="245395" y="2014435"/>
            <a:ext cx="668061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Aquisição: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Vetor BM Super de Alta Homogeneização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mm: (Inox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/ Verde)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preco_unitario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(Unitário) //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(Lote)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D46D8F-E44C-F399-B8B9-0F277FFF5FCC}"/>
              </a:ext>
            </a:extLst>
          </p:cNvPr>
          <p:cNvSpPr txBox="1"/>
          <p:nvPr/>
        </p:nvSpPr>
        <p:spPr>
          <a:xfrm>
            <a:off x="245395" y="3719807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Equipamento Acompanha: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 em Aço Inox + Consultoria Técnica Full Time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E4F6F1-4ABA-1D0B-6126-31DE2E71021B}"/>
              </a:ext>
            </a:extLst>
          </p:cNvPr>
          <p:cNvSpPr txBox="1"/>
          <p:nvPr/>
        </p:nvSpPr>
        <p:spPr>
          <a:xfrm>
            <a:off x="245395" y="5052654"/>
            <a:ext cx="6680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Pagamento: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À vista 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- 50% de entrada + 50% em 30 dias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Faturado mediante aprovação cadastral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Cartão de crédito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2B3B0E-B1FB-44E3-8C44-A28C78AD2945}"/>
              </a:ext>
            </a:extLst>
          </p:cNvPr>
          <p:cNvSpPr txBox="1"/>
          <p:nvPr/>
        </p:nvSpPr>
        <p:spPr>
          <a:xfrm>
            <a:off x="245396" y="7155511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PAC –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frete_pac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SEDEX - 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frete_sedex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F1F0D0-67BE-9938-A38E-68B114009BCE}"/>
              </a:ext>
            </a:extLst>
          </p:cNvPr>
          <p:cNvSpPr txBox="1"/>
          <p:nvPr/>
        </p:nvSpPr>
        <p:spPr>
          <a:xfrm>
            <a:off x="245395" y="8783475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condiçao_envio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F997C1-CDD9-B71B-4FBD-4ADFA8F45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0599EE-FD6D-B2D1-C7D1-4E799D7D87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1449" y="-1"/>
            <a:ext cx="679449" cy="10691813"/>
          </a:xfrm>
          <a:prstGeom prst="rect">
            <a:avLst/>
          </a:prstGeom>
          <a:solidFill>
            <a:srgbClr val="F4F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8E0F27-3B3F-063A-1085-6DF67A1021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81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07D2093-2261-F9A9-C92B-6752AF3E3C27}"/>
              </a:ext>
            </a:extLst>
          </p:cNvPr>
          <p:cNvSpPr txBox="1"/>
          <p:nvPr/>
        </p:nvSpPr>
        <p:spPr>
          <a:xfrm>
            <a:off x="216368" y="741884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 e Classificação Fiscal: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IPI: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0%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ICMS: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8.8% (incluso)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Inclusos - Optante Simples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D9471C-41E9-84AE-D3D1-62ACA4C1A695}"/>
              </a:ext>
            </a:extLst>
          </p:cNvPr>
          <p:cNvSpPr txBox="1"/>
          <p:nvPr/>
        </p:nvSpPr>
        <p:spPr>
          <a:xfrm>
            <a:off x="201856" y="2458071"/>
            <a:ext cx="6985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Dados Bancários: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Banco: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Bradesco |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Agência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0516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Conta Corrente: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0293863-4 </a:t>
            </a: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Razão social: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Comércio de Equipamentos para Inteligência e Mistura LTDA.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CNPJ: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26.863.716/0001-06 (Pix) 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411E17-D183-EB4B-94DD-D917AB304952}"/>
              </a:ext>
            </a:extLst>
          </p:cNvPr>
          <p:cNvSpPr txBox="1"/>
          <p:nvPr/>
        </p:nvSpPr>
        <p:spPr>
          <a:xfrm>
            <a:off x="201855" y="4581713"/>
            <a:ext cx="66806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Objetivo da Oferta: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3.1: Número de NCM: 84.8790.00.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3.2: Validade da Proposta: 10 dias (Referente ao valor ofertado)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3.3: O pedido será aceito após confirmação via e-mail.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3.4: Consulte disponibilidade das peças no ato da compra.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3.5: O relatório de instalação será enviado em até 7 dias úteis a partir da confirmação da compra.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70232F8-B1DA-19DB-BBD1-A50CCC6DB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625" y="10067284"/>
            <a:ext cx="795338" cy="27461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99EECDD-4C3D-4067-DBE7-8007471BC4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768">
            <a:off x="-171449" y="5689708"/>
            <a:ext cx="7167994" cy="704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2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961345F8-0608-871A-DB85-C88B2DA327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700D33-762A-742B-32A0-8AFB038793E7}"/>
              </a:ext>
            </a:extLst>
          </p:cNvPr>
          <p:cNvSpPr txBox="1"/>
          <p:nvPr/>
        </p:nvSpPr>
        <p:spPr>
          <a:xfrm>
            <a:off x="245398" y="703309"/>
            <a:ext cx="6680618" cy="1372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Consulte nossa Reputação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6A4E49-8109-AFAC-721A-A6D995DBE37F}"/>
              </a:ext>
            </a:extLst>
          </p:cNvPr>
          <p:cNvSpPr txBox="1"/>
          <p:nvPr/>
        </p:nvSpPr>
        <p:spPr>
          <a:xfrm>
            <a:off x="245398" y="2443696"/>
            <a:ext cx="597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Desde Novembro de 2020, trabalhamos com índice zero de reclamações em mais de 10.000 atendimentos. </a:t>
            </a:r>
          </a:p>
        </p:txBody>
      </p:sp>
      <p:pic>
        <p:nvPicPr>
          <p:cNvPr id="1026" name="Picture 2" descr="Internet - ícones de sinais grátis">
            <a:extLst>
              <a:ext uri="{FF2B5EF4-FFF2-40B4-BE49-F238E27FC236}">
                <a16:creationId xmlns:a16="http://schemas.microsoft.com/office/drawing/2014/main" id="{C97C1AFD-2FDC-5E98-F84C-C292F8F02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76201" y="5371305"/>
            <a:ext cx="52045" cy="52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ogotipo do facebook png, ícone do facebook transparente png 18930538 PNG">
            <a:extLst>
              <a:ext uri="{FF2B5EF4-FFF2-40B4-BE49-F238E27FC236}">
                <a16:creationId xmlns:a16="http://schemas.microsoft.com/office/drawing/2014/main" id="{E2782CCE-AE41-0487-81E9-CC6D4A3CF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4" r="53895"/>
          <a:stretch>
            <a:fillRect/>
          </a:stretch>
        </p:blipFill>
        <p:spPr bwMode="auto">
          <a:xfrm>
            <a:off x="338352" y="4669548"/>
            <a:ext cx="423648" cy="64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stagram logotipo png, Instagram logotipo transparente png, Instagram  ícone transparente livre png 23986547 PNG">
            <a:extLst>
              <a:ext uri="{FF2B5EF4-FFF2-40B4-BE49-F238E27FC236}">
                <a16:creationId xmlns:a16="http://schemas.microsoft.com/office/drawing/2014/main" id="{460FD1FB-2864-C944-AADE-9B81A0E9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" y="4006020"/>
            <a:ext cx="549072" cy="5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ernet - ícones de sinais grátis">
            <a:extLst>
              <a:ext uri="{FF2B5EF4-FFF2-40B4-BE49-F238E27FC236}">
                <a16:creationId xmlns:a16="http://schemas.microsoft.com/office/drawing/2014/main" id="{9B72D5DC-E972-D41F-1CB8-C3BECAA22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6088063"/>
            <a:ext cx="433387" cy="43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A6310F-6F56-F15B-5731-AED7A9520B15}"/>
              </a:ext>
            </a:extLst>
          </p:cNvPr>
          <p:cNvSpPr txBox="1"/>
          <p:nvPr/>
        </p:nvSpPr>
        <p:spPr>
          <a:xfrm>
            <a:off x="894471" y="4112167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@sohelices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769437-C7D9-0FC8-69F6-845D06DA9D39}"/>
              </a:ext>
            </a:extLst>
          </p:cNvPr>
          <p:cNvSpPr txBox="1"/>
          <p:nvPr/>
        </p:nvSpPr>
        <p:spPr>
          <a:xfrm>
            <a:off x="894471" y="4822161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B95116-79F8-E465-F5E4-6E5A86FA7099}"/>
              </a:ext>
            </a:extLst>
          </p:cNvPr>
          <p:cNvSpPr txBox="1"/>
          <p:nvPr/>
        </p:nvSpPr>
        <p:spPr>
          <a:xfrm>
            <a:off x="894471" y="5442809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ADF7ED-4A67-2BEB-873B-8518333ED7D5}"/>
              </a:ext>
            </a:extLst>
          </p:cNvPr>
          <p:cNvSpPr txBox="1"/>
          <p:nvPr/>
        </p:nvSpPr>
        <p:spPr>
          <a:xfrm>
            <a:off x="894471" y="6160359"/>
            <a:ext cx="212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B836953-59EA-955D-2AD4-178509DA4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4" y="8790867"/>
            <a:ext cx="1228286" cy="1228286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9E7B11F-61A3-DF0F-105B-7FB2647EC07E}"/>
              </a:ext>
            </a:extLst>
          </p:cNvPr>
          <p:cNvCxnSpPr/>
          <p:nvPr/>
        </p:nvCxnSpPr>
        <p:spPr>
          <a:xfrm>
            <a:off x="1739900" y="8790867"/>
            <a:ext cx="0" cy="1228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856DBE-1BEC-E4C9-DC6B-0DCE8D47C873}"/>
              </a:ext>
            </a:extLst>
          </p:cNvPr>
          <p:cNvSpPr txBox="1"/>
          <p:nvPr/>
        </p:nvSpPr>
        <p:spPr>
          <a:xfrm>
            <a:off x="1845115" y="8866401"/>
            <a:ext cx="45265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São Paulo,  {{data}}.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nome_vendedor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[Atendimento/Vendas]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WhatsApp: (11) 94984-2894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E-mail: 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email_vendedor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B50589B-B756-1E37-C729-F8675BDE6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1036" name="Picture 12" descr="youtube logo | Figma">
            <a:extLst>
              <a:ext uri="{FF2B5EF4-FFF2-40B4-BE49-F238E27FC236}">
                <a16:creationId xmlns:a16="http://schemas.microsoft.com/office/drawing/2014/main" id="{72C8EA68-EFB8-3009-0579-8F477FA0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0" y="5379317"/>
            <a:ext cx="894471" cy="44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C3D258E3-72D9-330D-E42F-700FE854CE5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231" y="3276909"/>
            <a:ext cx="5622307" cy="562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1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92B84F-C2B6-E55E-6396-16A2F8E8E9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Google Shape;147;p7">
            <a:extLst>
              <a:ext uri="{FF2B5EF4-FFF2-40B4-BE49-F238E27FC236}">
                <a16:creationId xmlns:a16="http://schemas.microsoft.com/office/drawing/2014/main" id="{D4CF83FD-7A2B-6CA5-A391-C7BA490B06F9}"/>
              </a:ext>
            </a:extLst>
          </p:cNvPr>
          <p:cNvSpPr txBox="1"/>
          <p:nvPr/>
        </p:nvSpPr>
        <p:spPr>
          <a:xfrm>
            <a:off x="1817328" y="9520438"/>
            <a:ext cx="3926604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Rua Américo Brasiliense, 1490, sala 75, Chácara Santo Antônio, São Paulo, SP</a:t>
            </a:r>
            <a:endParaRPr sz="140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76E031-90C1-4B7C-2EB7-ABEA48BA9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27" y="3426993"/>
            <a:ext cx="3414406" cy="241684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3CAE41B-063C-6834-F260-2F4FA9FEF712}"/>
              </a:ext>
            </a:extLst>
          </p:cNvPr>
          <p:cNvSpPr txBox="1"/>
          <p:nvPr/>
        </p:nvSpPr>
        <p:spPr>
          <a:xfrm>
            <a:off x="2617964" y="5345906"/>
            <a:ext cx="2325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</p:spTree>
    <p:extLst>
      <p:ext uri="{BB962C8B-B14F-4D97-AF65-F5344CB8AC3E}">
        <p14:creationId xmlns:p14="http://schemas.microsoft.com/office/powerpoint/2010/main" val="3739314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Orçamento Orbicullar ARA</Template>
  <TotalTime>7</TotalTime>
  <Words>543</Words>
  <Application>Microsoft Office PowerPoint</Application>
  <PresentationFormat>Personalizar</PresentationFormat>
  <Paragraphs>79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G3 MISTURADORES DO BRASIL LTDA</dc:creator>
  <cp:lastModifiedBy>G3 MISTURADORES DO BRASIL LTDA</cp:lastModifiedBy>
  <cp:revision>2</cp:revision>
  <dcterms:created xsi:type="dcterms:W3CDTF">2026-04-27T19:07:37Z</dcterms:created>
  <dcterms:modified xsi:type="dcterms:W3CDTF">2026-04-27T19:14:39Z</dcterms:modified>
</cp:coreProperties>
</file>