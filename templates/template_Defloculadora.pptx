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Inter ExtraBold" panose="020B0604020202020204" charset="0"/>
      <p:bold r:id="rId14"/>
      <p:boldItalic r:id="rId15"/>
    </p:embeddedFont>
    <p:embeddedFont>
      <p:font typeface="Inter Medium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gxFpeZRsBndTfOwPLv6EtPjrD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8F1359-88EA-4FC9-90C2-733169E1ED3C}">
  <a:tblStyle styleId="{218F1359-88EA-4FC9-90C2-733169E1ED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1236" y="2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4275" y="3969575"/>
            <a:ext cx="1559725" cy="1173926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"/>
          <p:cNvSpPr txBox="1"/>
          <p:nvPr/>
        </p:nvSpPr>
        <p:spPr>
          <a:xfrm>
            <a:off x="3611704" y="2170200"/>
            <a:ext cx="5576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pt-BR" sz="45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DEFLOCULADORA</a:t>
            </a:r>
            <a:endParaRPr sz="45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1" descr="Uma imagem contendo objeto, peça de xadrez&#10;&#10;Descrição gerada automaticamente"/>
          <p:cNvPicPr preferRelativeResize="0"/>
          <p:nvPr/>
        </p:nvPicPr>
        <p:blipFill rotWithShape="1">
          <a:blip r:embed="rId4">
            <a:alphaModFix/>
          </a:blip>
          <a:srcRect t="14254" r="12762" b="31337"/>
          <a:stretch/>
        </p:blipFill>
        <p:spPr>
          <a:xfrm rot="10800000">
            <a:off x="-14948" y="672847"/>
            <a:ext cx="4809698" cy="399965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086801" y="221750"/>
            <a:ext cx="5959124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pt-BR" sz="17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Proposta Técnica: </a:t>
            </a:r>
            <a:r>
              <a:rPr lang="pt-BR" sz="17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Nº {{proposta}}</a:t>
            </a:r>
            <a:r>
              <a:rPr lang="pt-BR" sz="17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6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</a:t>
            </a:r>
            <a:endParaRPr sz="16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1"/>
          <p:cNvSpPr txBox="1"/>
          <p:nvPr/>
        </p:nvSpPr>
        <p:spPr>
          <a:xfrm>
            <a:off x="5819100" y="1258238"/>
            <a:ext cx="31983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Aplicação:</a:t>
            </a:r>
            <a:r>
              <a:rPr lang="pt-BR" sz="1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Alta Dispersão e Homogeneização</a:t>
            </a:r>
            <a:endParaRPr sz="1000" b="0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59" name="Google Shape;59;p1"/>
          <p:cNvGraphicFramePr/>
          <p:nvPr>
            <p:extLst>
              <p:ext uri="{D42A27DB-BD31-4B8C-83A1-F6EECF244321}">
                <p14:modId xmlns:p14="http://schemas.microsoft.com/office/powerpoint/2010/main" val="967557064"/>
              </p:ext>
            </p:extLst>
          </p:nvPr>
        </p:nvGraphicFramePr>
        <p:xfrm>
          <a:off x="3860800" y="689450"/>
          <a:ext cx="4939950" cy="502900"/>
        </p:xfrm>
        <a:graphic>
          <a:graphicData uri="http://schemas.openxmlformats.org/drawingml/2006/table">
            <a:tbl>
              <a:tblPr>
                <a:noFill/>
                <a:tableStyleId>{218F1359-88EA-4FC9-90C2-733169E1ED3C}</a:tableStyleId>
              </a:tblPr>
              <a:tblGrid>
                <a:gridCol w="19264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23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100" b="1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Tecnologia: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Defloculadora</a:t>
                      </a:r>
                      <a:r>
                        <a:rPr lang="pt-BR" sz="80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Aleta: 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{{aleta}} mm 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pt-BR" sz="9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Diâmetro: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{{</a:t>
                      </a:r>
                      <a:r>
                        <a:rPr lang="pt-BR" sz="1000" u="none" strike="noStrike" cap="none" dirty="0" err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diametro_corpo</a:t>
                      </a: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 mm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/>
          <p:nvPr/>
        </p:nvSpPr>
        <p:spPr>
          <a:xfrm>
            <a:off x="0" y="0"/>
            <a:ext cx="9144000" cy="5143500"/>
          </a:xfrm>
          <a:prstGeom prst="rtTriangle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5" name="Google Shape;65;p2"/>
          <p:cNvGraphicFramePr/>
          <p:nvPr/>
        </p:nvGraphicFramePr>
        <p:xfrm>
          <a:off x="313300" y="2718900"/>
          <a:ext cx="4258700" cy="2206300"/>
        </p:xfrm>
        <a:graphic>
          <a:graphicData uri="http://schemas.openxmlformats.org/drawingml/2006/table">
            <a:tbl>
              <a:tblPr>
                <a:noFill/>
                <a:tableStyleId>{218F1359-88EA-4FC9-90C2-733169E1ED3C}</a:tableStyleId>
              </a:tblPr>
              <a:tblGrid>
                <a:gridCol w="212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9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6" name="Google Shape;66;p2"/>
          <p:cNvSpPr/>
          <p:nvPr/>
        </p:nvSpPr>
        <p:spPr>
          <a:xfrm>
            <a:off x="435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435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35825" y="3692313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35825" y="4131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35825" y="4570375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2530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2530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2530825" y="3689638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2530825" y="4127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2530825" y="45650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874950" y="2734175"/>
            <a:ext cx="170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Vetor:</a:t>
            </a: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Defloculadora com 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Aleta Dedicada.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2"/>
          <p:cNvSpPr txBox="1"/>
          <p:nvPr/>
        </p:nvSpPr>
        <p:spPr>
          <a:xfrm>
            <a:off x="874950" y="3161500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da Aleta: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diametro_aleta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2"/>
          <p:cNvSpPr txBox="1"/>
          <p:nvPr/>
        </p:nvSpPr>
        <p:spPr>
          <a:xfrm>
            <a:off x="874950" y="3587625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Espaçamento: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espacamento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2"/>
          <p:cNvSpPr txBox="1"/>
          <p:nvPr/>
        </p:nvSpPr>
        <p:spPr>
          <a:xfrm>
            <a:off x="874950" y="4040900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do Corpo: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874950" y="4476050"/>
            <a:ext cx="170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Material: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2965175" y="2707450"/>
            <a:ext cx="1860600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Acabamento: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Semi escovado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2"/>
          <p:cNvSpPr txBox="1"/>
          <p:nvPr/>
        </p:nvSpPr>
        <p:spPr>
          <a:xfrm>
            <a:off x="2965163" y="3147250"/>
            <a:ext cx="13659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Espessura:</a:t>
            </a:r>
            <a:r>
              <a:rPr lang="pt-BR" sz="900" b="0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{{espessura}}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2"/>
          <p:cNvSpPr txBox="1"/>
          <p:nvPr/>
        </p:nvSpPr>
        <p:spPr>
          <a:xfrm>
            <a:off x="2965174" y="3587628"/>
            <a:ext cx="1606825" cy="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Furo central: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Padrão com {{furo}} mm.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2"/>
          <p:cNvSpPr txBox="1"/>
          <p:nvPr/>
        </p:nvSpPr>
        <p:spPr>
          <a:xfrm>
            <a:off x="2965177" y="4040888"/>
            <a:ext cx="15306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Eixo/Haste: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{{haste}}.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2965175" y="4494175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RPM: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Rotações até 1.750 ciclos.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1663750" y="228350"/>
            <a:ext cx="51891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Especificidades</a:t>
            </a:r>
            <a:r>
              <a:rPr lang="pt-BR" sz="2900" b="1" i="0" u="none" strike="noStrike" cap="none">
                <a:solidFill>
                  <a:schemeClr val="lt2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técnicas:</a:t>
            </a:r>
            <a:r>
              <a:rPr lang="pt-BR" sz="29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9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7" name="Google Shape;8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4910436" y="-583936"/>
            <a:ext cx="4295577" cy="5727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3"/>
          <p:cNvPicPr preferRelativeResize="0"/>
          <p:nvPr/>
        </p:nvPicPr>
        <p:blipFill rotWithShape="1">
          <a:blip r:embed="rId3">
            <a:alphaModFix/>
          </a:blip>
          <a:srcRect b="32744"/>
          <a:stretch/>
        </p:blipFill>
        <p:spPr>
          <a:xfrm>
            <a:off x="1536550" y="0"/>
            <a:ext cx="4785450" cy="429122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7407400" y="125"/>
            <a:ext cx="1736400" cy="51435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67258" y="4032025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 txBox="1"/>
          <p:nvPr/>
        </p:nvSpPr>
        <p:spPr>
          <a:xfrm>
            <a:off x="413400" y="3916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444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OBJETIVO DA OFERTA: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 </a:t>
            </a:r>
            <a:endParaRPr sz="1300" b="0" i="0" u="none" strike="noStrike" cap="none">
              <a:solidFill>
                <a:schemeClr val="lt1"/>
              </a:solidFill>
              <a:highlight>
                <a:srgbClr val="FF008C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708975" y="805000"/>
            <a:ext cx="2218200" cy="12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O objetivo desta proposta é definir o escopo e condições comerciais ideais para o fornecimento do vetor de mistura.  Obedece aos critérios de concorrência (Farplay) pré-estabelecidos pelo cliente como: segurança, economia de custos, garantia de procedência, balanceamento e baixíssima manutenção. 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149825" y="3142613"/>
            <a:ext cx="15660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Aletas dedicadas para melhor usabilidade em qualquer carga de sólido.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3"/>
          <p:cNvSpPr txBox="1"/>
          <p:nvPr/>
        </p:nvSpPr>
        <p:spPr>
          <a:xfrm>
            <a:off x="551741" y="4211538"/>
            <a:ext cx="1826400" cy="917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800"/>
            </a:pP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800" dirty="0" err="1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r>
              <a:rPr lang="pt-BR" sz="800" b="0" i="0" u="none" strike="noStrike" cap="none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 com validação ambiental para evitar contaminação cruzada. </a:t>
            </a:r>
            <a:endParaRPr sz="800" b="0" i="0" u="none" strike="noStrike" cap="none" dirty="0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5877275" y="3818125"/>
            <a:ext cx="1261500" cy="8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Estabilizador de frequência garante máxima segurança em ciclos de até 1.750rpm.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5172827" y="627326"/>
            <a:ext cx="20880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Acabamento recomendado para cosméticos, alimentos, antissépticos, medicamentos, entre outros.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02" name="Google Shape;102;p3"/>
          <p:cNvCxnSpPr/>
          <p:nvPr/>
        </p:nvCxnSpPr>
        <p:spPr>
          <a:xfrm rot="10800000" flipH="1">
            <a:off x="1252775" y="3065225"/>
            <a:ext cx="1580700" cy="77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3" name="Google Shape;103;p3"/>
          <p:cNvCxnSpPr/>
          <p:nvPr/>
        </p:nvCxnSpPr>
        <p:spPr>
          <a:xfrm rot="10800000" flipH="1">
            <a:off x="2000250" y="3640875"/>
            <a:ext cx="1221900" cy="61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4" name="Google Shape;104;p3"/>
          <p:cNvCxnSpPr/>
          <p:nvPr/>
        </p:nvCxnSpPr>
        <p:spPr>
          <a:xfrm rot="10800000">
            <a:off x="3902605" y="3566175"/>
            <a:ext cx="2051700" cy="375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5" name="Google Shape;105;p3"/>
          <p:cNvCxnSpPr/>
          <p:nvPr/>
        </p:nvCxnSpPr>
        <p:spPr>
          <a:xfrm flipH="1">
            <a:off x="4500476" y="1025912"/>
            <a:ext cx="762900" cy="1882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pic>
        <p:nvPicPr>
          <p:cNvPr id="106" name="Google Shape;106;p3"/>
          <p:cNvPicPr preferRelativeResize="0"/>
          <p:nvPr/>
        </p:nvPicPr>
        <p:blipFill rotWithShape="1">
          <a:blip r:embed="rId5">
            <a:alphaModFix/>
          </a:blip>
          <a:srcRect t="2029" r="-6022" b="-2028"/>
          <a:stretch/>
        </p:blipFill>
        <p:spPr>
          <a:xfrm>
            <a:off x="2677743" y="3576675"/>
            <a:ext cx="2727325" cy="186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 txBox="1"/>
          <p:nvPr/>
        </p:nvSpPr>
        <p:spPr>
          <a:xfrm>
            <a:off x="-1183125" y="580675"/>
            <a:ext cx="6263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2000850" y="108750"/>
            <a:ext cx="4721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6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Sugestão de Valores:</a:t>
            </a: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6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258400" y="788100"/>
            <a:ext cx="8466000" cy="3986400"/>
          </a:xfrm>
          <a:prstGeom prst="rect">
            <a:avLst/>
          </a:prstGeom>
          <a:solidFill>
            <a:srgbClr val="FFE5F3">
              <a:alpha val="71764"/>
            </a:srgbClr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reflection stA="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FFE5F3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292950" y="964950"/>
            <a:ext cx="8958000" cy="406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Aquisição: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0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</a:t>
            </a:r>
            <a:r>
              <a:rPr lang="pt-BR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000" b="0" i="0" u="none" strike="noStrike" cap="none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Defloculadora</a:t>
            </a:r>
            <a:r>
              <a:rPr lang="pt-BR" sz="10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de Alta Homogeneização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000" dirty="0" err="1">
                <a:latin typeface="Inter"/>
                <a:ea typeface="Inter"/>
                <a:cs typeface="Inter"/>
                <a:sym typeface="Inter"/>
              </a:rPr>
              <a:t>diametro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 mm: (Inox {{</a:t>
            </a:r>
            <a:r>
              <a:rPr lang="pt-BR" sz="1000" dirty="0" err="1"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 / Verde) R$ {{</a:t>
            </a:r>
            <a:r>
              <a:rPr lang="pt-BR" sz="1000" dirty="0" err="1">
                <a:latin typeface="Inter"/>
                <a:ea typeface="Inter"/>
                <a:cs typeface="Inter"/>
                <a:sym typeface="Inter"/>
              </a:rPr>
              <a:t>preco_unitario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}}// R$ {{</a:t>
            </a:r>
            <a:r>
              <a:rPr lang="pt-BR" sz="1000" dirty="0" err="1">
                <a:latin typeface="Inter"/>
                <a:ea typeface="Inter"/>
                <a:cs typeface="Inter"/>
                <a:sym typeface="Inter"/>
              </a:rPr>
              <a:t>preco_lote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</a:t>
            </a: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Equipamento Acompanha: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1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Vetores em Aço Inox + Consultoria Técnica Full Time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Formas de pagamento (de acordo com a escolha do cliente):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1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À vista 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50% de entrada + 50% em 30 dias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Faturado mediante aprovação cadastral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Cartão de crédito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Frete: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endParaRPr sz="11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buSzPts val="1100"/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Via PAC –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frete_pac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|  Via SEDEX - 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frete_sedex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</a:p>
          <a:p>
            <a:pPr lvl="0">
              <a:spcBef>
                <a:spcPts val="1200"/>
              </a:spcBef>
              <a:buSzPts val="1100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Envio: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pt-BR" sz="1100" b="1" i="0" u="none" strike="noStrike" cap="none" dirty="0">
                <a:solidFill>
                  <a:srgbClr val="FF008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spcAft>
                <a:spcPts val="1200"/>
              </a:spcAft>
              <a:buSzPts val="1100"/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condiçao_envio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5" name="Google Shape;115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47658" y="3663025"/>
            <a:ext cx="1476743" cy="111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/>
          <p:nvPr/>
        </p:nvSpPr>
        <p:spPr>
          <a:xfrm>
            <a:off x="231900" y="2842450"/>
            <a:ext cx="4853400" cy="1786200"/>
          </a:xfrm>
          <a:prstGeom prst="rect">
            <a:avLst/>
          </a:prstGeom>
          <a:solidFill>
            <a:srgbClr val="FFE5F3">
              <a:alpha val="71372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3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Objetivo da Oferta:</a:t>
            </a: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3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3.1: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de NCM: 84.8790.00.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3.2: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Validade da Proposta: 10 dias (Referente ao valor ofertado)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3.3: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pedido será aceito após confirmação via e-mail.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3.4: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Consulte disponibilidade das peças no ato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3.5: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relatório de instalação será enviado em até 7 dias úteis a partir da confirmação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80808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5" descr="Uma imagem contendo objeto, peça de xadrez&#10;&#10;Descrição gerada automaticamente"/>
          <p:cNvPicPr preferRelativeResize="0"/>
          <p:nvPr/>
        </p:nvPicPr>
        <p:blipFill rotWithShape="1">
          <a:blip r:embed="rId3">
            <a:alphaModFix/>
          </a:blip>
          <a:srcRect l="26821" t="13885" r="16354" b="21166"/>
          <a:stretch/>
        </p:blipFill>
        <p:spPr>
          <a:xfrm rot="5400000">
            <a:off x="5670560" y="2074587"/>
            <a:ext cx="2564276" cy="3588503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5"/>
          <p:cNvSpPr/>
          <p:nvPr/>
        </p:nvSpPr>
        <p:spPr>
          <a:xfrm>
            <a:off x="231900" y="344550"/>
            <a:ext cx="8680200" cy="2227200"/>
          </a:xfrm>
          <a:prstGeom prst="rect">
            <a:avLst/>
          </a:prstGeom>
          <a:solidFill>
            <a:srgbClr val="FFE5F3">
              <a:alpha val="71764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265650" y="495450"/>
            <a:ext cx="8612700" cy="22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Impostos e Classificação Fiscal: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IPI: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0%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ICMS: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8.8% (incluso)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IMPOSTOS: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Inclusos - Optante Simples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Dados Bancários: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Banco: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Bradesco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Agência: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0516 </a:t>
            </a:r>
            <a:r>
              <a:rPr lang="pt-BR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Conta Corrente: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0293863-4 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Razão social: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Só Comércio de Equipamentos para Inteligência e Mistura LTDA.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CNPJ: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26.863.716/0001-06 (Pix)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4" name="Google Shape;124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40150" y="127725"/>
            <a:ext cx="1348700" cy="10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0" y="0"/>
            <a:ext cx="5763900" cy="51435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1729" y="1988304"/>
            <a:ext cx="289025" cy="288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7897" y="2388981"/>
            <a:ext cx="316700" cy="3167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84251" y="2716876"/>
            <a:ext cx="334200" cy="33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54975" y="1494075"/>
            <a:ext cx="382550" cy="38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6"/>
          <p:cNvSpPr txBox="1"/>
          <p:nvPr/>
        </p:nvSpPr>
        <p:spPr>
          <a:xfrm>
            <a:off x="536250" y="346788"/>
            <a:ext cx="3651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8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Consulte nossa Reputação:</a:t>
            </a: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2800" b="1" i="0" u="none" strike="noStrike" cap="none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196050" y="833688"/>
            <a:ext cx="44847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1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DESDE NOVEMBRO DE 2020, TRABALHAMOS COM ÍNDICE ZERO DE RECLAMAÇÕES EM MAIS DE 10.000 ATENDIMENTOS.</a:t>
            </a:r>
            <a:endParaRPr sz="11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2106175" y="3482038"/>
            <a:ext cx="3315600" cy="113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São Paulo,  {{data}}.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{{</a:t>
            </a:r>
            <a:r>
              <a:rPr lang="pt-BR" sz="1100" dirty="0" err="1">
                <a:latin typeface="Inter ExtraBold"/>
                <a:ea typeface="Inter ExtraBold"/>
                <a:cs typeface="Inter ExtraBold"/>
                <a:sym typeface="Inter ExtraBold"/>
              </a:rPr>
              <a:t>nome_vendedor</a:t>
            </a: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}} [Atendimento/Vendas]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WhatsApp: (11) 94984-2894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E-mail: {{</a:t>
            </a:r>
            <a:r>
              <a:rPr lang="pt-BR" sz="1100" dirty="0" err="1">
                <a:latin typeface="Inter ExtraBold"/>
                <a:ea typeface="Inter ExtraBold"/>
                <a:cs typeface="Inter ExtraBold"/>
                <a:sym typeface="Inter ExtraBold"/>
              </a:rPr>
              <a:t>email_vendedor</a:t>
            </a:r>
            <a:r>
              <a:rPr lang="pt-BR" sz="1100">
                <a:latin typeface="Inter ExtraBold"/>
                <a:ea typeface="Inter ExtraBold"/>
                <a:cs typeface="Inter ExtraBold"/>
                <a:sym typeface="Inter ExtraBold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37" name="Google Shape;137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25325" y="3355725"/>
            <a:ext cx="1303200" cy="1303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38" name="Google Shape;138;p6"/>
          <p:cNvCxnSpPr/>
          <p:nvPr/>
        </p:nvCxnSpPr>
        <p:spPr>
          <a:xfrm>
            <a:off x="2076725" y="3265500"/>
            <a:ext cx="0" cy="1488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6"/>
          <p:cNvSpPr txBox="1"/>
          <p:nvPr/>
        </p:nvSpPr>
        <p:spPr>
          <a:xfrm>
            <a:off x="1789075" y="1494125"/>
            <a:ext cx="1966800" cy="14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@sohelices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www.sohelices.com.br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0" name="Google Shape;140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 descr="Uma imagem contendo objeto, peça de xadrez&#10;&#10;Descrição gerada automaticamente"/>
          <p:cNvPicPr preferRelativeResize="0"/>
          <p:nvPr/>
        </p:nvPicPr>
        <p:blipFill rotWithShape="1">
          <a:blip r:embed="rId9">
            <a:alphaModFix/>
          </a:blip>
          <a:srcRect l="18691" t="16278" b="29976"/>
          <a:stretch/>
        </p:blipFill>
        <p:spPr>
          <a:xfrm>
            <a:off x="4572000" y="889891"/>
            <a:ext cx="4572003" cy="3700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52625" y="635350"/>
            <a:ext cx="3638725" cy="2475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970687" y="3275825"/>
            <a:ext cx="5202600" cy="9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VENHA TOMAR UM CAFÉ EM NOSSO SHOWROOM! </a:t>
            </a:r>
            <a:endParaRPr sz="9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ESPERAMOS O SEU RETORNO.</a:t>
            </a:r>
            <a:endParaRPr sz="9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Rua Américo Brasiliense 1490, Sala 75/77  - Chácara Santo Antonio  - São Paulo-SP</a:t>
            </a:r>
            <a:endParaRPr sz="900" b="1" i="0" u="none" strike="noStrike" cap="none">
              <a:solidFill>
                <a:schemeClr val="lt1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563</Words>
  <Application>Microsoft Office PowerPoint</Application>
  <PresentationFormat>Apresentação na tela (16:9)</PresentationFormat>
  <Paragraphs>93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Inter</vt:lpstr>
      <vt:lpstr>Arial</vt:lpstr>
      <vt:lpstr>Inter ExtraBold</vt:lpstr>
      <vt:lpstr>Inter Medium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So Helices</dc:creator>
  <cp:lastModifiedBy>SÓ HÉLICES</cp:lastModifiedBy>
  <cp:revision>1</cp:revision>
  <dcterms:modified xsi:type="dcterms:W3CDTF">2026-03-09T17:18:46Z</dcterms:modified>
</cp:coreProperties>
</file>