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</p:sldMasterIdLst>
  <p:notesMasterIdLst>
    <p:notesMasterId r:id="rId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9144000" cy="5143500" type="screen16x9"/>
  <p:notesSz cx="6858000" cy="9144000"/>
  <p:embeddedFontLst>
    <p:embeddedFont>
      <p:font typeface="Inter" panose="020B0604020202020204" charset="0"/>
      <p:regular r:id="rId10"/>
      <p:bold r:id="rId11"/>
      <p:italic r:id="rId12"/>
      <p:boldItalic r:id="rId13"/>
    </p:embeddedFont>
    <p:embeddedFont>
      <p:font typeface="Inter ExtraBold" panose="020B0604020202020204" charset="0"/>
      <p:bold r:id="rId14"/>
      <p:boldItalic r:id="rId15"/>
    </p:embeddedFont>
    <p:embeddedFont>
      <p:font typeface="Inter Medium" panose="020B0604020202020204" charset="0"/>
      <p:regular r:id="rId16"/>
      <p:bold r:id="rId17"/>
      <p:italic r:id="rId18"/>
      <p:boldItalic r:id="rId19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  <p:ext uri="GoogleSlidesCustomDataVersion2">
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r:id="rId24" roundtripDataSignature="AMtx7mjgxFpeZRsBndTfOwPLv6EtPjrDHw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218F1359-88EA-4FC9-90C2-733169E1ED3C}">
  <a:tblStyle styleId="{218F1359-88EA-4FC9-90C2-733169E1ED3C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 b="off" i="off"/>
      <a:tcStyle>
        <a:tcBdr/>
      </a:tcStyle>
    </a:band1H>
    <a:band2H>
      <a:tcTxStyle b="off" i="off"/>
      <a:tcStyle>
        <a:tcBdr/>
      </a:tcStyle>
    </a:band2H>
    <a:band1V>
      <a:tcTxStyle b="off" i="off"/>
      <a:tcStyle>
        <a:tcBdr/>
      </a:tcStyle>
    </a:band1V>
    <a:band2V>
      <a:tcTxStyle b="off" i="off"/>
      <a:tcStyle>
        <a:tcBdr/>
      </a:tcStyle>
    </a:band2V>
    <a:lastCol>
      <a:tcTxStyle b="off" i="off"/>
      <a:tcStyle>
        <a:tcBdr/>
      </a:tcStyle>
    </a:lastCol>
    <a:firstCol>
      <a:tcTxStyle b="off" i="off"/>
      <a:tcStyle>
        <a:tcBdr/>
      </a:tcStyle>
    </a:firstCol>
    <a:lastRow>
      <a:tcTxStyle b="off" i="off"/>
      <a:tcStyle>
        <a:tcBdr/>
      </a:tcStyle>
    </a:lastRow>
    <a:seCell>
      <a:tcTxStyle b="off" i="off"/>
      <a:tcStyle>
        <a:tcBdr/>
      </a:tcStyle>
    </a:seCell>
    <a:swCell>
      <a:tcTxStyle b="off" i="off"/>
      <a:tcStyle>
        <a:tcBdr/>
      </a:tcStyle>
    </a:swCell>
    <a:firstRow>
      <a:tcTxStyle b="off" i="off"/>
      <a:tcStyle>
        <a:tcBdr/>
      </a:tcStyle>
    </a:firstRow>
    <a:neCell>
      <a:tcTxStyle b="off" i="off"/>
      <a:tcStyle>
        <a:tcBdr/>
      </a:tcStyle>
    </a:neCell>
    <a:nwCell>
      <a:tcTxStyle b="off" i="off"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56" d="100"/>
          <a:sy n="56" d="100"/>
        </p:scale>
        <p:origin x="834" y="276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4.fntdata"/><Relationship Id="rId18" Type="http://schemas.openxmlformats.org/officeDocument/2006/relationships/font" Target="fonts/font9.fntdata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font" Target="fonts/font3.fntdata"/><Relationship Id="rId17" Type="http://schemas.openxmlformats.org/officeDocument/2006/relationships/font" Target="fonts/font8.fntdata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font" Target="fonts/font7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font" Target="fonts/font2.fntdata"/><Relationship Id="rId24" Type="http://customschemas.google.com/relationships/presentationmetadata" Target="metadata"/><Relationship Id="rId5" Type="http://schemas.openxmlformats.org/officeDocument/2006/relationships/slide" Target="slides/slide4.xml"/><Relationship Id="rId15" Type="http://schemas.openxmlformats.org/officeDocument/2006/relationships/font" Target="fonts/font6.fntdata"/><Relationship Id="rId28" Type="http://schemas.openxmlformats.org/officeDocument/2006/relationships/tableStyles" Target="tableStyles.xml"/><Relationship Id="rId10" Type="http://schemas.openxmlformats.org/officeDocument/2006/relationships/font" Target="fonts/font1.fntdata"/><Relationship Id="rId19" Type="http://schemas.openxmlformats.org/officeDocument/2006/relationships/font" Target="fonts/font10.fntdata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Relationship Id="rId14" Type="http://schemas.openxmlformats.org/officeDocument/2006/relationships/font" Target="fonts/font5.fntdata"/><Relationship Id="rId27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52" name="Google Shape;52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2" name="Google Shape;62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1" name="Google Shape;91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9" name="Google Shape;109;p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18" name="Google Shape;118;p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27" name="Google Shape;127;p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44" name="Google Shape;144;p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9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9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10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5" name="Google Shape;15;p10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6" name="Google Shape;16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11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9" name="Google Shape;19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12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12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12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13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1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14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14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1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15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1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16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16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16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16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1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7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8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8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‹nº›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8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7" name="Google Shape;7;p8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8" name="Google Shape;8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‹nº›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png"/><Relationship Id="rId4" Type="http://schemas.openxmlformats.org/officeDocument/2006/relationships/image" Target="../media/image1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.png"/><Relationship Id="rId3" Type="http://schemas.openxmlformats.org/officeDocument/2006/relationships/image" Target="../media/image6.png"/><Relationship Id="rId7" Type="http://schemas.openxmlformats.org/officeDocument/2006/relationships/image" Target="../media/image10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png"/><Relationship Id="rId9" Type="http://schemas.openxmlformats.org/officeDocument/2006/relationships/image" Target="../media/image2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008C"/>
        </a:solidFill>
        <a:effectLst/>
      </p:bgPr>
    </p:bg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4" name="Google Shape;54;p1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584275" y="3969575"/>
            <a:ext cx="1559725" cy="1173926"/>
          </a:xfrm>
          <a:prstGeom prst="rect">
            <a:avLst/>
          </a:prstGeom>
          <a:noFill/>
          <a:ln>
            <a:noFill/>
          </a:ln>
        </p:spPr>
      </p:pic>
      <p:sp>
        <p:nvSpPr>
          <p:cNvPr id="55" name="Google Shape;55;p1"/>
          <p:cNvSpPr txBox="1"/>
          <p:nvPr/>
        </p:nvSpPr>
        <p:spPr>
          <a:xfrm>
            <a:off x="3611704" y="2170200"/>
            <a:ext cx="5576700" cy="1108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Arial"/>
              <a:buNone/>
            </a:pPr>
            <a:r>
              <a:rPr lang="pt-BR" sz="4500" b="1" i="0" u="none" strike="noStrike" cap="none">
                <a:solidFill>
                  <a:srgbClr val="FF008C"/>
                </a:solidFill>
                <a:highlight>
                  <a:schemeClr val="lt1"/>
                </a:highlight>
                <a:latin typeface="Arial"/>
                <a:ea typeface="Arial"/>
                <a:cs typeface="Arial"/>
                <a:sym typeface="Arial"/>
              </a:rPr>
              <a:t>DEFLOCULADORA</a:t>
            </a:r>
            <a:endParaRPr sz="4500" b="1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56" name="Google Shape;56;p1" descr="Uma imagem contendo objeto, peça de xadrez&#10;&#10;Descrição gerada automaticamente"/>
          <p:cNvPicPr preferRelativeResize="0"/>
          <p:nvPr/>
        </p:nvPicPr>
        <p:blipFill rotWithShape="1">
          <a:blip r:embed="rId4">
            <a:alphaModFix/>
          </a:blip>
          <a:srcRect t="14254" r="12762" b="31337"/>
          <a:stretch/>
        </p:blipFill>
        <p:spPr>
          <a:xfrm rot="10800000">
            <a:off x="-14948" y="672847"/>
            <a:ext cx="4809698" cy="3999653"/>
          </a:xfrm>
          <a:prstGeom prst="rect">
            <a:avLst/>
          </a:prstGeom>
          <a:noFill/>
          <a:ln>
            <a:noFill/>
          </a:ln>
        </p:spPr>
      </p:pic>
      <p:sp>
        <p:nvSpPr>
          <p:cNvPr id="57" name="Google Shape;57;p1"/>
          <p:cNvSpPr txBox="1"/>
          <p:nvPr/>
        </p:nvSpPr>
        <p:spPr>
          <a:xfrm>
            <a:off x="3086801" y="221750"/>
            <a:ext cx="5959124" cy="467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Arial"/>
              <a:buNone/>
            </a:pPr>
            <a:r>
              <a:rPr lang="pt-BR" sz="1700" b="1" i="0" u="none" strike="noStrike" cap="none" dirty="0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Proposta Técnica: </a:t>
            </a:r>
            <a:r>
              <a:rPr lang="pt-BR" sz="1700" b="1" i="0" u="none" strike="noStrike" cap="none" dirty="0">
                <a:solidFill>
                  <a:srgbClr val="FF008C"/>
                </a:solidFill>
                <a:highlight>
                  <a:srgbClr val="FFFFFF"/>
                </a:highlight>
                <a:latin typeface="Inter"/>
                <a:ea typeface="Inter"/>
                <a:cs typeface="Inter"/>
                <a:sym typeface="Inter"/>
              </a:rPr>
              <a:t>  Nº {{proposta}}</a:t>
            </a:r>
            <a:r>
              <a:rPr lang="pt-BR" sz="1700" b="1" i="0" u="none" strike="noStrike" cap="none" dirty="0">
                <a:solidFill>
                  <a:srgbClr val="FFFFFF"/>
                </a:solidFill>
                <a:highlight>
                  <a:srgbClr val="FFFFFF"/>
                </a:highlight>
                <a:latin typeface="Inter"/>
                <a:ea typeface="Inter"/>
                <a:cs typeface="Inter"/>
                <a:sym typeface="Inter"/>
              </a:rPr>
              <a:t>:</a:t>
            </a:r>
            <a:r>
              <a:rPr lang="pt-BR" sz="1600" b="1" i="0" u="none" strike="noStrike" cap="none" dirty="0">
                <a:solidFill>
                  <a:srgbClr val="FF008C"/>
                </a:solidFill>
                <a:highlight>
                  <a:srgbClr val="FFFFFF"/>
                </a:highlight>
                <a:latin typeface="Inter"/>
                <a:ea typeface="Inter"/>
                <a:cs typeface="Inter"/>
                <a:sym typeface="Inter"/>
              </a:rPr>
              <a:t>  </a:t>
            </a:r>
            <a:endParaRPr sz="1600" b="1" i="0" u="none" strike="noStrike" cap="none" dirty="0">
              <a:solidFill>
                <a:srgbClr val="FF008C"/>
              </a:solidFill>
              <a:highlight>
                <a:srgbClr val="FFFFFF"/>
              </a:highlight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58" name="Google Shape;58;p1"/>
          <p:cNvSpPr txBox="1"/>
          <p:nvPr/>
        </p:nvSpPr>
        <p:spPr>
          <a:xfrm>
            <a:off x="5819100" y="1258238"/>
            <a:ext cx="3198300" cy="42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lang="pt-BR" sz="1000" b="1" i="0" u="none" strike="noStrike" cap="non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Aplicação:</a:t>
            </a:r>
            <a:r>
              <a:rPr lang="pt-BR" sz="1000" b="0" i="0" u="none" strike="noStrike" cap="non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 Alta Dispersão e Homogeneização</a:t>
            </a:r>
            <a:endParaRPr sz="1000" b="0" i="0" u="none" strike="noStrike" cap="none">
              <a:solidFill>
                <a:srgbClr val="FFFFFF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graphicFrame>
        <p:nvGraphicFramePr>
          <p:cNvPr id="59" name="Google Shape;59;p1"/>
          <p:cNvGraphicFramePr/>
          <p:nvPr>
            <p:extLst>
              <p:ext uri="{D42A27DB-BD31-4B8C-83A1-F6EECF244321}">
                <p14:modId xmlns:p14="http://schemas.microsoft.com/office/powerpoint/2010/main" val="967557064"/>
              </p:ext>
            </p:extLst>
          </p:nvPr>
        </p:nvGraphicFramePr>
        <p:xfrm>
          <a:off x="3860800" y="689450"/>
          <a:ext cx="4939950" cy="502900"/>
        </p:xfrm>
        <a:graphic>
          <a:graphicData uri="http://schemas.openxmlformats.org/drawingml/2006/table">
            <a:tbl>
              <a:tblPr>
                <a:noFill/>
                <a:tableStyleId>{218F1359-88EA-4FC9-90C2-733169E1ED3C}</a:tableStyleId>
              </a:tblPr>
              <a:tblGrid>
                <a:gridCol w="192647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7232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411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0290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pt-BR" sz="1100" b="1" u="none" strike="noStrike" cap="none">
                          <a:solidFill>
                            <a:srgbClr val="FFFFFF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Tecnologia:</a:t>
                      </a:r>
                      <a:endParaRPr sz="1100" b="1" u="none" strike="noStrike" cap="none">
                        <a:solidFill>
                          <a:srgbClr val="FFFFFF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pt-BR" sz="1000" u="none" strike="noStrike" cap="none">
                          <a:solidFill>
                            <a:srgbClr val="FFFFFF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Defloculadora</a:t>
                      </a:r>
                      <a:r>
                        <a:rPr lang="pt-BR" sz="800" u="none" strike="noStrike" cap="none">
                          <a:solidFill>
                            <a:srgbClr val="FFFFFF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 </a:t>
                      </a:r>
                      <a:endParaRPr sz="1400" u="none" strike="noStrike" cap="none"/>
                    </a:p>
                  </a:txBody>
                  <a:tcPr marL="91425" marR="91425" marT="91425" marB="91425">
                    <a:lnL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pt-BR" sz="1000" b="1" u="none" strike="noStrike" cap="none" dirty="0">
                          <a:solidFill>
                            <a:srgbClr val="FFFFFF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Aleta: </a:t>
                      </a:r>
                      <a:endParaRPr sz="1000" b="1" u="none" strike="noStrike" cap="none" dirty="0">
                        <a:solidFill>
                          <a:srgbClr val="FFFFFF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pt-BR" sz="1000" u="none" strike="noStrike" cap="none" dirty="0">
                          <a:solidFill>
                            <a:srgbClr val="FFFFFF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{{aleta}} mm </a:t>
                      </a:r>
                      <a:endParaRPr sz="1400" u="none" strike="noStrike" cap="none" dirty="0"/>
                    </a:p>
                  </a:txBody>
                  <a:tcPr marL="91425" marR="91425" marT="91425" marB="91425">
                    <a:lnL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pt-BR" sz="900" b="1" u="none" strike="noStrike" cap="none" dirty="0">
                          <a:solidFill>
                            <a:srgbClr val="FFFFFF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 </a:t>
                      </a:r>
                      <a:r>
                        <a:rPr lang="pt-BR" sz="1000" b="1" u="none" strike="noStrike" cap="none" dirty="0">
                          <a:solidFill>
                            <a:srgbClr val="FFFFFF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Diâmetro:</a:t>
                      </a:r>
                      <a:endParaRPr sz="1000" b="1" u="none" strike="noStrike" cap="none" dirty="0">
                        <a:solidFill>
                          <a:srgbClr val="FFFFFF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pt-BR" sz="1000" u="none" strike="noStrike" cap="none" dirty="0">
                          <a:solidFill>
                            <a:srgbClr val="FFFFFF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 {{</a:t>
                      </a:r>
                      <a:r>
                        <a:rPr lang="pt-BR" sz="1000" u="none" strike="noStrike" cap="none" dirty="0" err="1">
                          <a:solidFill>
                            <a:srgbClr val="FFFFFF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diametro_corpo</a:t>
                      </a:r>
                      <a:r>
                        <a:rPr lang="pt-BR" sz="1000" u="none" strike="noStrike" cap="none" dirty="0">
                          <a:solidFill>
                            <a:srgbClr val="FFFFFF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}} mm</a:t>
                      </a:r>
                      <a:endParaRPr sz="1400" u="none" strike="noStrike" cap="none" dirty="0"/>
                    </a:p>
                  </a:txBody>
                  <a:tcPr marL="91425" marR="91425" marT="91425" marB="91425">
                    <a:lnL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008C"/>
        </a:solidFill>
        <a:effectLst/>
      </p:bgPr>
    </p:bg>
    <p:spTree>
      <p:nvGrpSpPr>
        <p:cNvPr id="1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2"/>
          <p:cNvSpPr/>
          <p:nvPr/>
        </p:nvSpPr>
        <p:spPr>
          <a:xfrm>
            <a:off x="0" y="0"/>
            <a:ext cx="9144000" cy="5143500"/>
          </a:xfrm>
          <a:prstGeom prst="rtTriangle">
            <a:avLst/>
          </a:prstGeom>
          <a:solidFill>
            <a:srgbClr val="EEEEEE"/>
          </a:solidFill>
          <a:ln w="9525" cap="flat" cmpd="sng">
            <a:solidFill>
              <a:srgbClr val="EEEEEE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aphicFrame>
        <p:nvGraphicFramePr>
          <p:cNvPr id="65" name="Google Shape;65;p2"/>
          <p:cNvGraphicFramePr/>
          <p:nvPr/>
        </p:nvGraphicFramePr>
        <p:xfrm>
          <a:off x="313300" y="2718900"/>
          <a:ext cx="4258700" cy="2206300"/>
        </p:xfrm>
        <a:graphic>
          <a:graphicData uri="http://schemas.openxmlformats.org/drawingml/2006/table">
            <a:tbl>
              <a:tblPr>
                <a:noFill/>
                <a:tableStyleId>{218F1359-88EA-4FC9-90C2-733169E1ED3C}</a:tableStyleId>
              </a:tblPr>
              <a:tblGrid>
                <a:gridCol w="21293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293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390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endParaRPr sz="1400" u="none" strike="noStrike" cap="none"/>
                    </a:p>
                  </a:txBody>
                  <a:tcPr marL="91425" marR="91425" marT="91425" marB="91425">
                    <a:lnL w="9525" cap="flat" cmpd="sng">
                      <a:solidFill>
                        <a:srgbClr val="FF008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8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8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8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endParaRPr sz="1400" u="none" strike="noStrike" cap="none"/>
                    </a:p>
                  </a:txBody>
                  <a:tcPr marL="91425" marR="91425" marT="91425" marB="91425">
                    <a:lnL w="9525" cap="flat" cmpd="sng">
                      <a:solidFill>
                        <a:srgbClr val="FF008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8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8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8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882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endParaRPr sz="1400" u="none" strike="noStrike" cap="none"/>
                    </a:p>
                  </a:txBody>
                  <a:tcPr marL="91425" marR="91425" marT="91425" marB="91425">
                    <a:lnL w="9525" cap="flat" cmpd="sng">
                      <a:solidFill>
                        <a:srgbClr val="FF008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8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8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8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endParaRPr sz="1400" u="none" strike="noStrike" cap="none"/>
                    </a:p>
                  </a:txBody>
                  <a:tcPr marL="91425" marR="91425" marT="91425" marB="91425">
                    <a:lnL w="9525" cap="flat" cmpd="sng">
                      <a:solidFill>
                        <a:srgbClr val="FF008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8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8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8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252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endParaRPr sz="1400" u="none" strike="noStrike" cap="none"/>
                    </a:p>
                  </a:txBody>
                  <a:tcPr marL="91425" marR="91425" marT="91425" marB="91425">
                    <a:lnL w="9525" cap="flat" cmpd="sng">
                      <a:solidFill>
                        <a:srgbClr val="FF008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8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8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8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endParaRPr sz="1400" u="none" strike="noStrike" cap="none"/>
                    </a:p>
                  </a:txBody>
                  <a:tcPr marL="91425" marR="91425" marT="91425" marB="91425">
                    <a:lnL w="9525" cap="flat" cmpd="sng">
                      <a:solidFill>
                        <a:srgbClr val="FF008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8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8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8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367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endParaRPr sz="1400" u="none" strike="noStrike" cap="none"/>
                    </a:p>
                  </a:txBody>
                  <a:tcPr marL="91425" marR="91425" marT="91425" marB="91425">
                    <a:lnL w="9525" cap="flat" cmpd="sng">
                      <a:solidFill>
                        <a:srgbClr val="FF008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8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8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8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endParaRPr sz="1400" u="none" strike="noStrike" cap="none"/>
                    </a:p>
                  </a:txBody>
                  <a:tcPr marL="91425" marR="91425" marT="91425" marB="91425">
                    <a:lnL w="9525" cap="flat" cmpd="sng">
                      <a:solidFill>
                        <a:srgbClr val="FF008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8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8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8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491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endParaRPr sz="1400" u="none" strike="noStrike" cap="none"/>
                    </a:p>
                  </a:txBody>
                  <a:tcPr marL="91425" marR="91425" marT="91425" marB="91425">
                    <a:lnL w="9525" cap="flat" cmpd="sng">
                      <a:solidFill>
                        <a:srgbClr val="FF008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8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8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8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endParaRPr sz="1400" u="none" strike="noStrike" cap="none" dirty="0"/>
                    </a:p>
                  </a:txBody>
                  <a:tcPr marL="91425" marR="91425" marT="91425" marB="91425">
                    <a:lnL w="9525" cap="flat" cmpd="sng">
                      <a:solidFill>
                        <a:srgbClr val="FF008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8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8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8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66" name="Google Shape;66;p2"/>
          <p:cNvSpPr/>
          <p:nvPr/>
        </p:nvSpPr>
        <p:spPr>
          <a:xfrm>
            <a:off x="435825" y="2814250"/>
            <a:ext cx="391500" cy="278100"/>
          </a:xfrm>
          <a:prstGeom prst="rect">
            <a:avLst/>
          </a:prstGeom>
          <a:solidFill>
            <a:srgbClr val="FF008C"/>
          </a:solidFill>
          <a:ln w="9525" cap="flat" cmpd="sng">
            <a:solidFill>
              <a:srgbClr val="FF008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lang="pt-BR" sz="1000" b="1" i="0" u="none" strike="noStrike" cap="non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1</a:t>
            </a:r>
            <a:endParaRPr sz="1000" b="1" i="0" u="none" strike="noStrike" cap="none">
              <a:solidFill>
                <a:srgbClr val="FFFFFF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67" name="Google Shape;67;p2"/>
          <p:cNvSpPr/>
          <p:nvPr/>
        </p:nvSpPr>
        <p:spPr>
          <a:xfrm>
            <a:off x="435825" y="3251950"/>
            <a:ext cx="391500" cy="278100"/>
          </a:xfrm>
          <a:prstGeom prst="rect">
            <a:avLst/>
          </a:prstGeom>
          <a:solidFill>
            <a:srgbClr val="FF008C"/>
          </a:solidFill>
          <a:ln w="9525" cap="flat" cmpd="sng">
            <a:solidFill>
              <a:srgbClr val="FF008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lang="pt-BR" sz="1000" b="1" i="0" u="none" strike="noStrike" cap="non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2</a:t>
            </a:r>
            <a:endParaRPr sz="1000" b="1" i="0" u="none" strike="noStrike" cap="none">
              <a:solidFill>
                <a:srgbClr val="FFFFFF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68" name="Google Shape;68;p2"/>
          <p:cNvSpPr/>
          <p:nvPr/>
        </p:nvSpPr>
        <p:spPr>
          <a:xfrm>
            <a:off x="435825" y="3692313"/>
            <a:ext cx="391500" cy="278100"/>
          </a:xfrm>
          <a:prstGeom prst="rect">
            <a:avLst/>
          </a:prstGeom>
          <a:solidFill>
            <a:srgbClr val="FF008C"/>
          </a:solidFill>
          <a:ln w="9525" cap="flat" cmpd="sng">
            <a:solidFill>
              <a:srgbClr val="FF008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lang="pt-BR" sz="1000" b="1" i="0" u="none" strike="noStrike" cap="non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3</a:t>
            </a:r>
            <a:endParaRPr sz="1000" b="1" i="0" u="none" strike="noStrike" cap="none">
              <a:solidFill>
                <a:srgbClr val="FFFFFF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69" name="Google Shape;69;p2"/>
          <p:cNvSpPr/>
          <p:nvPr/>
        </p:nvSpPr>
        <p:spPr>
          <a:xfrm>
            <a:off x="435825" y="4131350"/>
            <a:ext cx="391500" cy="278100"/>
          </a:xfrm>
          <a:prstGeom prst="rect">
            <a:avLst/>
          </a:prstGeom>
          <a:solidFill>
            <a:srgbClr val="FF008C"/>
          </a:solidFill>
          <a:ln w="9525" cap="flat" cmpd="sng">
            <a:solidFill>
              <a:srgbClr val="FF008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lang="pt-BR" sz="1000" b="1" i="0" u="none" strike="noStrike" cap="non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4</a:t>
            </a:r>
            <a:endParaRPr sz="1000" b="1" i="0" u="none" strike="noStrike" cap="none">
              <a:solidFill>
                <a:srgbClr val="FFFFFF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70" name="Google Shape;70;p2"/>
          <p:cNvSpPr/>
          <p:nvPr/>
        </p:nvSpPr>
        <p:spPr>
          <a:xfrm>
            <a:off x="435825" y="4570375"/>
            <a:ext cx="391500" cy="278100"/>
          </a:xfrm>
          <a:prstGeom prst="rect">
            <a:avLst/>
          </a:prstGeom>
          <a:solidFill>
            <a:srgbClr val="FF008C"/>
          </a:solidFill>
          <a:ln w="9525" cap="flat" cmpd="sng">
            <a:solidFill>
              <a:srgbClr val="FF008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lang="pt-BR" sz="1000" b="1" i="0" u="none" strike="noStrike" cap="non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5</a:t>
            </a:r>
            <a:endParaRPr sz="1000" b="1" i="0" u="none" strike="noStrike" cap="none">
              <a:solidFill>
                <a:srgbClr val="FFFFFF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71" name="Google Shape;71;p2"/>
          <p:cNvSpPr/>
          <p:nvPr/>
        </p:nvSpPr>
        <p:spPr>
          <a:xfrm>
            <a:off x="2530825" y="2814250"/>
            <a:ext cx="391500" cy="278100"/>
          </a:xfrm>
          <a:prstGeom prst="rect">
            <a:avLst/>
          </a:prstGeom>
          <a:solidFill>
            <a:srgbClr val="FF008C"/>
          </a:solidFill>
          <a:ln w="9525" cap="flat" cmpd="sng">
            <a:solidFill>
              <a:srgbClr val="FF008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lang="pt-BR" sz="1000" b="1" i="0" u="none" strike="noStrike" cap="non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6</a:t>
            </a:r>
            <a:endParaRPr sz="1000" b="1" i="0" u="none" strike="noStrike" cap="none">
              <a:solidFill>
                <a:srgbClr val="FFFFFF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72" name="Google Shape;72;p2"/>
          <p:cNvSpPr/>
          <p:nvPr/>
        </p:nvSpPr>
        <p:spPr>
          <a:xfrm>
            <a:off x="2530825" y="3251950"/>
            <a:ext cx="391500" cy="278100"/>
          </a:xfrm>
          <a:prstGeom prst="rect">
            <a:avLst/>
          </a:prstGeom>
          <a:solidFill>
            <a:srgbClr val="FF008C"/>
          </a:solidFill>
          <a:ln w="9525" cap="flat" cmpd="sng">
            <a:solidFill>
              <a:srgbClr val="FF008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lang="pt-BR" sz="1000" b="1" i="0" u="none" strike="noStrike" cap="non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7</a:t>
            </a:r>
            <a:endParaRPr sz="1000" b="1" i="0" u="none" strike="noStrike" cap="none">
              <a:solidFill>
                <a:srgbClr val="FFFFFF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73" name="Google Shape;73;p2"/>
          <p:cNvSpPr/>
          <p:nvPr/>
        </p:nvSpPr>
        <p:spPr>
          <a:xfrm>
            <a:off x="2530825" y="3689638"/>
            <a:ext cx="391500" cy="278100"/>
          </a:xfrm>
          <a:prstGeom prst="rect">
            <a:avLst/>
          </a:prstGeom>
          <a:solidFill>
            <a:srgbClr val="FF008C"/>
          </a:solidFill>
          <a:ln w="9525" cap="flat" cmpd="sng">
            <a:solidFill>
              <a:srgbClr val="FF008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lang="pt-BR" sz="1000" b="1" i="0" u="none" strike="noStrike" cap="non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8</a:t>
            </a:r>
            <a:endParaRPr sz="1000" b="1" i="0" u="none" strike="noStrike" cap="none">
              <a:solidFill>
                <a:srgbClr val="FFFFFF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74" name="Google Shape;74;p2"/>
          <p:cNvSpPr/>
          <p:nvPr/>
        </p:nvSpPr>
        <p:spPr>
          <a:xfrm>
            <a:off x="2530825" y="4127350"/>
            <a:ext cx="391500" cy="278100"/>
          </a:xfrm>
          <a:prstGeom prst="rect">
            <a:avLst/>
          </a:prstGeom>
          <a:solidFill>
            <a:srgbClr val="FF008C"/>
          </a:solidFill>
          <a:ln w="9525" cap="flat" cmpd="sng">
            <a:solidFill>
              <a:srgbClr val="FF008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lang="pt-BR" sz="1000" b="1" i="0" u="none" strike="noStrike" cap="non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9</a:t>
            </a:r>
            <a:endParaRPr sz="1000" b="1" i="0" u="none" strike="noStrike" cap="none">
              <a:solidFill>
                <a:srgbClr val="FFFFFF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75" name="Google Shape;75;p2"/>
          <p:cNvSpPr/>
          <p:nvPr/>
        </p:nvSpPr>
        <p:spPr>
          <a:xfrm>
            <a:off x="2530825" y="4565050"/>
            <a:ext cx="391500" cy="278100"/>
          </a:xfrm>
          <a:prstGeom prst="rect">
            <a:avLst/>
          </a:prstGeom>
          <a:solidFill>
            <a:srgbClr val="FF008C"/>
          </a:solidFill>
          <a:ln w="9525" cap="flat" cmpd="sng">
            <a:solidFill>
              <a:srgbClr val="FF008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lang="pt-BR" sz="1000" b="1" i="0" u="none" strike="noStrike" cap="non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10</a:t>
            </a:r>
            <a:endParaRPr sz="1000" b="1" i="0" u="none" strike="noStrike" cap="none">
              <a:solidFill>
                <a:srgbClr val="FFFFFF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76" name="Google Shape;76;p2"/>
          <p:cNvSpPr txBox="1"/>
          <p:nvPr/>
        </p:nvSpPr>
        <p:spPr>
          <a:xfrm>
            <a:off x="874950" y="2734175"/>
            <a:ext cx="1703400" cy="35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lang="pt-BR" sz="900" b="1" i="0" u="none" strike="noStrike" cap="none">
                <a:solidFill>
                  <a:srgbClr val="595959"/>
                </a:solidFill>
                <a:latin typeface="Inter"/>
                <a:ea typeface="Inter"/>
                <a:cs typeface="Inter"/>
                <a:sym typeface="Inter"/>
              </a:rPr>
              <a:t>Vetor:</a:t>
            </a:r>
            <a:r>
              <a:rPr lang="pt-BR" sz="900" b="0" i="0" u="none" strike="noStrike" cap="none">
                <a:solidFill>
                  <a:srgbClr val="595959"/>
                </a:solidFill>
                <a:latin typeface="Inter"/>
                <a:ea typeface="Inter"/>
                <a:cs typeface="Inter"/>
                <a:sym typeface="Inter"/>
              </a:rPr>
              <a:t> Defloculadora com </a:t>
            </a:r>
            <a:endParaRPr sz="900" b="0" i="0" u="none" strike="noStrike" cap="none">
              <a:solidFill>
                <a:srgbClr val="595959"/>
              </a:solidFill>
              <a:latin typeface="Inter"/>
              <a:ea typeface="Inter"/>
              <a:cs typeface="Inter"/>
              <a:sym typeface="Inter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lang="pt-BR" sz="900" b="0" i="0" u="none" strike="noStrike" cap="none">
                <a:solidFill>
                  <a:srgbClr val="595959"/>
                </a:solidFill>
                <a:latin typeface="Inter"/>
                <a:ea typeface="Inter"/>
                <a:cs typeface="Inter"/>
                <a:sym typeface="Inter"/>
              </a:rPr>
              <a:t>Aleta Dedicada.</a:t>
            </a:r>
            <a:endParaRPr sz="900" b="0" i="0" u="none" strike="noStrike" cap="none">
              <a:solidFill>
                <a:srgbClr val="595959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77" name="Google Shape;77;p2"/>
          <p:cNvSpPr txBox="1"/>
          <p:nvPr/>
        </p:nvSpPr>
        <p:spPr>
          <a:xfrm>
            <a:off x="874950" y="3161500"/>
            <a:ext cx="1645500" cy="30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lang="pt-BR" sz="900" b="1" i="0" u="none" strike="noStrike" cap="none" dirty="0">
                <a:solidFill>
                  <a:srgbClr val="595959"/>
                </a:solidFill>
                <a:latin typeface="Inter"/>
                <a:ea typeface="Inter"/>
                <a:cs typeface="Inter"/>
                <a:sym typeface="Inter"/>
              </a:rPr>
              <a:t>Diâmetro da Aleta: </a:t>
            </a:r>
            <a:endParaRPr sz="900" b="1" i="0" u="none" strike="noStrike" cap="none" dirty="0">
              <a:solidFill>
                <a:srgbClr val="595959"/>
              </a:solidFill>
              <a:latin typeface="Inter"/>
              <a:ea typeface="Inter"/>
              <a:cs typeface="Inter"/>
              <a:sym typeface="Inter"/>
            </a:endParaRPr>
          </a:p>
          <a:p>
            <a:pPr lvl="0">
              <a:buSzPts val="900"/>
            </a:pPr>
            <a:r>
              <a:rPr lang="pt-BR" sz="900" dirty="0">
                <a:solidFill>
                  <a:srgbClr val="595959"/>
                </a:solidFill>
                <a:latin typeface="Inter"/>
                <a:ea typeface="Inter"/>
                <a:cs typeface="Inter"/>
                <a:sym typeface="Inter"/>
              </a:rPr>
              <a:t>{{</a:t>
            </a:r>
            <a:r>
              <a:rPr lang="pt-BR" sz="900" dirty="0" err="1">
                <a:solidFill>
                  <a:srgbClr val="595959"/>
                </a:solidFill>
                <a:latin typeface="Inter"/>
                <a:ea typeface="Inter"/>
                <a:cs typeface="Inter"/>
                <a:sym typeface="Inter"/>
              </a:rPr>
              <a:t>diametro_aleta</a:t>
            </a:r>
            <a:r>
              <a:rPr lang="pt-BR" sz="900" dirty="0">
                <a:solidFill>
                  <a:srgbClr val="595959"/>
                </a:solidFill>
                <a:latin typeface="Inter"/>
                <a:ea typeface="Inter"/>
                <a:cs typeface="Inter"/>
                <a:sym typeface="Inter"/>
              </a:rPr>
              <a:t>}} mm</a:t>
            </a:r>
            <a:endParaRPr sz="900" b="0" i="0" u="none" strike="noStrike" cap="none" dirty="0">
              <a:solidFill>
                <a:srgbClr val="595959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78" name="Google Shape;78;p2"/>
          <p:cNvSpPr txBox="1"/>
          <p:nvPr/>
        </p:nvSpPr>
        <p:spPr>
          <a:xfrm>
            <a:off x="874950" y="3587625"/>
            <a:ext cx="1645500" cy="30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lang="pt-BR" sz="900" b="1" i="0" u="none" strike="noStrike" cap="none" dirty="0">
                <a:solidFill>
                  <a:srgbClr val="595959"/>
                </a:solidFill>
                <a:latin typeface="Inter"/>
                <a:ea typeface="Inter"/>
                <a:cs typeface="Inter"/>
                <a:sym typeface="Inter"/>
              </a:rPr>
              <a:t>Espaçamento: </a:t>
            </a:r>
            <a:endParaRPr sz="900" b="1" i="0" u="none" strike="noStrike" cap="none" dirty="0">
              <a:solidFill>
                <a:srgbClr val="595959"/>
              </a:solidFill>
              <a:latin typeface="Inter"/>
              <a:ea typeface="Inter"/>
              <a:cs typeface="Inter"/>
              <a:sym typeface="Inter"/>
            </a:endParaRPr>
          </a:p>
          <a:p>
            <a:pPr lvl="0">
              <a:buSzPts val="900"/>
            </a:pPr>
            <a:r>
              <a:rPr lang="pt-BR" sz="900" dirty="0">
                <a:solidFill>
                  <a:srgbClr val="595959"/>
                </a:solidFill>
                <a:latin typeface="Inter"/>
                <a:ea typeface="Inter"/>
                <a:cs typeface="Inter"/>
                <a:sym typeface="Inter"/>
              </a:rPr>
              <a:t>{{</a:t>
            </a:r>
            <a:r>
              <a:rPr lang="pt-BR" sz="900" dirty="0" err="1">
                <a:solidFill>
                  <a:srgbClr val="595959"/>
                </a:solidFill>
                <a:latin typeface="Inter"/>
                <a:ea typeface="Inter"/>
                <a:cs typeface="Inter"/>
                <a:sym typeface="Inter"/>
              </a:rPr>
              <a:t>espacamento</a:t>
            </a:r>
            <a:r>
              <a:rPr lang="pt-BR" sz="900" dirty="0">
                <a:solidFill>
                  <a:srgbClr val="595959"/>
                </a:solidFill>
                <a:latin typeface="Inter"/>
                <a:ea typeface="Inter"/>
                <a:cs typeface="Inter"/>
                <a:sym typeface="Inter"/>
              </a:rPr>
              <a:t>}} mm </a:t>
            </a:r>
            <a:endParaRPr sz="900" b="0" i="0" u="none" strike="noStrike" cap="none" dirty="0">
              <a:solidFill>
                <a:srgbClr val="595959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79" name="Google Shape;79;p2"/>
          <p:cNvSpPr txBox="1"/>
          <p:nvPr/>
        </p:nvSpPr>
        <p:spPr>
          <a:xfrm>
            <a:off x="874950" y="4040900"/>
            <a:ext cx="1763400" cy="30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lang="pt-BR" sz="900" b="1" i="0" u="none" strike="noStrike" cap="none" dirty="0">
                <a:solidFill>
                  <a:srgbClr val="595959"/>
                </a:solidFill>
                <a:latin typeface="Inter"/>
                <a:ea typeface="Inter"/>
                <a:cs typeface="Inter"/>
                <a:sym typeface="Inter"/>
              </a:rPr>
              <a:t>Diâmetro do Corpo: </a:t>
            </a:r>
            <a:endParaRPr sz="900" b="1" i="0" u="none" strike="noStrike" cap="none" dirty="0">
              <a:solidFill>
                <a:srgbClr val="595959"/>
              </a:solidFill>
              <a:latin typeface="Inter"/>
              <a:ea typeface="Inter"/>
              <a:cs typeface="Inter"/>
              <a:sym typeface="Inter"/>
            </a:endParaRPr>
          </a:p>
          <a:p>
            <a:pPr lvl="0">
              <a:buSzPts val="900"/>
            </a:pPr>
            <a:r>
              <a:rPr lang="pt-BR" sz="900" dirty="0">
                <a:solidFill>
                  <a:srgbClr val="595959"/>
                </a:solidFill>
                <a:latin typeface="Inter"/>
                <a:ea typeface="Inter"/>
                <a:cs typeface="Inter"/>
                <a:sym typeface="Inter"/>
              </a:rPr>
              <a:t>{{</a:t>
            </a:r>
            <a:r>
              <a:rPr lang="pt-BR" sz="900" dirty="0" err="1">
                <a:solidFill>
                  <a:srgbClr val="595959"/>
                </a:solidFill>
                <a:latin typeface="Inter"/>
                <a:ea typeface="Inter"/>
                <a:cs typeface="Inter"/>
                <a:sym typeface="Inter"/>
              </a:rPr>
              <a:t>diametro_corpo</a:t>
            </a:r>
            <a:r>
              <a:rPr lang="pt-BR" sz="900" dirty="0">
                <a:solidFill>
                  <a:srgbClr val="595959"/>
                </a:solidFill>
                <a:latin typeface="Inter"/>
                <a:ea typeface="Inter"/>
                <a:cs typeface="Inter"/>
                <a:sym typeface="Inter"/>
              </a:rPr>
              <a:t>}} mm</a:t>
            </a:r>
            <a:endParaRPr sz="900" b="0" i="0" u="none" strike="noStrike" cap="none" dirty="0">
              <a:solidFill>
                <a:srgbClr val="595959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80" name="Google Shape;80;p2"/>
          <p:cNvSpPr txBox="1"/>
          <p:nvPr/>
        </p:nvSpPr>
        <p:spPr>
          <a:xfrm>
            <a:off x="874950" y="4476050"/>
            <a:ext cx="1703400" cy="30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lang="pt-BR" sz="900" b="1" i="0" u="none" strike="noStrike" cap="none" dirty="0">
                <a:solidFill>
                  <a:srgbClr val="595959"/>
                </a:solidFill>
                <a:latin typeface="Inter"/>
                <a:ea typeface="Inter"/>
                <a:cs typeface="Inter"/>
                <a:sym typeface="Inter"/>
              </a:rPr>
              <a:t>Material: </a:t>
            </a:r>
            <a:endParaRPr sz="900" b="1" i="0" u="none" strike="noStrike" cap="none" dirty="0">
              <a:solidFill>
                <a:srgbClr val="595959"/>
              </a:solidFill>
              <a:latin typeface="Inter"/>
              <a:ea typeface="Inter"/>
              <a:cs typeface="Inter"/>
              <a:sym typeface="Inter"/>
            </a:endParaRPr>
          </a:p>
          <a:p>
            <a:pPr lvl="0">
              <a:buSzPts val="900"/>
            </a:pPr>
            <a:r>
              <a:rPr lang="pt-BR" sz="900" dirty="0">
                <a:solidFill>
                  <a:srgbClr val="595959"/>
                </a:solidFill>
                <a:latin typeface="Inter"/>
                <a:ea typeface="Inter"/>
                <a:cs typeface="Inter"/>
                <a:sym typeface="Inter"/>
              </a:rPr>
              <a:t>Aço Inox {{</a:t>
            </a:r>
            <a:r>
              <a:rPr lang="pt-BR" sz="900" dirty="0" err="1">
                <a:solidFill>
                  <a:srgbClr val="595959"/>
                </a:solidFill>
                <a:latin typeface="Inter"/>
                <a:ea typeface="Inter"/>
                <a:cs typeface="Inter"/>
                <a:sym typeface="Inter"/>
              </a:rPr>
              <a:t>aisi</a:t>
            </a:r>
            <a:r>
              <a:rPr lang="pt-BR" sz="900" dirty="0">
                <a:solidFill>
                  <a:srgbClr val="595959"/>
                </a:solidFill>
                <a:latin typeface="Inter"/>
                <a:ea typeface="Inter"/>
                <a:cs typeface="Inter"/>
                <a:sym typeface="Inter"/>
              </a:rPr>
              <a:t>}}</a:t>
            </a:r>
            <a:endParaRPr sz="900" b="0" i="0" u="none" strike="noStrike" cap="none" dirty="0">
              <a:solidFill>
                <a:srgbClr val="595959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81" name="Google Shape;81;p2"/>
          <p:cNvSpPr txBox="1"/>
          <p:nvPr/>
        </p:nvSpPr>
        <p:spPr>
          <a:xfrm>
            <a:off x="2965175" y="2707450"/>
            <a:ext cx="1860600" cy="49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lang="pt-BR" sz="900" b="1" i="0" u="none" strike="noStrike" cap="none">
                <a:solidFill>
                  <a:srgbClr val="595959"/>
                </a:solidFill>
                <a:latin typeface="Inter"/>
                <a:ea typeface="Inter"/>
                <a:cs typeface="Inter"/>
                <a:sym typeface="Inter"/>
              </a:rPr>
              <a:t>Acabamento: </a:t>
            </a:r>
            <a:endParaRPr sz="900" b="1" i="0" u="none" strike="noStrike" cap="none">
              <a:solidFill>
                <a:srgbClr val="595959"/>
              </a:solidFill>
              <a:latin typeface="Inter"/>
              <a:ea typeface="Inter"/>
              <a:cs typeface="Inter"/>
              <a:sym typeface="Inter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lang="pt-BR" sz="900" b="0" i="0" u="none" strike="noStrike" cap="none">
                <a:solidFill>
                  <a:srgbClr val="595959"/>
                </a:solidFill>
                <a:latin typeface="Inter"/>
                <a:ea typeface="Inter"/>
                <a:cs typeface="Inter"/>
                <a:sym typeface="Inter"/>
              </a:rPr>
              <a:t>Semi escovado</a:t>
            </a:r>
            <a:endParaRPr sz="900" b="0" i="0" u="none" strike="noStrike" cap="none">
              <a:solidFill>
                <a:srgbClr val="595959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82" name="Google Shape;82;p2"/>
          <p:cNvSpPr txBox="1"/>
          <p:nvPr/>
        </p:nvSpPr>
        <p:spPr>
          <a:xfrm>
            <a:off x="2965163" y="3147250"/>
            <a:ext cx="1365900" cy="30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lang="pt-BR" sz="900" b="1" i="0" u="none" strike="noStrike" cap="none" dirty="0">
                <a:solidFill>
                  <a:srgbClr val="595959"/>
                </a:solidFill>
                <a:latin typeface="Inter"/>
                <a:ea typeface="Inter"/>
                <a:cs typeface="Inter"/>
                <a:sym typeface="Inter"/>
              </a:rPr>
              <a:t>Espessura:</a:t>
            </a:r>
            <a:r>
              <a:rPr lang="pt-BR" sz="900" b="0" i="0" u="none" strike="noStrike" cap="none" dirty="0">
                <a:solidFill>
                  <a:srgbClr val="595959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endParaRPr sz="900" b="0" i="0" u="none" strike="noStrike" cap="none" dirty="0">
              <a:solidFill>
                <a:srgbClr val="595959"/>
              </a:solidFill>
              <a:latin typeface="Inter"/>
              <a:ea typeface="Inter"/>
              <a:cs typeface="Inter"/>
              <a:sym typeface="Inter"/>
            </a:endParaRPr>
          </a:p>
          <a:p>
            <a:pPr lvl="0">
              <a:buSzPts val="900"/>
            </a:pPr>
            <a:r>
              <a:rPr lang="pt-BR" sz="900" dirty="0">
                <a:solidFill>
                  <a:srgbClr val="595959"/>
                </a:solidFill>
                <a:latin typeface="Inter"/>
                <a:ea typeface="Inter"/>
                <a:cs typeface="Inter"/>
                <a:sym typeface="Inter"/>
              </a:rPr>
              <a:t>{{espessura}} mm</a:t>
            </a:r>
            <a:endParaRPr sz="900" b="0" i="0" u="none" strike="noStrike" cap="none" dirty="0">
              <a:solidFill>
                <a:srgbClr val="595959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83" name="Google Shape;83;p2"/>
          <p:cNvSpPr txBox="1"/>
          <p:nvPr/>
        </p:nvSpPr>
        <p:spPr>
          <a:xfrm>
            <a:off x="2965174" y="3587628"/>
            <a:ext cx="1606825" cy="389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lang="pt-BR" sz="900" b="1" i="0" u="none" strike="noStrike" cap="none" dirty="0">
                <a:solidFill>
                  <a:srgbClr val="595959"/>
                </a:solidFill>
                <a:latin typeface="Inter"/>
                <a:ea typeface="Inter"/>
                <a:cs typeface="Inter"/>
                <a:sym typeface="Inter"/>
              </a:rPr>
              <a:t>Furo central: </a:t>
            </a:r>
            <a:endParaRPr sz="900" b="1" i="0" u="none" strike="noStrike" cap="none" dirty="0">
              <a:solidFill>
                <a:srgbClr val="595959"/>
              </a:solidFill>
              <a:latin typeface="Inter"/>
              <a:ea typeface="Inter"/>
              <a:cs typeface="Inter"/>
              <a:sym typeface="Inter"/>
            </a:endParaRPr>
          </a:p>
          <a:p>
            <a:pPr lvl="0">
              <a:buSzPts val="900"/>
            </a:pPr>
            <a:r>
              <a:rPr lang="pt-BR" sz="900" dirty="0">
                <a:solidFill>
                  <a:srgbClr val="595959"/>
                </a:solidFill>
                <a:latin typeface="Inter"/>
                <a:ea typeface="Inter"/>
                <a:cs typeface="Inter"/>
                <a:sym typeface="Inter"/>
              </a:rPr>
              <a:t>Padrão com {{furo}} mm.</a:t>
            </a:r>
            <a:endParaRPr sz="900" b="0" i="0" u="none" strike="noStrike" cap="none" dirty="0">
              <a:solidFill>
                <a:srgbClr val="595959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84" name="Google Shape;84;p2"/>
          <p:cNvSpPr txBox="1"/>
          <p:nvPr/>
        </p:nvSpPr>
        <p:spPr>
          <a:xfrm>
            <a:off x="2965177" y="4040888"/>
            <a:ext cx="1530600" cy="30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lang="pt-BR" sz="900" b="1" i="0" u="none" strike="noStrike" cap="none" dirty="0">
                <a:solidFill>
                  <a:srgbClr val="595959"/>
                </a:solidFill>
                <a:latin typeface="Inter"/>
                <a:ea typeface="Inter"/>
                <a:cs typeface="Inter"/>
                <a:sym typeface="Inter"/>
              </a:rPr>
              <a:t>Eixo/Haste: </a:t>
            </a:r>
            <a:endParaRPr sz="900" b="1" i="0" u="none" strike="noStrike" cap="none" dirty="0">
              <a:solidFill>
                <a:srgbClr val="595959"/>
              </a:solidFill>
              <a:latin typeface="Inter"/>
              <a:ea typeface="Inter"/>
              <a:cs typeface="Inter"/>
              <a:sym typeface="Inter"/>
            </a:endParaRPr>
          </a:p>
          <a:p>
            <a:pPr lvl="0">
              <a:buSzPts val="900"/>
            </a:pPr>
            <a:r>
              <a:rPr lang="pt-BR" sz="900" dirty="0">
                <a:solidFill>
                  <a:srgbClr val="595959"/>
                </a:solidFill>
                <a:latin typeface="Inter"/>
                <a:ea typeface="Inter"/>
                <a:cs typeface="Inter"/>
                <a:sym typeface="Inter"/>
              </a:rPr>
              <a:t>{{haste}}.</a:t>
            </a:r>
            <a:endParaRPr sz="900" b="0" i="0" u="none" strike="noStrike" cap="none" dirty="0">
              <a:solidFill>
                <a:srgbClr val="595959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85" name="Google Shape;85;p2"/>
          <p:cNvSpPr txBox="1"/>
          <p:nvPr/>
        </p:nvSpPr>
        <p:spPr>
          <a:xfrm>
            <a:off x="2965175" y="4494175"/>
            <a:ext cx="1763400" cy="30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lang="pt-BR" sz="900" b="1" i="0" u="none" strike="noStrike" cap="none">
                <a:solidFill>
                  <a:srgbClr val="595959"/>
                </a:solidFill>
                <a:latin typeface="Inter"/>
                <a:ea typeface="Inter"/>
                <a:cs typeface="Inter"/>
                <a:sym typeface="Inter"/>
              </a:rPr>
              <a:t>RPM: </a:t>
            </a:r>
            <a:endParaRPr sz="900" b="1" i="0" u="none" strike="noStrike" cap="none">
              <a:solidFill>
                <a:srgbClr val="595959"/>
              </a:solidFill>
              <a:latin typeface="Inter"/>
              <a:ea typeface="Inter"/>
              <a:cs typeface="Inter"/>
              <a:sym typeface="Inter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lang="pt-BR" sz="900" b="0" i="0" u="none" strike="noStrike" cap="none">
                <a:solidFill>
                  <a:srgbClr val="595959"/>
                </a:solidFill>
                <a:latin typeface="Inter"/>
                <a:ea typeface="Inter"/>
                <a:cs typeface="Inter"/>
                <a:sym typeface="Inter"/>
              </a:rPr>
              <a:t>Rotações até 1.750 ciclos.</a:t>
            </a:r>
            <a:endParaRPr sz="900" b="0" i="0" u="none" strike="noStrike" cap="none">
              <a:solidFill>
                <a:srgbClr val="595959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86" name="Google Shape;86;p2"/>
          <p:cNvSpPr txBox="1"/>
          <p:nvPr/>
        </p:nvSpPr>
        <p:spPr>
          <a:xfrm>
            <a:off x="1663750" y="228350"/>
            <a:ext cx="5189100" cy="631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00"/>
              <a:buFont typeface="Arial"/>
              <a:buNone/>
            </a:pPr>
            <a:r>
              <a:rPr lang="pt-BR" sz="2600" b="1" i="0" u="none" strike="noStrike" cap="none">
                <a:solidFill>
                  <a:schemeClr val="lt1"/>
                </a:solidFill>
                <a:highlight>
                  <a:schemeClr val="lt1"/>
                </a:highlight>
                <a:latin typeface="Inter"/>
                <a:ea typeface="Inter"/>
                <a:cs typeface="Inter"/>
                <a:sym typeface="Inter"/>
              </a:rPr>
              <a:t>:</a:t>
            </a:r>
            <a:r>
              <a:rPr lang="pt-BR" sz="2900" b="1" i="0" u="none" strike="noStrike" cap="none">
                <a:solidFill>
                  <a:srgbClr val="FF008C"/>
                </a:solidFill>
                <a:highlight>
                  <a:schemeClr val="lt1"/>
                </a:highlight>
                <a:latin typeface="Inter"/>
                <a:ea typeface="Inter"/>
                <a:cs typeface="Inter"/>
                <a:sym typeface="Inter"/>
              </a:rPr>
              <a:t>Especificidades</a:t>
            </a:r>
            <a:r>
              <a:rPr lang="pt-BR" sz="2900" b="1" i="0" u="none" strike="noStrike" cap="none">
                <a:solidFill>
                  <a:schemeClr val="lt2"/>
                </a:solidFill>
                <a:highlight>
                  <a:schemeClr val="lt1"/>
                </a:highlight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pt-BR" sz="2900" b="1" i="0" u="none" strike="noStrike" cap="none">
                <a:solidFill>
                  <a:srgbClr val="FF008C"/>
                </a:solidFill>
                <a:highlight>
                  <a:schemeClr val="lt1"/>
                </a:highlight>
                <a:latin typeface="Inter"/>
                <a:ea typeface="Inter"/>
                <a:cs typeface="Inter"/>
                <a:sym typeface="Inter"/>
              </a:rPr>
              <a:t>técnicas:</a:t>
            </a:r>
            <a:r>
              <a:rPr lang="pt-BR" sz="2900" b="1" i="0" u="none" strike="noStrike" cap="none">
                <a:solidFill>
                  <a:schemeClr val="lt1"/>
                </a:solidFill>
                <a:highlight>
                  <a:schemeClr val="lt1"/>
                </a:highlight>
                <a:latin typeface="Inter"/>
                <a:ea typeface="Inter"/>
                <a:cs typeface="Inter"/>
                <a:sym typeface="Inter"/>
              </a:rPr>
              <a:t>:</a:t>
            </a:r>
            <a:endParaRPr sz="2900" b="1" i="0" u="none" strike="noStrike" cap="none">
              <a:solidFill>
                <a:schemeClr val="lt1"/>
              </a:solidFill>
              <a:highlight>
                <a:schemeClr val="lt1"/>
              </a:highlight>
              <a:latin typeface="Inter"/>
              <a:ea typeface="Inter"/>
              <a:cs typeface="Inter"/>
              <a:sym typeface="Inter"/>
            </a:endParaRPr>
          </a:p>
        </p:txBody>
      </p:sp>
      <p:pic>
        <p:nvPicPr>
          <p:cNvPr id="87" name="Google Shape;87;p2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667258" y="0"/>
            <a:ext cx="1476743" cy="1111474"/>
          </a:xfrm>
          <a:prstGeom prst="rect">
            <a:avLst/>
          </a:prstGeom>
          <a:noFill/>
          <a:ln>
            <a:noFill/>
          </a:ln>
        </p:spPr>
      </p:pic>
      <p:pic>
        <p:nvPicPr>
          <p:cNvPr id="88" name="Google Shape;88;p2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 rot="10800000">
            <a:off x="4910436" y="-583936"/>
            <a:ext cx="4295577" cy="572743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3F3"/>
        </a:solidFill>
        <a:effectLst/>
      </p:bgPr>
    </p:bg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3" name="Google Shape;93;p3"/>
          <p:cNvPicPr preferRelativeResize="0"/>
          <p:nvPr/>
        </p:nvPicPr>
        <p:blipFill rotWithShape="1">
          <a:blip r:embed="rId3">
            <a:alphaModFix/>
          </a:blip>
          <a:srcRect b="32744"/>
          <a:stretch/>
        </p:blipFill>
        <p:spPr>
          <a:xfrm>
            <a:off x="1536550" y="0"/>
            <a:ext cx="4785450" cy="4291225"/>
          </a:xfrm>
          <a:prstGeom prst="rect">
            <a:avLst/>
          </a:prstGeom>
          <a:noFill/>
          <a:ln>
            <a:noFill/>
          </a:ln>
        </p:spPr>
      </p:pic>
      <p:sp>
        <p:nvSpPr>
          <p:cNvPr id="94" name="Google Shape;94;p3"/>
          <p:cNvSpPr/>
          <p:nvPr/>
        </p:nvSpPr>
        <p:spPr>
          <a:xfrm>
            <a:off x="7407400" y="125"/>
            <a:ext cx="1736400" cy="5143500"/>
          </a:xfrm>
          <a:prstGeom prst="rect">
            <a:avLst/>
          </a:prstGeom>
          <a:solidFill>
            <a:srgbClr val="FF008C"/>
          </a:solidFill>
          <a:ln w="9525" cap="flat" cmpd="sng">
            <a:solidFill>
              <a:srgbClr val="FF008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95" name="Google Shape;95;p3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7667258" y="4032025"/>
            <a:ext cx="1476743" cy="1111474"/>
          </a:xfrm>
          <a:prstGeom prst="rect">
            <a:avLst/>
          </a:prstGeom>
          <a:noFill/>
          <a:ln>
            <a:noFill/>
          </a:ln>
        </p:spPr>
      </p:pic>
      <p:sp>
        <p:nvSpPr>
          <p:cNvPr id="96" name="Google Shape;96;p3"/>
          <p:cNvSpPr txBox="1"/>
          <p:nvPr/>
        </p:nvSpPr>
        <p:spPr>
          <a:xfrm>
            <a:off x="413400" y="391650"/>
            <a:ext cx="3000000" cy="3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444500" algn="l" rtl="0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pt-BR" sz="1100" b="1" i="0" u="none" strike="noStrike" cap="none">
                <a:solidFill>
                  <a:schemeClr val="lt1"/>
                </a:solidFill>
                <a:highlight>
                  <a:srgbClr val="FF008C"/>
                </a:highlight>
                <a:latin typeface="Inter"/>
                <a:ea typeface="Inter"/>
                <a:cs typeface="Inter"/>
                <a:sym typeface="Inter"/>
              </a:rPr>
              <a:t>  OBJETIVO DA OFERTA:</a:t>
            </a:r>
            <a:r>
              <a:rPr lang="pt-BR" sz="1100" b="1" i="0" u="none" strike="noStrike" cap="none">
                <a:solidFill>
                  <a:srgbClr val="FF008C"/>
                </a:solidFill>
                <a:highlight>
                  <a:srgbClr val="FF008C"/>
                </a:highlight>
                <a:latin typeface="Inter"/>
                <a:ea typeface="Inter"/>
                <a:cs typeface="Inter"/>
                <a:sym typeface="Inter"/>
              </a:rPr>
              <a:t>:  </a:t>
            </a:r>
            <a:r>
              <a:rPr lang="pt-BR" sz="1100" b="1" i="0" u="none" strike="noStrike" cap="none">
                <a:solidFill>
                  <a:schemeClr val="lt1"/>
                </a:solidFill>
                <a:highlight>
                  <a:srgbClr val="FF008C"/>
                </a:highlight>
                <a:latin typeface="Inter"/>
                <a:ea typeface="Inter"/>
                <a:cs typeface="Inter"/>
                <a:sym typeface="Inter"/>
              </a:rPr>
              <a:t>   </a:t>
            </a:r>
            <a:endParaRPr sz="1300" b="0" i="0" u="none" strike="noStrike" cap="none">
              <a:solidFill>
                <a:schemeClr val="lt1"/>
              </a:solidFill>
              <a:highlight>
                <a:srgbClr val="FF008C"/>
              </a:highlight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7" name="Google Shape;97;p3"/>
          <p:cNvSpPr txBox="1"/>
          <p:nvPr/>
        </p:nvSpPr>
        <p:spPr>
          <a:xfrm>
            <a:off x="708975" y="805000"/>
            <a:ext cx="2218200" cy="1299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ctr" rtl="0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lang="pt-BR" sz="800" b="0" i="0" u="none" strike="noStrike" cap="none">
                <a:solidFill>
                  <a:srgbClr val="808080"/>
                </a:solidFill>
                <a:latin typeface="Inter"/>
                <a:ea typeface="Inter"/>
                <a:cs typeface="Inter"/>
                <a:sym typeface="Inter"/>
              </a:rPr>
              <a:t>O objetivo desta proposta é definir o escopo e condições comerciais ideais para o fornecimento do vetor de mistura.  Obedece aos critérios de concorrência (Farplay) pré-estabelecidos pelo cliente como: segurança, economia de custos, garantia de procedência, balanceamento e baixíssima manutenção. </a:t>
            </a:r>
            <a:endParaRPr sz="800" b="0" i="0" u="none" strike="noStrike" cap="none">
              <a:solidFill>
                <a:srgbClr val="80808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98" name="Google Shape;98;p3"/>
          <p:cNvSpPr txBox="1"/>
          <p:nvPr/>
        </p:nvSpPr>
        <p:spPr>
          <a:xfrm>
            <a:off x="149825" y="3142613"/>
            <a:ext cx="1566000" cy="59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ctr" rtl="0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lang="pt-BR" sz="800" b="0" i="0" u="none" strike="noStrike" cap="none">
                <a:solidFill>
                  <a:srgbClr val="7F7F7F"/>
                </a:solidFill>
                <a:latin typeface="Inter"/>
                <a:ea typeface="Inter"/>
                <a:cs typeface="Inter"/>
                <a:sym typeface="Inter"/>
              </a:rPr>
              <a:t>Aletas dedicadas para melhor usabilidade em qualquer carga de sólido.</a:t>
            </a:r>
            <a:endParaRPr sz="800" b="0" i="0" u="none" strike="noStrike" cap="none">
              <a:solidFill>
                <a:srgbClr val="7F7F7F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99" name="Google Shape;99;p3"/>
          <p:cNvSpPr txBox="1"/>
          <p:nvPr/>
        </p:nvSpPr>
        <p:spPr>
          <a:xfrm>
            <a:off x="551741" y="4211538"/>
            <a:ext cx="1826400" cy="9171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lvl="0" algn="ctr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SzPts val="800"/>
            </a:pPr>
            <a:r>
              <a:rPr lang="pt-BR" sz="800" dirty="0">
                <a:solidFill>
                  <a:srgbClr val="808080"/>
                </a:solidFill>
                <a:latin typeface="Inter"/>
                <a:ea typeface="Inter"/>
                <a:cs typeface="Inter"/>
                <a:sym typeface="Inter"/>
              </a:rPr>
              <a:t>Aço Inox {{</a:t>
            </a:r>
            <a:r>
              <a:rPr lang="pt-BR" sz="800" dirty="0" err="1">
                <a:solidFill>
                  <a:srgbClr val="808080"/>
                </a:solidFill>
                <a:latin typeface="Inter"/>
                <a:ea typeface="Inter"/>
                <a:cs typeface="Inter"/>
                <a:sym typeface="Inter"/>
              </a:rPr>
              <a:t>aisi</a:t>
            </a:r>
            <a:r>
              <a:rPr lang="pt-BR" sz="800" dirty="0">
                <a:solidFill>
                  <a:srgbClr val="808080"/>
                </a:solidFill>
                <a:latin typeface="Inter"/>
                <a:ea typeface="Inter"/>
                <a:cs typeface="Inter"/>
                <a:sym typeface="Inter"/>
              </a:rPr>
              <a:t>}}</a:t>
            </a:r>
            <a:r>
              <a:rPr lang="pt-BR" sz="800" b="0" i="0" u="none" strike="noStrike" cap="none" dirty="0">
                <a:solidFill>
                  <a:srgbClr val="808080"/>
                </a:solidFill>
                <a:latin typeface="Inter"/>
                <a:ea typeface="Inter"/>
                <a:cs typeface="Inter"/>
                <a:sym typeface="Inter"/>
              </a:rPr>
              <a:t> com validação ambiental para evitar contaminação cruzada. </a:t>
            </a:r>
            <a:endParaRPr sz="800" b="0" i="0" u="none" strike="noStrike" cap="none" dirty="0">
              <a:solidFill>
                <a:srgbClr val="80808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00" name="Google Shape;100;p3"/>
          <p:cNvSpPr txBox="1"/>
          <p:nvPr/>
        </p:nvSpPr>
        <p:spPr>
          <a:xfrm>
            <a:off x="5877275" y="3818125"/>
            <a:ext cx="1261500" cy="87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ctr" rtl="0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lang="pt-BR" sz="800" b="0" i="0" u="none" strike="noStrike" cap="none">
                <a:solidFill>
                  <a:srgbClr val="808080"/>
                </a:solidFill>
                <a:latin typeface="Inter"/>
                <a:ea typeface="Inter"/>
                <a:cs typeface="Inter"/>
                <a:sym typeface="Inter"/>
              </a:rPr>
              <a:t>Estabilizador de frequência garante máxima segurança em ciclos de até 1.750rpm.</a:t>
            </a:r>
            <a:endParaRPr sz="800" b="0" i="0" u="none" strike="noStrike" cap="none">
              <a:solidFill>
                <a:srgbClr val="80808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01" name="Google Shape;101;p3"/>
          <p:cNvSpPr txBox="1"/>
          <p:nvPr/>
        </p:nvSpPr>
        <p:spPr>
          <a:xfrm>
            <a:off x="5172827" y="627326"/>
            <a:ext cx="2088000" cy="59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ctr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lang="pt-BR" sz="800" b="0" i="0" u="none" strike="noStrike" cap="none">
                <a:solidFill>
                  <a:srgbClr val="7F7F7F"/>
                </a:solidFill>
                <a:latin typeface="Inter"/>
                <a:ea typeface="Inter"/>
                <a:cs typeface="Inter"/>
                <a:sym typeface="Inter"/>
              </a:rPr>
              <a:t>Acabamento recomendado para cosméticos, alimentos, antissépticos, medicamentos, entre outros.</a:t>
            </a:r>
            <a:endParaRPr sz="800" b="0" i="0" u="none" strike="noStrike" cap="none">
              <a:solidFill>
                <a:srgbClr val="7F7F7F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cxnSp>
        <p:nvCxnSpPr>
          <p:cNvPr id="102" name="Google Shape;102;p3"/>
          <p:cNvCxnSpPr/>
          <p:nvPr/>
        </p:nvCxnSpPr>
        <p:spPr>
          <a:xfrm rot="10800000" flipH="1">
            <a:off x="1252775" y="3065225"/>
            <a:ext cx="1580700" cy="774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oval" w="med" len="med"/>
          </a:ln>
        </p:spPr>
      </p:cxnSp>
      <p:cxnSp>
        <p:nvCxnSpPr>
          <p:cNvPr id="103" name="Google Shape;103;p3"/>
          <p:cNvCxnSpPr/>
          <p:nvPr/>
        </p:nvCxnSpPr>
        <p:spPr>
          <a:xfrm rot="10800000" flipH="1">
            <a:off x="2000250" y="3640875"/>
            <a:ext cx="1221900" cy="6153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oval" w="med" len="med"/>
          </a:ln>
        </p:spPr>
      </p:cxnSp>
      <p:cxnSp>
        <p:nvCxnSpPr>
          <p:cNvPr id="104" name="Google Shape;104;p3"/>
          <p:cNvCxnSpPr/>
          <p:nvPr/>
        </p:nvCxnSpPr>
        <p:spPr>
          <a:xfrm rot="10800000">
            <a:off x="3902605" y="3566175"/>
            <a:ext cx="2051700" cy="3756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oval" w="med" len="med"/>
          </a:ln>
        </p:spPr>
      </p:cxnSp>
      <p:cxnSp>
        <p:nvCxnSpPr>
          <p:cNvPr id="105" name="Google Shape;105;p3"/>
          <p:cNvCxnSpPr/>
          <p:nvPr/>
        </p:nvCxnSpPr>
        <p:spPr>
          <a:xfrm flipH="1">
            <a:off x="4500476" y="1025912"/>
            <a:ext cx="762900" cy="18822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oval" w="med" len="med"/>
          </a:ln>
        </p:spPr>
      </p:cxnSp>
      <p:pic>
        <p:nvPicPr>
          <p:cNvPr id="106" name="Google Shape;106;p3"/>
          <p:cNvPicPr preferRelativeResize="0"/>
          <p:nvPr/>
        </p:nvPicPr>
        <p:blipFill rotWithShape="1">
          <a:blip r:embed="rId5">
            <a:alphaModFix/>
          </a:blip>
          <a:srcRect t="2029" r="-6022" b="-2028"/>
          <a:stretch/>
        </p:blipFill>
        <p:spPr>
          <a:xfrm>
            <a:off x="2677743" y="3576675"/>
            <a:ext cx="2727325" cy="186072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"/>
          <p:cNvSpPr txBox="1"/>
          <p:nvPr/>
        </p:nvSpPr>
        <p:spPr>
          <a:xfrm>
            <a:off x="-1183125" y="580675"/>
            <a:ext cx="62634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2" name="Google Shape;112;p4"/>
          <p:cNvSpPr txBox="1"/>
          <p:nvPr/>
        </p:nvSpPr>
        <p:spPr>
          <a:xfrm>
            <a:off x="2000850" y="108750"/>
            <a:ext cx="4721700" cy="58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00"/>
              <a:buFont typeface="Arial"/>
              <a:buNone/>
            </a:pPr>
            <a:r>
              <a:rPr lang="pt-BR" sz="2600" b="1" i="0" u="none" strike="noStrike" cap="none">
                <a:solidFill>
                  <a:schemeClr val="lt1"/>
                </a:solidFill>
                <a:highlight>
                  <a:schemeClr val="lt1"/>
                </a:highlight>
                <a:latin typeface="Inter"/>
                <a:ea typeface="Inter"/>
                <a:cs typeface="Inter"/>
                <a:sym typeface="Inter"/>
              </a:rPr>
              <a:t>:</a:t>
            </a:r>
            <a:r>
              <a:rPr lang="pt-BR" sz="2600" b="1" i="0" u="none" strike="noStrike" cap="none">
                <a:solidFill>
                  <a:srgbClr val="FF008C"/>
                </a:solidFill>
                <a:highlight>
                  <a:schemeClr val="lt1"/>
                </a:highlight>
                <a:latin typeface="Inter"/>
                <a:ea typeface="Inter"/>
                <a:cs typeface="Inter"/>
                <a:sym typeface="Inter"/>
              </a:rPr>
              <a:t>Sugestão de Valores:</a:t>
            </a:r>
            <a:r>
              <a:rPr lang="pt-BR" sz="2600" b="1" i="0" u="none" strike="noStrike" cap="none">
                <a:solidFill>
                  <a:schemeClr val="lt1"/>
                </a:solidFill>
                <a:highlight>
                  <a:schemeClr val="lt1"/>
                </a:highlight>
                <a:latin typeface="Inter"/>
                <a:ea typeface="Inter"/>
                <a:cs typeface="Inter"/>
                <a:sym typeface="Inter"/>
              </a:rPr>
              <a:t>:</a:t>
            </a:r>
            <a:endParaRPr sz="2600" b="1" i="0" u="none" strike="noStrike" cap="none">
              <a:solidFill>
                <a:schemeClr val="lt1"/>
              </a:solidFill>
              <a:highlight>
                <a:schemeClr val="lt1"/>
              </a:highlight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13" name="Google Shape;113;p4"/>
          <p:cNvSpPr/>
          <p:nvPr/>
        </p:nvSpPr>
        <p:spPr>
          <a:xfrm>
            <a:off x="258400" y="788100"/>
            <a:ext cx="8466000" cy="3986400"/>
          </a:xfrm>
          <a:prstGeom prst="rect">
            <a:avLst/>
          </a:prstGeom>
          <a:solidFill>
            <a:srgbClr val="FFE5F3">
              <a:alpha val="71764"/>
            </a:srgbClr>
          </a:solidFill>
          <a:ln w="2857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  <a:effectLst>
            <a:reflection stA="0" endPos="30000" dist="38100" dir="5400000" fadeDir="5400012" sy="-100000" algn="bl" rotWithShape="0"/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highlight>
                <a:srgbClr val="FFE5F3"/>
              </a:highlight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4" name="Google Shape;114;p4"/>
          <p:cNvSpPr txBox="1"/>
          <p:nvPr/>
        </p:nvSpPr>
        <p:spPr>
          <a:xfrm>
            <a:off x="292950" y="964950"/>
            <a:ext cx="8958000" cy="37394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pt-BR" sz="1100" b="1" i="0" u="none" strike="noStrike" cap="none" dirty="0">
                <a:solidFill>
                  <a:srgbClr val="FFFFFF"/>
                </a:solidFill>
                <a:highlight>
                  <a:srgbClr val="FFFFFF"/>
                </a:highlight>
                <a:latin typeface="Inter"/>
                <a:ea typeface="Inter"/>
                <a:cs typeface="Inter"/>
                <a:sym typeface="Inter"/>
              </a:rPr>
              <a:t>:</a:t>
            </a:r>
            <a:r>
              <a:rPr lang="pt-BR" sz="1100" b="1" i="0" u="none" strike="noStrike" cap="none" dirty="0">
                <a:solidFill>
                  <a:srgbClr val="FF008C"/>
                </a:solidFill>
                <a:highlight>
                  <a:srgbClr val="FFFFFF"/>
                </a:highlight>
                <a:latin typeface="Inter"/>
                <a:ea typeface="Inter"/>
                <a:cs typeface="Inter"/>
                <a:sym typeface="Inter"/>
              </a:rPr>
              <a:t>Aquisição:</a:t>
            </a:r>
            <a:r>
              <a:rPr lang="pt-BR" sz="1100" b="1" i="0" u="none" strike="noStrike" cap="none" dirty="0">
                <a:solidFill>
                  <a:srgbClr val="FFFFFF"/>
                </a:solidFill>
                <a:highlight>
                  <a:srgbClr val="FFFFFF"/>
                </a:highlight>
                <a:latin typeface="Inter"/>
                <a:ea typeface="Inter"/>
                <a:cs typeface="Inter"/>
                <a:sym typeface="Inter"/>
              </a:rPr>
              <a:t>:</a:t>
            </a:r>
            <a:endParaRPr sz="1100" b="0" i="0" u="none" strike="noStrike" cap="none" dirty="0">
              <a:solidFill>
                <a:srgbClr val="FFFFFF"/>
              </a:solidFill>
              <a:highlight>
                <a:srgbClr val="FFFFFF"/>
              </a:highlight>
              <a:latin typeface="Arial"/>
              <a:ea typeface="Arial"/>
              <a:cs typeface="Arial"/>
              <a:sym typeface="Arial"/>
            </a:endParaRPr>
          </a:p>
          <a:p>
            <a:pPr marL="171450" lvl="0" indent="-171450">
              <a:spcBef>
                <a:spcPts val="1200"/>
              </a:spcBef>
              <a:buSzPts val="1100"/>
              <a:buFontTx/>
              <a:buChar char="-"/>
            </a:pPr>
            <a:r>
              <a:rPr lang="pt-BR" sz="1000" b="0" i="0" u="none" strike="noStrike" cap="none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Vetor</a:t>
            </a:r>
            <a:r>
              <a:rPr lang="pt-BR" sz="10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pt-BR" sz="1000" b="0" i="0" u="none" strike="noStrike" cap="none" dirty="0" err="1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Defloculadora</a:t>
            </a:r>
            <a:r>
              <a:rPr lang="pt-BR" sz="1000" b="0" i="0" u="none" strike="noStrike" cap="none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 de Alta Homogeneização </a:t>
            </a:r>
            <a:r>
              <a:rPr lang="pt-BR" sz="1000" dirty="0">
                <a:latin typeface="Inter"/>
                <a:ea typeface="Inter"/>
                <a:cs typeface="Inter"/>
                <a:sym typeface="Inter"/>
              </a:rPr>
              <a:t>{{</a:t>
            </a:r>
            <a:r>
              <a:rPr lang="pt-BR" sz="1000" dirty="0" err="1">
                <a:solidFill>
                  <a:schemeClr val="tx1"/>
                </a:solidFill>
                <a:latin typeface="Inter"/>
                <a:ea typeface="Inter"/>
                <a:cs typeface="Inter"/>
                <a:sym typeface="Inter"/>
              </a:rPr>
              <a:t>diametro_corpo</a:t>
            </a:r>
            <a:r>
              <a:rPr lang="pt-BR" sz="1000" dirty="0">
                <a:latin typeface="Inter"/>
                <a:ea typeface="Inter"/>
                <a:cs typeface="Inter"/>
                <a:sym typeface="Inter"/>
              </a:rPr>
              <a:t>}} mm: (Inox {{</a:t>
            </a:r>
            <a:r>
              <a:rPr lang="pt-BR" sz="1000" dirty="0" err="1">
                <a:latin typeface="Inter"/>
                <a:ea typeface="Inter"/>
                <a:cs typeface="Inter"/>
                <a:sym typeface="Inter"/>
              </a:rPr>
              <a:t>aisi</a:t>
            </a:r>
            <a:r>
              <a:rPr lang="pt-BR" sz="1000" dirty="0">
                <a:latin typeface="Inter"/>
                <a:ea typeface="Inter"/>
                <a:cs typeface="Inter"/>
                <a:sym typeface="Inter"/>
              </a:rPr>
              <a:t>}} / Verde) R$ {{</a:t>
            </a:r>
            <a:r>
              <a:rPr lang="pt-BR" sz="1000" dirty="0" err="1">
                <a:latin typeface="Inter"/>
                <a:ea typeface="Inter"/>
                <a:cs typeface="Inter"/>
                <a:sym typeface="Inter"/>
              </a:rPr>
              <a:t>preco_unitario</a:t>
            </a:r>
            <a:r>
              <a:rPr lang="pt-BR" sz="1000" dirty="0">
                <a:latin typeface="Inter"/>
                <a:ea typeface="Inter"/>
                <a:cs typeface="Inter"/>
                <a:sym typeface="Inter"/>
              </a:rPr>
              <a:t>}} (Unitário) // R$ {{</a:t>
            </a:r>
            <a:r>
              <a:rPr lang="pt-BR" sz="1000" dirty="0" err="1">
                <a:latin typeface="Inter"/>
                <a:ea typeface="Inter"/>
                <a:cs typeface="Inter"/>
                <a:sym typeface="Inter"/>
              </a:rPr>
              <a:t>preco_lote</a:t>
            </a:r>
            <a:r>
              <a:rPr lang="pt-BR" sz="1000" dirty="0">
                <a:latin typeface="Inter"/>
                <a:ea typeface="Inter"/>
                <a:cs typeface="Inter"/>
                <a:sym typeface="Inter"/>
              </a:rPr>
              <a:t>}} (Lote)</a:t>
            </a:r>
          </a:p>
          <a:p>
            <a:pPr marL="171450" lvl="0" indent="-171450">
              <a:spcBef>
                <a:spcPts val="1200"/>
              </a:spcBef>
              <a:buSzPts val="1100"/>
              <a:buFontTx/>
              <a:buChar char="-"/>
            </a:pPr>
            <a:r>
              <a:rPr lang="pt-BR" sz="1100" b="1" i="0" u="none" strike="noStrike" cap="none" dirty="0">
                <a:solidFill>
                  <a:srgbClr val="FFFFFF"/>
                </a:solidFill>
                <a:highlight>
                  <a:srgbClr val="FFFFFF"/>
                </a:highlight>
                <a:latin typeface="Inter"/>
                <a:ea typeface="Inter"/>
                <a:cs typeface="Inter"/>
                <a:sym typeface="Inter"/>
              </a:rPr>
              <a:t>:</a:t>
            </a:r>
            <a:r>
              <a:rPr lang="pt-BR" sz="1100" b="1" i="0" u="none" strike="noStrike" cap="none" dirty="0">
                <a:solidFill>
                  <a:srgbClr val="FF008C"/>
                </a:solidFill>
                <a:highlight>
                  <a:srgbClr val="FFFFFF"/>
                </a:highlight>
                <a:latin typeface="Inter"/>
                <a:ea typeface="Inter"/>
                <a:cs typeface="Inter"/>
                <a:sym typeface="Inter"/>
              </a:rPr>
              <a:t>Equipamento Acompanha:</a:t>
            </a:r>
            <a:r>
              <a:rPr lang="pt-BR" sz="1100" b="1" i="0" u="none" strike="noStrike" cap="none" dirty="0">
                <a:solidFill>
                  <a:srgbClr val="FFFFFF"/>
                </a:solidFill>
                <a:highlight>
                  <a:srgbClr val="FFFFFF"/>
                </a:highlight>
                <a:latin typeface="Inter"/>
                <a:ea typeface="Inter"/>
                <a:cs typeface="Inter"/>
                <a:sym typeface="Inter"/>
              </a:rPr>
              <a:t>:</a:t>
            </a:r>
            <a:endParaRPr sz="1100" b="0" i="1" u="none" strike="noStrike" cap="none" dirty="0">
              <a:solidFill>
                <a:srgbClr val="FFFFFF"/>
              </a:solidFill>
              <a:highlight>
                <a:srgbClr val="FFFFFF"/>
              </a:highlight>
              <a:latin typeface="Inter"/>
              <a:ea typeface="Inter"/>
              <a:cs typeface="Inter"/>
              <a:sym typeface="Inter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pt-BR" sz="1100" b="0" i="0" u="none" strike="noStrike" cap="none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Vetores em Aço Inox + Consultoria Técnica Full Time</a:t>
            </a:r>
            <a:endParaRPr sz="1100" b="0" i="0" u="none" strike="noStrike" cap="none" dirty="0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pt-BR" sz="1100" b="1" i="0" u="none" strike="noStrike" cap="none" dirty="0">
                <a:solidFill>
                  <a:srgbClr val="FFFFFF"/>
                </a:solidFill>
                <a:highlight>
                  <a:srgbClr val="FFFFFF"/>
                </a:highlight>
                <a:latin typeface="Inter"/>
                <a:ea typeface="Inter"/>
                <a:cs typeface="Inter"/>
                <a:sym typeface="Inter"/>
              </a:rPr>
              <a:t>:</a:t>
            </a:r>
            <a:r>
              <a:rPr lang="pt-BR" sz="1100" b="1" i="0" u="none" strike="noStrike" cap="none" dirty="0">
                <a:solidFill>
                  <a:srgbClr val="FF008C"/>
                </a:solidFill>
                <a:highlight>
                  <a:srgbClr val="FFFFFF"/>
                </a:highlight>
                <a:latin typeface="Inter"/>
                <a:ea typeface="Inter"/>
                <a:cs typeface="Inter"/>
                <a:sym typeface="Inter"/>
              </a:rPr>
              <a:t>Formas de pagamento (de acordo com a escolha do cliente):</a:t>
            </a:r>
            <a:r>
              <a:rPr lang="pt-BR" sz="1100" b="1" i="0" u="none" strike="noStrike" cap="none" dirty="0">
                <a:solidFill>
                  <a:srgbClr val="FFFFFF"/>
                </a:solidFill>
                <a:highlight>
                  <a:srgbClr val="FFFFFF"/>
                </a:highlight>
                <a:latin typeface="Inter"/>
                <a:ea typeface="Inter"/>
                <a:cs typeface="Inter"/>
                <a:sym typeface="Inter"/>
              </a:rPr>
              <a:t>:</a:t>
            </a:r>
            <a:endParaRPr sz="1100" b="1" i="0" u="none" strike="noStrike" cap="none" dirty="0">
              <a:solidFill>
                <a:srgbClr val="FFFFFF"/>
              </a:solidFill>
              <a:highlight>
                <a:srgbClr val="FFFFFF"/>
              </a:highlight>
              <a:latin typeface="Inter"/>
              <a:ea typeface="Inter"/>
              <a:cs typeface="Inter"/>
              <a:sym typeface="Inter"/>
            </a:endParaRPr>
          </a:p>
          <a:p>
            <a:pPr marL="457200" marR="0" lvl="0" indent="-298450" algn="l" rtl="0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Inter"/>
              <a:buChar char="●"/>
            </a:pPr>
            <a:r>
              <a:rPr lang="pt-BR" sz="1100" b="0" i="0" u="none" strike="noStrike" cap="none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À vista  </a:t>
            </a:r>
            <a:endParaRPr sz="1100" b="0" i="0" u="none" strike="noStrike" cap="none" dirty="0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  <a:p>
            <a:pPr marL="457200" marR="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Inter"/>
              <a:buChar char="●"/>
            </a:pPr>
            <a:r>
              <a:rPr lang="pt-BR" sz="1100" b="0" i="0" u="none" strike="noStrike" cap="none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50% de entrada + 50% em 30 dias </a:t>
            </a:r>
            <a:endParaRPr sz="1100" b="0" i="0" u="none" strike="noStrike" cap="none" dirty="0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  <a:p>
            <a:pPr marL="457200" marR="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Inter"/>
              <a:buChar char="●"/>
            </a:pPr>
            <a:r>
              <a:rPr lang="pt-BR" sz="1100" b="0" i="0" u="none" strike="noStrike" cap="none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Faturado mediante aprovação cadastral </a:t>
            </a:r>
            <a:endParaRPr sz="1100" b="0" i="0" u="none" strike="noStrike" cap="none" dirty="0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  <a:p>
            <a:pPr marL="457200" marR="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Inter"/>
              <a:buChar char="●"/>
            </a:pPr>
            <a:r>
              <a:rPr lang="pt-BR" sz="1100" b="0" i="0" u="none" strike="noStrike" cap="none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Cartão de crédito </a:t>
            </a:r>
            <a:endParaRPr sz="1100" b="0" i="0" u="none" strike="noStrike" cap="none" dirty="0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pt-BR" sz="1100" b="1" i="0" u="none" strike="noStrike" cap="none" dirty="0">
                <a:solidFill>
                  <a:srgbClr val="FFFFFF"/>
                </a:solidFill>
                <a:highlight>
                  <a:srgbClr val="FFFFFF"/>
                </a:highlight>
                <a:latin typeface="Inter"/>
                <a:ea typeface="Inter"/>
                <a:cs typeface="Inter"/>
                <a:sym typeface="Inter"/>
              </a:rPr>
              <a:t>:</a:t>
            </a:r>
            <a:r>
              <a:rPr lang="pt-BR" sz="1100" b="1" i="0" u="none" strike="noStrike" cap="none" dirty="0">
                <a:solidFill>
                  <a:srgbClr val="FF008C"/>
                </a:solidFill>
                <a:highlight>
                  <a:srgbClr val="FFFFFF"/>
                </a:highlight>
                <a:latin typeface="Inter"/>
                <a:ea typeface="Inter"/>
                <a:cs typeface="Inter"/>
                <a:sym typeface="Inter"/>
              </a:rPr>
              <a:t>Frete:</a:t>
            </a:r>
            <a:r>
              <a:rPr lang="pt-BR" sz="1100" b="1" i="0" u="none" strike="noStrike" cap="none" dirty="0">
                <a:solidFill>
                  <a:srgbClr val="FFFFFF"/>
                </a:solidFill>
                <a:highlight>
                  <a:srgbClr val="FFFFFF"/>
                </a:highlight>
                <a:latin typeface="Inter"/>
                <a:ea typeface="Inter"/>
                <a:cs typeface="Inter"/>
                <a:sym typeface="Inter"/>
              </a:rPr>
              <a:t>:</a:t>
            </a:r>
            <a:r>
              <a:rPr lang="pt-BR" sz="1100" b="1" i="0" u="none" strike="noStrike" cap="none" dirty="0">
                <a:solidFill>
                  <a:srgbClr val="FF008C"/>
                </a:solidFill>
                <a:highlight>
                  <a:srgbClr val="FFFFFF"/>
                </a:highlight>
                <a:latin typeface="Inter"/>
                <a:ea typeface="Inter"/>
                <a:cs typeface="Inter"/>
                <a:sym typeface="Inter"/>
              </a:rPr>
              <a:t> </a:t>
            </a:r>
            <a:endParaRPr sz="1100" b="1" i="0" u="none" strike="noStrike" cap="none" dirty="0">
              <a:solidFill>
                <a:srgbClr val="FF008C"/>
              </a:solidFill>
              <a:highlight>
                <a:srgbClr val="FFFFFF"/>
              </a:highlight>
              <a:latin typeface="Inter"/>
              <a:ea typeface="Inter"/>
              <a:cs typeface="Inter"/>
              <a:sym typeface="Inter"/>
            </a:endParaRPr>
          </a:p>
          <a:p>
            <a:pPr lvl="0">
              <a:spcBef>
                <a:spcPts val="1200"/>
              </a:spcBef>
              <a:buSzPts val="1100"/>
            </a:pPr>
            <a:r>
              <a:rPr lang="pt-BR" sz="1100" dirty="0">
                <a:latin typeface="Inter"/>
                <a:ea typeface="Inter"/>
                <a:cs typeface="Inter"/>
                <a:sym typeface="Inter"/>
              </a:rPr>
              <a:t>Via PAC – R$ {{</a:t>
            </a:r>
            <a:r>
              <a:rPr lang="pt-BR" sz="1100" dirty="0" err="1">
                <a:latin typeface="Inter"/>
                <a:ea typeface="Inter"/>
                <a:cs typeface="Inter"/>
                <a:sym typeface="Inter"/>
              </a:rPr>
              <a:t>frete_pac</a:t>
            </a:r>
            <a:r>
              <a:rPr lang="pt-BR" sz="1100" dirty="0">
                <a:latin typeface="Inter"/>
                <a:ea typeface="Inter"/>
                <a:cs typeface="Inter"/>
                <a:sym typeface="Inter"/>
              </a:rPr>
              <a:t>}} |  Via SEDEX -  R$ {{</a:t>
            </a:r>
            <a:r>
              <a:rPr lang="pt-BR" sz="1100" dirty="0" err="1">
                <a:latin typeface="Inter"/>
                <a:ea typeface="Inter"/>
                <a:cs typeface="Inter"/>
                <a:sym typeface="Inter"/>
              </a:rPr>
              <a:t>frete_sedex</a:t>
            </a:r>
            <a:r>
              <a:rPr lang="pt-BR" sz="1100" dirty="0">
                <a:latin typeface="Inter"/>
                <a:ea typeface="Inter"/>
                <a:cs typeface="Inter"/>
                <a:sym typeface="Inter"/>
              </a:rPr>
              <a:t>}}</a:t>
            </a:r>
          </a:p>
          <a:p>
            <a:pPr lvl="0">
              <a:spcBef>
                <a:spcPts val="1200"/>
              </a:spcBef>
              <a:buSzPts val="1100"/>
            </a:pPr>
            <a:r>
              <a:rPr lang="pt-BR" sz="1100" b="1" i="0" u="none" strike="noStrike" cap="none" dirty="0">
                <a:solidFill>
                  <a:srgbClr val="FFFFFF"/>
                </a:solidFill>
                <a:highlight>
                  <a:srgbClr val="FFFFFF"/>
                </a:highlight>
                <a:latin typeface="Inter"/>
                <a:ea typeface="Inter"/>
                <a:cs typeface="Inter"/>
                <a:sym typeface="Inter"/>
              </a:rPr>
              <a:t>:</a:t>
            </a:r>
            <a:r>
              <a:rPr lang="pt-BR" sz="1100" b="1" i="0" u="none" strike="noStrike" cap="none" dirty="0">
                <a:solidFill>
                  <a:srgbClr val="FF008C"/>
                </a:solidFill>
                <a:highlight>
                  <a:srgbClr val="FFFFFF"/>
                </a:highlight>
                <a:latin typeface="Inter"/>
                <a:ea typeface="Inter"/>
                <a:cs typeface="Inter"/>
                <a:sym typeface="Inter"/>
              </a:rPr>
              <a:t>Envio</a:t>
            </a:r>
            <a:r>
              <a:rPr lang="pt-BR" sz="1100" b="1" i="0" u="none" strike="noStrike" cap="none">
                <a:solidFill>
                  <a:srgbClr val="FF008C"/>
                </a:solidFill>
                <a:highlight>
                  <a:srgbClr val="FFFFFF"/>
                </a:highlight>
                <a:latin typeface="Inter"/>
                <a:ea typeface="Inter"/>
                <a:cs typeface="Inter"/>
                <a:sym typeface="Inter"/>
              </a:rPr>
              <a:t>:</a:t>
            </a:r>
            <a:r>
              <a:rPr lang="pt-BR" sz="1100" b="1" i="0" u="none" strike="noStrike" cap="none">
                <a:solidFill>
                  <a:srgbClr val="FFFFFF"/>
                </a:solidFill>
                <a:highlight>
                  <a:srgbClr val="FFFFFF"/>
                </a:highlight>
                <a:latin typeface="Inter"/>
                <a:ea typeface="Inter"/>
                <a:cs typeface="Inter"/>
                <a:sym typeface="Inter"/>
              </a:rPr>
              <a:t>: </a:t>
            </a:r>
            <a:r>
              <a:rPr lang="pt-BR" sz="1100" b="1" i="0" u="none" strike="noStrike" cap="none">
                <a:solidFill>
                  <a:srgbClr val="FF008C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pt-BR" sz="1100" b="0" i="0" u="none" strike="noStrike" cap="none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pt-BR" sz="1100" dirty="0">
                <a:latin typeface="Inter"/>
                <a:ea typeface="Inter"/>
                <a:cs typeface="Inter"/>
                <a:sym typeface="Inter"/>
              </a:rPr>
              <a:t>	</a:t>
            </a:r>
            <a:r>
              <a:rPr lang="pt-BR" sz="1100">
                <a:latin typeface="Inter"/>
                <a:ea typeface="Inter"/>
                <a:cs typeface="Inter"/>
                <a:sym typeface="Inter"/>
              </a:rPr>
              <a:t>{{</a:t>
            </a:r>
            <a:r>
              <a:rPr lang="pt-BR" sz="1100" dirty="0" err="1">
                <a:latin typeface="Inter"/>
                <a:ea typeface="Inter"/>
                <a:cs typeface="Inter"/>
                <a:sym typeface="Inter"/>
              </a:rPr>
              <a:t>condiçao_envio</a:t>
            </a:r>
            <a:r>
              <a:rPr lang="pt-BR" sz="1100" dirty="0">
                <a:latin typeface="Inter"/>
                <a:ea typeface="Inter"/>
                <a:cs typeface="Inter"/>
                <a:sym typeface="Inter"/>
              </a:rPr>
              <a:t>}}</a:t>
            </a:r>
            <a:endParaRPr sz="1100" b="0" i="0" u="none" strike="noStrike" cap="none" dirty="0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pic>
        <p:nvPicPr>
          <p:cNvPr id="115" name="Google Shape;115;p4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7247658" y="3663025"/>
            <a:ext cx="1476743" cy="111147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008C"/>
        </a:solidFill>
        <a:effectLst/>
      </p:bgPr>
    </p:bg>
    <p:spTree>
      <p:nvGrpSpPr>
        <p:cNvPr id="1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"/>
          <p:cNvSpPr/>
          <p:nvPr/>
        </p:nvSpPr>
        <p:spPr>
          <a:xfrm>
            <a:off x="231900" y="2842450"/>
            <a:ext cx="4853400" cy="1786200"/>
          </a:xfrm>
          <a:prstGeom prst="rect">
            <a:avLst/>
          </a:prstGeom>
          <a:solidFill>
            <a:srgbClr val="FFE5F3">
              <a:alpha val="71372"/>
            </a:srgbClr>
          </a:solidFill>
          <a:ln w="19050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endParaRPr sz="700" b="1" i="0" u="none" strike="noStrike" cap="none">
              <a:solidFill>
                <a:srgbClr val="FFFFFF"/>
              </a:solidFill>
              <a:latin typeface="Inter"/>
              <a:ea typeface="Inter"/>
              <a:cs typeface="Inter"/>
              <a:sym typeface="Inter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lang="pt-BR" sz="1300" b="1" i="0" u="none" strike="noStrike" cap="none">
                <a:solidFill>
                  <a:srgbClr val="FFFFFF"/>
                </a:solidFill>
                <a:highlight>
                  <a:srgbClr val="FFFFFF"/>
                </a:highlight>
                <a:latin typeface="Inter"/>
                <a:ea typeface="Inter"/>
                <a:cs typeface="Inter"/>
                <a:sym typeface="Inter"/>
              </a:rPr>
              <a:t>::</a:t>
            </a:r>
            <a:r>
              <a:rPr lang="pt-BR" sz="1300" b="1" i="0" u="none" strike="noStrike" cap="none">
                <a:solidFill>
                  <a:srgbClr val="FF008C"/>
                </a:solidFill>
                <a:highlight>
                  <a:srgbClr val="FFFFFF"/>
                </a:highlight>
                <a:latin typeface="Inter"/>
                <a:ea typeface="Inter"/>
                <a:cs typeface="Inter"/>
                <a:sym typeface="Inter"/>
              </a:rPr>
              <a:t>Objetivo da Oferta:</a:t>
            </a:r>
            <a:r>
              <a:rPr lang="pt-BR" sz="1300" b="1" i="0" u="none" strike="noStrike" cap="none">
                <a:solidFill>
                  <a:srgbClr val="FFFFFF"/>
                </a:solidFill>
                <a:highlight>
                  <a:srgbClr val="FFFFFF"/>
                </a:highlight>
                <a:latin typeface="Inter"/>
                <a:ea typeface="Inter"/>
                <a:cs typeface="Inter"/>
                <a:sym typeface="Inter"/>
              </a:rPr>
              <a:t>::</a:t>
            </a:r>
            <a:endParaRPr sz="1300" b="1" i="0" u="none" strike="noStrike" cap="none">
              <a:solidFill>
                <a:srgbClr val="FFFFFF"/>
              </a:solidFill>
              <a:highlight>
                <a:srgbClr val="FFFFFF"/>
              </a:highlight>
              <a:latin typeface="Inter"/>
              <a:ea typeface="Inter"/>
              <a:cs typeface="Inter"/>
              <a:sym typeface="Inter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endParaRPr sz="1100" b="0" i="0" u="none" strike="noStrike" cap="non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lang="pt-BR" sz="1000" b="1" i="0" u="none" strike="noStrike" cap="none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3.1: </a:t>
            </a:r>
            <a:r>
              <a:rPr lang="pt-BR" sz="1000" b="0" i="0" u="none" strike="noStrike" cap="none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Número de NCM: 84.8790.00. </a:t>
            </a:r>
            <a:endParaRPr sz="1000" b="0" i="0" u="none" strike="noStrike" cap="non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lang="pt-BR" sz="1000" b="1" i="0" u="none" strike="noStrike" cap="none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3.2: </a:t>
            </a:r>
            <a:r>
              <a:rPr lang="pt-BR" sz="1000" b="0" i="0" u="none" strike="noStrike" cap="none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Validade da Proposta: 10 dias (Referente ao valor ofertado)</a:t>
            </a:r>
            <a:endParaRPr sz="1000" b="0" i="0" u="none" strike="noStrike" cap="non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lang="pt-BR" sz="1000" b="1" i="0" u="none" strike="noStrike" cap="none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3.3:</a:t>
            </a:r>
            <a:r>
              <a:rPr lang="pt-BR" sz="1000" b="0" i="0" u="none" strike="noStrike" cap="none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 O pedido será aceito após confirmação via e-mail. </a:t>
            </a:r>
            <a:endParaRPr sz="1000" b="0" i="0" u="none" strike="noStrike" cap="non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lang="pt-BR" sz="1000" b="1" i="0" u="none" strike="noStrike" cap="none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3.4: </a:t>
            </a:r>
            <a:r>
              <a:rPr lang="pt-BR" sz="1000" b="0" i="0" u="none" strike="noStrike" cap="none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Consulte disponibilidade das peças no ato da compra.</a:t>
            </a:r>
            <a:endParaRPr sz="1000" b="0" i="0" u="none" strike="noStrike" cap="non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lang="pt-BR" sz="1000" b="1" i="0" u="none" strike="noStrike" cap="none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3.5:</a:t>
            </a:r>
            <a:r>
              <a:rPr lang="pt-BR" sz="1000" b="0" i="0" u="none" strike="noStrike" cap="none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 O relatório de instalação será enviado em até 7 dias úteis a partir da confirmação da compra.</a:t>
            </a:r>
            <a:endParaRPr sz="1000" b="0" i="0" u="none" strike="noStrike" cap="non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endParaRPr sz="1200" b="0" i="0" u="none" strike="noStrike" cap="none">
              <a:solidFill>
                <a:srgbClr val="80808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5" descr="Uma imagem contendo objeto, peça de xadrez&#10;&#10;Descrição gerada automaticamente"/>
          <p:cNvPicPr preferRelativeResize="0"/>
          <p:nvPr/>
        </p:nvPicPr>
        <p:blipFill rotWithShape="1">
          <a:blip r:embed="rId3">
            <a:alphaModFix/>
          </a:blip>
          <a:srcRect l="26821" t="13885" r="16354" b="21166"/>
          <a:stretch/>
        </p:blipFill>
        <p:spPr>
          <a:xfrm rot="5400000">
            <a:off x="5670560" y="2074587"/>
            <a:ext cx="2564276" cy="3588503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5"/>
          <p:cNvSpPr/>
          <p:nvPr/>
        </p:nvSpPr>
        <p:spPr>
          <a:xfrm>
            <a:off x="231900" y="344550"/>
            <a:ext cx="8680200" cy="2227200"/>
          </a:xfrm>
          <a:prstGeom prst="rect">
            <a:avLst/>
          </a:prstGeom>
          <a:solidFill>
            <a:srgbClr val="FFE5F3">
              <a:alpha val="71764"/>
            </a:srgbClr>
          </a:solidFill>
          <a:ln w="19050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3" name="Google Shape;123;p5"/>
          <p:cNvSpPr txBox="1"/>
          <p:nvPr/>
        </p:nvSpPr>
        <p:spPr>
          <a:xfrm>
            <a:off x="265650" y="495450"/>
            <a:ext cx="8612700" cy="222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pt-BR" sz="1400" b="1" i="0" u="none" strike="noStrike" cap="none">
                <a:solidFill>
                  <a:srgbClr val="FFFFFF"/>
                </a:solidFill>
                <a:highlight>
                  <a:srgbClr val="FFFFFF"/>
                </a:highlight>
                <a:latin typeface="Inter"/>
                <a:ea typeface="Inter"/>
                <a:cs typeface="Inter"/>
                <a:sym typeface="Inter"/>
              </a:rPr>
              <a:t>::</a:t>
            </a:r>
            <a:r>
              <a:rPr lang="pt-BR" sz="1400" b="1" i="0" u="none" strike="noStrike" cap="none">
                <a:solidFill>
                  <a:srgbClr val="FF008C"/>
                </a:solidFill>
                <a:highlight>
                  <a:srgbClr val="FFFFFF"/>
                </a:highlight>
                <a:latin typeface="Inter"/>
                <a:ea typeface="Inter"/>
                <a:cs typeface="Inter"/>
                <a:sym typeface="Inter"/>
              </a:rPr>
              <a:t>Impostos e Classificação Fiscal:</a:t>
            </a:r>
            <a:r>
              <a:rPr lang="pt-BR" sz="1400" b="1" i="0" u="none" strike="noStrike" cap="none">
                <a:solidFill>
                  <a:srgbClr val="FFFFFF"/>
                </a:solidFill>
                <a:highlight>
                  <a:srgbClr val="FFFFFF"/>
                </a:highlight>
                <a:latin typeface="Inter"/>
                <a:ea typeface="Inter"/>
                <a:cs typeface="Inter"/>
                <a:sym typeface="Inter"/>
              </a:rPr>
              <a:t>::</a:t>
            </a:r>
            <a:endParaRPr sz="1400" b="1" i="0" u="none" strike="noStrike" cap="none">
              <a:solidFill>
                <a:srgbClr val="FFFFFF"/>
              </a:solidFill>
              <a:highlight>
                <a:srgbClr val="FFFFFF"/>
              </a:highlight>
              <a:latin typeface="Inter"/>
              <a:ea typeface="Inter"/>
              <a:cs typeface="Inter"/>
              <a:sym typeface="Inter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endParaRPr sz="1100" b="1" i="0" u="none" strike="noStrike" cap="none">
              <a:solidFill>
                <a:srgbClr val="434343"/>
              </a:solidFill>
              <a:latin typeface="Inter"/>
              <a:ea typeface="Inter"/>
              <a:cs typeface="Inter"/>
              <a:sym typeface="Inter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lang="pt-BR" sz="1200" b="1" i="0" u="none" strike="noStrike" cap="none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IPI:</a:t>
            </a:r>
            <a:r>
              <a:rPr lang="pt-BR" sz="1200" b="0" i="0" u="none" strike="noStrike" cap="none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 0% | </a:t>
            </a:r>
            <a:r>
              <a:rPr lang="pt-BR" sz="1200" b="1" i="0" u="none" strike="noStrike" cap="none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ICMS:</a:t>
            </a:r>
            <a:r>
              <a:rPr lang="pt-BR" sz="1200" b="0" i="0" u="none" strike="noStrike" cap="none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 8.8% (incluso) | </a:t>
            </a:r>
            <a:r>
              <a:rPr lang="pt-BR" sz="1200" b="1" i="0" u="none" strike="noStrike" cap="none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IMPOSTOS:</a:t>
            </a:r>
            <a:r>
              <a:rPr lang="pt-BR" sz="1200" b="0" i="0" u="none" strike="noStrike" cap="none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 Inclusos - Optante Simples</a:t>
            </a:r>
            <a:endParaRPr sz="1200" b="0" i="0" u="none" strike="noStrike" cap="non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endParaRPr sz="1200" b="0" i="0" u="none" strike="noStrike" cap="non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endParaRPr sz="1400" b="1" i="0" u="none" strike="noStrike" cap="none">
              <a:solidFill>
                <a:srgbClr val="FFFFFF"/>
              </a:solidFill>
              <a:highlight>
                <a:srgbClr val="FFFFFF"/>
              </a:highlight>
              <a:latin typeface="Inter"/>
              <a:ea typeface="Inter"/>
              <a:cs typeface="Inter"/>
              <a:sym typeface="Inter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pt-BR" sz="1400" b="1" i="0" u="none" strike="noStrike" cap="none">
                <a:solidFill>
                  <a:srgbClr val="FFFFFF"/>
                </a:solidFill>
                <a:highlight>
                  <a:srgbClr val="FFFFFF"/>
                </a:highlight>
                <a:latin typeface="Inter"/>
                <a:ea typeface="Inter"/>
                <a:cs typeface="Inter"/>
                <a:sym typeface="Inter"/>
              </a:rPr>
              <a:t>::</a:t>
            </a:r>
            <a:r>
              <a:rPr lang="pt-BR" sz="1400" b="1" i="0" u="none" strike="noStrike" cap="none">
                <a:solidFill>
                  <a:srgbClr val="FF008C"/>
                </a:solidFill>
                <a:highlight>
                  <a:srgbClr val="FFFFFF"/>
                </a:highlight>
                <a:latin typeface="Inter"/>
                <a:ea typeface="Inter"/>
                <a:cs typeface="Inter"/>
                <a:sym typeface="Inter"/>
              </a:rPr>
              <a:t>Dados Bancários:</a:t>
            </a:r>
            <a:r>
              <a:rPr lang="pt-BR" sz="1400" b="1" i="0" u="none" strike="noStrike" cap="none">
                <a:solidFill>
                  <a:srgbClr val="FFFFFF"/>
                </a:solidFill>
                <a:highlight>
                  <a:srgbClr val="FFFFFF"/>
                </a:highlight>
                <a:latin typeface="Inter"/>
                <a:ea typeface="Inter"/>
                <a:cs typeface="Inter"/>
                <a:sym typeface="Inter"/>
              </a:rPr>
              <a:t>::</a:t>
            </a:r>
            <a:endParaRPr sz="1400" b="1" i="0" u="none" strike="noStrike" cap="none">
              <a:solidFill>
                <a:srgbClr val="FFFFFF"/>
              </a:solidFill>
              <a:highlight>
                <a:srgbClr val="FFFFFF"/>
              </a:highlight>
              <a:latin typeface="Inter"/>
              <a:ea typeface="Inter"/>
              <a:cs typeface="Inter"/>
              <a:sym typeface="Inter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endParaRPr sz="1100" b="1" i="0" u="none" strike="noStrike" cap="none">
              <a:solidFill>
                <a:srgbClr val="434343"/>
              </a:solidFill>
              <a:latin typeface="Inter"/>
              <a:ea typeface="Inter"/>
              <a:cs typeface="Inter"/>
              <a:sym typeface="Inter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pt-BR" sz="1200" b="1" i="0" u="none" strike="noStrike" cap="none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Banco: </a:t>
            </a:r>
            <a:r>
              <a:rPr lang="pt-BR" sz="1200" b="0" i="0" u="none" strike="noStrike" cap="none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Bradesco | </a:t>
            </a:r>
            <a:r>
              <a:rPr lang="pt-BR" sz="1200" b="1" i="0" u="none" strike="noStrike" cap="none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Agência:</a:t>
            </a:r>
            <a:r>
              <a:rPr lang="pt-BR" sz="1200" b="0" i="0" u="none" strike="noStrike" cap="none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 0516 </a:t>
            </a:r>
            <a:r>
              <a:rPr lang="pt-BR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|</a:t>
            </a:r>
            <a:r>
              <a:rPr lang="pt-BR" sz="1200" b="0" i="0" u="none" strike="noStrike" cap="none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pt-BR" sz="1200" b="1" i="0" u="none" strike="noStrike" cap="none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Conta Corrente:</a:t>
            </a:r>
            <a:r>
              <a:rPr lang="pt-BR" sz="1200" b="0" i="0" u="none" strike="noStrike" cap="none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 0293863-4 </a:t>
            </a:r>
            <a:endParaRPr sz="1200" b="0" i="0" u="none" strike="noStrike" cap="non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pt-BR" sz="1200" b="1" i="0" u="none" strike="noStrike" cap="none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Razão social: </a:t>
            </a:r>
            <a:r>
              <a:rPr lang="pt-BR" sz="1200" b="0" i="0" u="none" strike="noStrike" cap="none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Só Comércio de Equipamentos para Inteligência e Mistura LTDA. | </a:t>
            </a:r>
            <a:r>
              <a:rPr lang="pt-BR" sz="1200" b="1" i="0" u="none" strike="noStrike" cap="none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CNPJ: </a:t>
            </a:r>
            <a:r>
              <a:rPr lang="pt-BR" sz="1200" b="0" i="0" u="none" strike="noStrike" cap="none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26.863.716/0001-06 (Pix)</a:t>
            </a:r>
            <a:r>
              <a:rPr lang="pt-BR" sz="1000" b="0" i="0" u="none" strike="noStrike" cap="none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endParaRPr sz="1000" b="0" i="0" u="none" strike="noStrike" cap="non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endParaRPr sz="1200" b="0" i="0" u="none" strike="noStrike" cap="non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pic>
        <p:nvPicPr>
          <p:cNvPr id="124" name="Google Shape;124;p5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7840150" y="127725"/>
            <a:ext cx="1348700" cy="10151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008C"/>
        </a:solidFill>
        <a:effectLst/>
      </p:bgPr>
    </p:bg>
    <p:spTree>
      <p:nvGrpSpPr>
        <p:cNvPr id="1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6"/>
          <p:cNvSpPr/>
          <p:nvPr/>
        </p:nvSpPr>
        <p:spPr>
          <a:xfrm>
            <a:off x="0" y="0"/>
            <a:ext cx="5763900" cy="5143500"/>
          </a:xfrm>
          <a:prstGeom prst="rect">
            <a:avLst/>
          </a:prstGeom>
          <a:solidFill>
            <a:srgbClr val="EEEEEE"/>
          </a:solidFill>
          <a:ln w="9525" cap="flat" cmpd="sng">
            <a:solidFill>
              <a:srgbClr val="EEEEEE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30" name="Google Shape;130;p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401729" y="1988304"/>
            <a:ext cx="289025" cy="288992"/>
          </a:xfrm>
          <a:prstGeom prst="rect">
            <a:avLst/>
          </a:prstGeom>
          <a:noFill/>
          <a:ln>
            <a:noFill/>
          </a:ln>
        </p:spPr>
      </p:pic>
      <p:pic>
        <p:nvPicPr>
          <p:cNvPr id="131" name="Google Shape;131;p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387897" y="2388981"/>
            <a:ext cx="316700" cy="316731"/>
          </a:xfrm>
          <a:prstGeom prst="rect">
            <a:avLst/>
          </a:prstGeom>
          <a:noFill/>
          <a:ln>
            <a:noFill/>
          </a:ln>
        </p:spPr>
      </p:pic>
      <p:pic>
        <p:nvPicPr>
          <p:cNvPr id="132" name="Google Shape;132;p6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1384251" y="2716876"/>
            <a:ext cx="334200" cy="334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33" name="Google Shape;133;p6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1354975" y="1494075"/>
            <a:ext cx="382550" cy="382550"/>
          </a:xfrm>
          <a:prstGeom prst="rect">
            <a:avLst/>
          </a:prstGeom>
          <a:noFill/>
          <a:ln>
            <a:noFill/>
          </a:ln>
        </p:spPr>
      </p:pic>
      <p:sp>
        <p:nvSpPr>
          <p:cNvPr id="134" name="Google Shape;134;p6"/>
          <p:cNvSpPr txBox="1"/>
          <p:nvPr/>
        </p:nvSpPr>
        <p:spPr>
          <a:xfrm>
            <a:off x="536250" y="346788"/>
            <a:ext cx="3651900" cy="49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pt-BR" sz="1800" b="1" i="0" u="none" strike="noStrike" cap="none">
                <a:solidFill>
                  <a:srgbClr val="FF008C"/>
                </a:solidFill>
                <a:highlight>
                  <a:srgbClr val="FF008C"/>
                </a:highlight>
                <a:latin typeface="Inter"/>
                <a:ea typeface="Inter"/>
                <a:cs typeface="Inter"/>
                <a:sym typeface="Inter"/>
              </a:rPr>
              <a:t>::</a:t>
            </a:r>
            <a:r>
              <a:rPr lang="pt-BR" sz="1800" b="1" i="0" u="none" strike="noStrike" cap="none">
                <a:solidFill>
                  <a:srgbClr val="FFFFFF"/>
                </a:solidFill>
                <a:highlight>
                  <a:srgbClr val="FF008C"/>
                </a:highlight>
                <a:latin typeface="Inter"/>
                <a:ea typeface="Inter"/>
                <a:cs typeface="Inter"/>
                <a:sym typeface="Inter"/>
              </a:rPr>
              <a:t>Consulte nossa Reputação:</a:t>
            </a:r>
            <a:r>
              <a:rPr lang="pt-BR" sz="1800" b="1" i="0" u="none" strike="noStrike" cap="none">
                <a:solidFill>
                  <a:srgbClr val="FF008C"/>
                </a:solidFill>
                <a:highlight>
                  <a:srgbClr val="FF008C"/>
                </a:highlight>
                <a:latin typeface="Inter"/>
                <a:ea typeface="Inter"/>
                <a:cs typeface="Inter"/>
                <a:sym typeface="Inter"/>
              </a:rPr>
              <a:t>::</a:t>
            </a:r>
            <a:endParaRPr sz="2800" b="1" i="0" u="none" strike="noStrike" cap="none">
              <a:solidFill>
                <a:srgbClr val="FF008C"/>
              </a:solidFill>
              <a:highlight>
                <a:srgbClr val="FF008C"/>
              </a:highlight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35" name="Google Shape;135;p6"/>
          <p:cNvSpPr txBox="1"/>
          <p:nvPr/>
        </p:nvSpPr>
        <p:spPr>
          <a:xfrm>
            <a:off x="196050" y="833688"/>
            <a:ext cx="4484700" cy="54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ctr" rtl="0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pt-BR" sz="1100" b="1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pt-BR" sz="1100" b="1" i="0" u="none" strike="noStrike" cap="none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DESDE NOVEMBRO DE 2020, TRABALHAMOS COM ÍNDICE ZERO DE RECLAMAÇÕES EM MAIS DE 10.000 ATENDIMENTOS.</a:t>
            </a:r>
            <a:endParaRPr sz="1100" b="1" i="0" u="none" strike="noStrike" cap="non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36" name="Google Shape;136;p6"/>
          <p:cNvSpPr txBox="1"/>
          <p:nvPr/>
        </p:nvSpPr>
        <p:spPr>
          <a:xfrm>
            <a:off x="2106175" y="3482038"/>
            <a:ext cx="3315600" cy="113874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lvl="0">
              <a:lnSpc>
                <a:spcPct val="50000"/>
              </a:lnSpc>
              <a:spcBef>
                <a:spcPts val="1200"/>
              </a:spcBef>
              <a:buSzPts val="1100"/>
            </a:pPr>
            <a:r>
              <a:rPr lang="pt-BR" sz="1100" dirty="0">
                <a:latin typeface="Inter ExtraBold"/>
                <a:ea typeface="Inter ExtraBold"/>
                <a:cs typeface="Inter ExtraBold"/>
                <a:sym typeface="Inter ExtraBold"/>
              </a:rPr>
              <a:t>São Paulo,  {{data}}. </a:t>
            </a:r>
          </a:p>
          <a:p>
            <a:pPr lvl="0">
              <a:lnSpc>
                <a:spcPct val="50000"/>
              </a:lnSpc>
              <a:spcBef>
                <a:spcPts val="1200"/>
              </a:spcBef>
              <a:buSzPts val="1100"/>
            </a:pPr>
            <a:r>
              <a:rPr lang="pt-BR" sz="1100" dirty="0">
                <a:latin typeface="Inter ExtraBold"/>
                <a:ea typeface="Inter ExtraBold"/>
                <a:cs typeface="Inter ExtraBold"/>
                <a:sym typeface="Inter ExtraBold"/>
              </a:rPr>
              <a:t>{{</a:t>
            </a:r>
            <a:r>
              <a:rPr lang="pt-BR" sz="1100" dirty="0" err="1">
                <a:latin typeface="Inter ExtraBold"/>
                <a:ea typeface="Inter ExtraBold"/>
                <a:cs typeface="Inter ExtraBold"/>
                <a:sym typeface="Inter ExtraBold"/>
              </a:rPr>
              <a:t>nome_vendedor</a:t>
            </a:r>
            <a:r>
              <a:rPr lang="pt-BR" sz="1100" dirty="0">
                <a:latin typeface="Inter ExtraBold"/>
                <a:ea typeface="Inter ExtraBold"/>
                <a:cs typeface="Inter ExtraBold"/>
                <a:sym typeface="Inter ExtraBold"/>
              </a:rPr>
              <a:t>}} [Atendimento/Vendas] </a:t>
            </a:r>
          </a:p>
          <a:p>
            <a:pPr lvl="0">
              <a:lnSpc>
                <a:spcPct val="50000"/>
              </a:lnSpc>
              <a:spcBef>
                <a:spcPts val="1200"/>
              </a:spcBef>
              <a:buSzPts val="1100"/>
            </a:pPr>
            <a:r>
              <a:rPr lang="pt-BR" sz="1100" dirty="0">
                <a:latin typeface="Inter ExtraBold"/>
                <a:ea typeface="Inter ExtraBold"/>
                <a:cs typeface="Inter ExtraBold"/>
                <a:sym typeface="Inter ExtraBold"/>
              </a:rPr>
              <a:t>WhatsApp: (11) 94984-2894 </a:t>
            </a:r>
          </a:p>
          <a:p>
            <a:pPr lvl="0">
              <a:lnSpc>
                <a:spcPct val="50000"/>
              </a:lnSpc>
              <a:spcBef>
                <a:spcPts val="1200"/>
              </a:spcBef>
              <a:buSzPts val="1100"/>
            </a:pPr>
            <a:r>
              <a:rPr lang="pt-BR" sz="1100" dirty="0">
                <a:latin typeface="Inter ExtraBold"/>
                <a:ea typeface="Inter ExtraBold"/>
                <a:cs typeface="Inter ExtraBold"/>
                <a:sym typeface="Inter ExtraBold"/>
              </a:rPr>
              <a:t>E-mail: {{</a:t>
            </a:r>
            <a:r>
              <a:rPr lang="pt-BR" sz="1100" dirty="0" err="1">
                <a:latin typeface="Inter ExtraBold"/>
                <a:ea typeface="Inter ExtraBold"/>
                <a:cs typeface="Inter ExtraBold"/>
                <a:sym typeface="Inter ExtraBold"/>
              </a:rPr>
              <a:t>email_vendedor</a:t>
            </a:r>
            <a:r>
              <a:rPr lang="pt-BR" sz="1100">
                <a:latin typeface="Inter ExtraBold"/>
                <a:ea typeface="Inter ExtraBold"/>
                <a:cs typeface="Inter ExtraBold"/>
                <a:sym typeface="Inter ExtraBold"/>
              </a:rPr>
              <a:t>}}</a:t>
            </a:r>
            <a:endParaRPr sz="1100" b="0" i="0" u="none" strike="noStrike" cap="none" dirty="0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pic>
        <p:nvPicPr>
          <p:cNvPr id="137" name="Google Shape;137;p6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525325" y="3355725"/>
            <a:ext cx="1303200" cy="1303200"/>
          </a:xfrm>
          <a:prstGeom prst="rect">
            <a:avLst/>
          </a:pr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pic>
      <p:cxnSp>
        <p:nvCxnSpPr>
          <p:cNvPr id="138" name="Google Shape;138;p6"/>
          <p:cNvCxnSpPr/>
          <p:nvPr/>
        </p:nvCxnSpPr>
        <p:spPr>
          <a:xfrm>
            <a:off x="2076725" y="3265500"/>
            <a:ext cx="0" cy="1488900"/>
          </a:xfrm>
          <a:prstGeom prst="straightConnector1">
            <a:avLst/>
          </a:pr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39" name="Google Shape;139;p6"/>
          <p:cNvSpPr txBox="1"/>
          <p:nvPr/>
        </p:nvSpPr>
        <p:spPr>
          <a:xfrm>
            <a:off x="1789075" y="1494125"/>
            <a:ext cx="1966800" cy="148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lang="pt-BR" sz="1200" b="0" i="0" u="none" strike="noStrike" cap="none">
                <a:solidFill>
                  <a:srgbClr val="000000"/>
                </a:solidFill>
                <a:latin typeface="Inter Medium"/>
                <a:ea typeface="Inter Medium"/>
                <a:cs typeface="Inter Medium"/>
                <a:sym typeface="Inter Medium"/>
              </a:rPr>
              <a:t>@sohelices</a:t>
            </a:r>
            <a:endParaRPr sz="1200" b="0" i="0" u="none" strike="noStrike" cap="none">
              <a:solidFill>
                <a:srgbClr val="000000"/>
              </a:solidFill>
              <a:latin typeface="Inter Medium"/>
              <a:ea typeface="Inter Medium"/>
              <a:cs typeface="Inter Medium"/>
              <a:sym typeface="Inter Medium"/>
            </a:endParaRPr>
          </a:p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endParaRPr sz="1200" b="0" i="0" u="none" strike="noStrike" cap="none">
              <a:solidFill>
                <a:srgbClr val="000000"/>
              </a:solidFill>
              <a:latin typeface="Inter Medium"/>
              <a:ea typeface="Inter Medium"/>
              <a:cs typeface="Inter Medium"/>
              <a:sym typeface="Inter Medium"/>
            </a:endParaRPr>
          </a:p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lang="pt-BR" sz="1200" b="0" i="0" u="none" strike="noStrike" cap="none">
                <a:solidFill>
                  <a:srgbClr val="000000"/>
                </a:solidFill>
                <a:latin typeface="Inter Medium"/>
                <a:ea typeface="Inter Medium"/>
                <a:cs typeface="Inter Medium"/>
                <a:sym typeface="Inter Medium"/>
              </a:rPr>
              <a:t>Só Hélices</a:t>
            </a:r>
            <a:endParaRPr sz="1200" b="0" i="0" u="none" strike="noStrike" cap="none">
              <a:solidFill>
                <a:srgbClr val="000000"/>
              </a:solidFill>
              <a:latin typeface="Inter Medium"/>
              <a:ea typeface="Inter Medium"/>
              <a:cs typeface="Inter Medium"/>
              <a:sym typeface="Inter Medium"/>
            </a:endParaRPr>
          </a:p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endParaRPr sz="1200" b="0" i="0" u="none" strike="noStrike" cap="none">
              <a:solidFill>
                <a:srgbClr val="000000"/>
              </a:solidFill>
              <a:latin typeface="Inter Medium"/>
              <a:ea typeface="Inter Medium"/>
              <a:cs typeface="Inter Medium"/>
              <a:sym typeface="Inter Medium"/>
            </a:endParaRPr>
          </a:p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lang="pt-BR" sz="1200" b="0" i="0" u="none" strike="noStrike" cap="none">
                <a:solidFill>
                  <a:srgbClr val="000000"/>
                </a:solidFill>
                <a:latin typeface="Inter Medium"/>
                <a:ea typeface="Inter Medium"/>
                <a:cs typeface="Inter Medium"/>
                <a:sym typeface="Inter Medium"/>
              </a:rPr>
              <a:t>Só Hélices</a:t>
            </a:r>
            <a:endParaRPr sz="1200" b="0" i="0" u="none" strike="noStrike" cap="none">
              <a:solidFill>
                <a:srgbClr val="000000"/>
              </a:solidFill>
              <a:latin typeface="Inter Medium"/>
              <a:ea typeface="Inter Medium"/>
              <a:cs typeface="Inter Medium"/>
              <a:sym typeface="Inter Medium"/>
            </a:endParaRPr>
          </a:p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endParaRPr sz="1200" b="0" i="0" u="none" strike="noStrike" cap="none">
              <a:solidFill>
                <a:srgbClr val="000000"/>
              </a:solidFill>
              <a:latin typeface="Inter Medium"/>
              <a:ea typeface="Inter Medium"/>
              <a:cs typeface="Inter Medium"/>
              <a:sym typeface="Inter Medium"/>
            </a:endParaRPr>
          </a:p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lang="pt-BR" sz="1200" b="0" i="0" u="none" strike="noStrike" cap="none">
                <a:solidFill>
                  <a:srgbClr val="000000"/>
                </a:solidFill>
                <a:latin typeface="Inter Medium"/>
                <a:ea typeface="Inter Medium"/>
                <a:cs typeface="Inter Medium"/>
                <a:sym typeface="Inter Medium"/>
              </a:rPr>
              <a:t>www.sohelices.com.br</a:t>
            </a:r>
            <a:endParaRPr sz="1800" b="0" i="0" u="none" strike="noStrike" cap="none">
              <a:solidFill>
                <a:srgbClr val="595959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endParaRPr sz="1200" b="1" i="0" u="none" strike="noStrike" cap="non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pic>
        <p:nvPicPr>
          <p:cNvPr id="140" name="Google Shape;140;p6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7667258" y="0"/>
            <a:ext cx="1476743" cy="1111474"/>
          </a:xfrm>
          <a:prstGeom prst="rect">
            <a:avLst/>
          </a:prstGeom>
          <a:noFill/>
          <a:ln>
            <a:noFill/>
          </a:ln>
        </p:spPr>
      </p:pic>
      <p:pic>
        <p:nvPicPr>
          <p:cNvPr id="141" name="Google Shape;141;p6" descr="Uma imagem contendo objeto, peça de xadrez&#10;&#10;Descrição gerada automaticamente"/>
          <p:cNvPicPr preferRelativeResize="0"/>
          <p:nvPr/>
        </p:nvPicPr>
        <p:blipFill rotWithShape="1">
          <a:blip r:embed="rId9">
            <a:alphaModFix/>
          </a:blip>
          <a:srcRect l="18691" t="16278" b="29976"/>
          <a:stretch/>
        </p:blipFill>
        <p:spPr>
          <a:xfrm>
            <a:off x="4572000" y="889891"/>
            <a:ext cx="4572003" cy="370038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3F3"/>
        </a:solidFill>
        <a:effectLst/>
      </p:bgPr>
    </p:bg>
    <p:spTree>
      <p:nvGrpSpPr>
        <p:cNvPr id="1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6" name="Google Shape;146;p7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2752625" y="635350"/>
            <a:ext cx="3638725" cy="2475025"/>
          </a:xfrm>
          <a:prstGeom prst="rect">
            <a:avLst/>
          </a:prstGeom>
          <a:noFill/>
          <a:ln>
            <a:noFill/>
          </a:ln>
        </p:spPr>
      </p:pic>
      <p:sp>
        <p:nvSpPr>
          <p:cNvPr id="147" name="Google Shape;147;p7"/>
          <p:cNvSpPr txBox="1"/>
          <p:nvPr/>
        </p:nvSpPr>
        <p:spPr>
          <a:xfrm>
            <a:off x="1970687" y="3275825"/>
            <a:ext cx="5202600" cy="94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ctr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lang="pt-BR" sz="900" b="1" i="0" u="none" strike="noStrike" cap="non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rPr>
              <a:t>VENHA TOMAR UM CAFÉ EM NOSSO SHOWROOM! </a:t>
            </a:r>
            <a:endParaRPr sz="900" b="1" i="0" u="none" strike="noStrike" cap="none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  <a:p>
            <a:pPr marL="0" marR="0" lvl="0" indent="0" algn="ctr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lang="pt-BR" sz="900" b="1" i="0" u="none" strike="noStrike" cap="non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rPr>
              <a:t>ESPERAMOS O SEU RETORNO.</a:t>
            </a:r>
            <a:endParaRPr sz="900" b="1" i="0" u="none" strike="noStrike" cap="none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  <a:p>
            <a:pPr marL="0" marR="0" lvl="0" indent="0" algn="ctr" rtl="0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lang="pt-BR" sz="900" b="1" i="0" u="none" strike="noStrike" cap="none">
                <a:solidFill>
                  <a:schemeClr val="lt1"/>
                </a:solidFill>
                <a:highlight>
                  <a:srgbClr val="FF008C"/>
                </a:highlight>
                <a:latin typeface="Inter"/>
                <a:ea typeface="Inter"/>
                <a:cs typeface="Inter"/>
                <a:sym typeface="Inter"/>
              </a:rPr>
              <a:t>Rua Américo Brasiliense 1490, Sala 75/77  - Chácara Santo Antonio  - São Paulo-SP</a:t>
            </a:r>
            <a:endParaRPr sz="900" b="1" i="0" u="none" strike="noStrike" cap="none">
              <a:solidFill>
                <a:schemeClr val="lt1"/>
              </a:solidFill>
              <a:highlight>
                <a:srgbClr val="FF008C"/>
              </a:highlight>
              <a:latin typeface="Inter"/>
              <a:ea typeface="Inter"/>
              <a:cs typeface="Inter"/>
              <a:sym typeface="Inter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573</Words>
  <Application>Microsoft Office PowerPoint</Application>
  <PresentationFormat>Apresentação na tela (16:9)</PresentationFormat>
  <Paragraphs>92</Paragraphs>
  <Slides>7</Slides>
  <Notes>7</Notes>
  <HiddenSlides>0</HiddenSlides>
  <MMClips>0</MMClips>
  <ScaleCrop>false</ScaleCrop>
  <HeadingPairs>
    <vt:vector size="6" baseType="variant">
      <vt:variant>
        <vt:lpstr>Fontes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7</vt:i4>
      </vt:variant>
    </vt:vector>
  </HeadingPairs>
  <TitlesOfParts>
    <vt:vector size="12" baseType="lpstr">
      <vt:lpstr>Arial</vt:lpstr>
      <vt:lpstr>Inter</vt:lpstr>
      <vt:lpstr>Inter ExtraBold</vt:lpstr>
      <vt:lpstr>Inter Medium</vt:lpstr>
      <vt:lpstr>Simple Light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So Helices</dc:creator>
  <cp:lastModifiedBy>SÓ HÉLICES</cp:lastModifiedBy>
  <cp:revision>2</cp:revision>
  <dcterms:modified xsi:type="dcterms:W3CDTF">2026-03-12T13:07:15Z</dcterms:modified>
</cp:coreProperties>
</file>