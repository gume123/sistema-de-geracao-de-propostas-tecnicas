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9"/>
  </p:notesMasterIdLst>
  <p:sldIdLst>
    <p:sldId id="256" r:id="rId2"/>
    <p:sldId id="263" r:id="rId3"/>
    <p:sldId id="258" r:id="rId4"/>
    <p:sldId id="264" r:id="rId5"/>
    <p:sldId id="265" r:id="rId6"/>
    <p:sldId id="261" r:id="rId7"/>
    <p:sldId id="262" r:id="rId8"/>
  </p:sldIdLst>
  <p:sldSz cx="7561263" cy="1069181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4F0EF"/>
    <a:srgbClr val="E0168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6247" autoAdjust="0"/>
  </p:normalViewPr>
  <p:slideViewPr>
    <p:cSldViewPr snapToGrid="0">
      <p:cViewPr>
        <p:scale>
          <a:sx n="75" d="100"/>
          <a:sy n="75" d="100"/>
        </p:scale>
        <p:origin x="2964" y="-126"/>
      </p:cViewPr>
      <p:guideLst/>
    </p:cSldViewPr>
  </p:slideViewPr>
  <p:notesTextViewPr>
    <p:cViewPr>
      <p:scale>
        <a:sx n="150" d="100"/>
        <a:sy n="15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Cabeçalh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3" name="Espaço Reservado para Dat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BCAEED2-BC16-4826-88B5-7A60AAAA0FBF}" type="datetimeFigureOut">
              <a:rPr lang="pt-BR" smtClean="0"/>
              <a:t>02/04/2026</a:t>
            </a:fld>
            <a:endParaRPr lang="pt-BR"/>
          </a:p>
        </p:txBody>
      </p:sp>
      <p:sp>
        <p:nvSpPr>
          <p:cNvPr id="4" name="Espaço Reservado para Imagem de Slide 3"/>
          <p:cNvSpPr>
            <a:spLocks noGrp="1" noRot="1" noChangeAspect="1"/>
          </p:cNvSpPr>
          <p:nvPr>
            <p:ph type="sldImg" idx="2"/>
          </p:nvPr>
        </p:nvSpPr>
        <p:spPr>
          <a:xfrm>
            <a:off x="2338388" y="1143000"/>
            <a:ext cx="2181225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pt-BR"/>
          </a:p>
        </p:txBody>
      </p:sp>
      <p:sp>
        <p:nvSpPr>
          <p:cNvPr id="5" name="Espaço Reservado para Anotaçõe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9097D3D-285D-4500-AB96-F7BD5CB94F5C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40000813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8A85676-3050-B7A4-0D80-6DCE23B1010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>
            <a:extLst>
              <a:ext uri="{FF2B5EF4-FFF2-40B4-BE49-F238E27FC236}">
                <a16:creationId xmlns:a16="http://schemas.microsoft.com/office/drawing/2014/main" id="{FBD63050-3B23-FA3E-8344-DC41D5810C5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>
            <a:extLst>
              <a:ext uri="{FF2B5EF4-FFF2-40B4-BE49-F238E27FC236}">
                <a16:creationId xmlns:a16="http://schemas.microsoft.com/office/drawing/2014/main" id="{00A5C84F-7862-965D-F9A8-BB66EEEB1AD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CDB0E24A-3BB8-EAF3-2B5B-8DD9420A450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9097D3D-285D-4500-AB96-F7BD5CB94F5C}" type="slidenum">
              <a:rPr lang="pt-BR" smtClean="0"/>
              <a:t>2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92090740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67095" y="1749795"/>
            <a:ext cx="6427074" cy="3722335"/>
          </a:xfrm>
        </p:spPr>
        <p:txBody>
          <a:bodyPr anchor="b"/>
          <a:lstStyle>
            <a:lvl1pPr algn="ctr">
              <a:defRPr sz="4961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945158" y="5615678"/>
            <a:ext cx="5670947" cy="2581379"/>
          </a:xfrm>
        </p:spPr>
        <p:txBody>
          <a:bodyPr/>
          <a:lstStyle>
            <a:lvl1pPr marL="0" indent="0" algn="ctr">
              <a:buNone/>
              <a:defRPr sz="1985"/>
            </a:lvl1pPr>
            <a:lvl2pPr marL="378059" indent="0" algn="ctr">
              <a:buNone/>
              <a:defRPr sz="1654"/>
            </a:lvl2pPr>
            <a:lvl3pPr marL="756117" indent="0" algn="ctr">
              <a:buNone/>
              <a:defRPr sz="1488"/>
            </a:lvl3pPr>
            <a:lvl4pPr marL="1134176" indent="0" algn="ctr">
              <a:buNone/>
              <a:defRPr sz="1323"/>
            </a:lvl4pPr>
            <a:lvl5pPr marL="1512235" indent="0" algn="ctr">
              <a:buNone/>
              <a:defRPr sz="1323"/>
            </a:lvl5pPr>
            <a:lvl6pPr marL="1890293" indent="0" algn="ctr">
              <a:buNone/>
              <a:defRPr sz="1323"/>
            </a:lvl6pPr>
            <a:lvl7pPr marL="2268352" indent="0" algn="ctr">
              <a:buNone/>
              <a:defRPr sz="1323"/>
            </a:lvl7pPr>
            <a:lvl8pPr marL="2646411" indent="0" algn="ctr">
              <a:buNone/>
              <a:defRPr sz="1323"/>
            </a:lvl8pPr>
            <a:lvl9pPr marL="3024469" indent="0" algn="ctr">
              <a:buNone/>
              <a:defRPr sz="1323"/>
            </a:lvl9pPr>
          </a:lstStyle>
          <a:p>
            <a:r>
              <a:rPr lang="pt-BR"/>
              <a:t>Clique para editar o estilo do subtítulo Mestre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57E78B-50A5-4041-B8E5-C741E639875A}" type="datetimeFigureOut">
              <a:rPr lang="pt-BR" smtClean="0"/>
              <a:t>02/04/2026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90920B-204E-400E-81BC-E838173BE79B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18486237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57E78B-50A5-4041-B8E5-C741E639875A}" type="datetimeFigureOut">
              <a:rPr lang="pt-BR" smtClean="0"/>
              <a:t>02/04/2026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90920B-204E-400E-81BC-E838173BE79B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68247140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15899" y="2665532"/>
            <a:ext cx="6521589" cy="4447496"/>
          </a:xfrm>
        </p:spPr>
        <p:txBody>
          <a:bodyPr anchor="b"/>
          <a:lstStyle>
            <a:lvl1pPr>
              <a:defRPr sz="4961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15899" y="7155103"/>
            <a:ext cx="6521589" cy="2338833"/>
          </a:xfrm>
        </p:spPr>
        <p:txBody>
          <a:bodyPr/>
          <a:lstStyle>
            <a:lvl1pPr marL="0" indent="0">
              <a:buNone/>
              <a:defRPr sz="1985">
                <a:solidFill>
                  <a:schemeClr val="tx1">
                    <a:tint val="82000"/>
                  </a:schemeClr>
                </a:solidFill>
              </a:defRPr>
            </a:lvl1pPr>
            <a:lvl2pPr marL="378059" indent="0">
              <a:buNone/>
              <a:defRPr sz="1654">
                <a:solidFill>
                  <a:schemeClr val="tx1">
                    <a:tint val="82000"/>
                  </a:schemeClr>
                </a:solidFill>
              </a:defRPr>
            </a:lvl2pPr>
            <a:lvl3pPr marL="756117" indent="0">
              <a:buNone/>
              <a:defRPr sz="1488">
                <a:solidFill>
                  <a:schemeClr val="tx1">
                    <a:tint val="82000"/>
                  </a:schemeClr>
                </a:solidFill>
              </a:defRPr>
            </a:lvl3pPr>
            <a:lvl4pPr marL="1134176" indent="0">
              <a:buNone/>
              <a:defRPr sz="1323">
                <a:solidFill>
                  <a:schemeClr val="tx1">
                    <a:tint val="82000"/>
                  </a:schemeClr>
                </a:solidFill>
              </a:defRPr>
            </a:lvl4pPr>
            <a:lvl5pPr marL="1512235" indent="0">
              <a:buNone/>
              <a:defRPr sz="1323">
                <a:solidFill>
                  <a:schemeClr val="tx1">
                    <a:tint val="82000"/>
                  </a:schemeClr>
                </a:solidFill>
              </a:defRPr>
            </a:lvl5pPr>
            <a:lvl6pPr marL="1890293" indent="0">
              <a:buNone/>
              <a:defRPr sz="1323">
                <a:solidFill>
                  <a:schemeClr val="tx1">
                    <a:tint val="82000"/>
                  </a:schemeClr>
                </a:solidFill>
              </a:defRPr>
            </a:lvl6pPr>
            <a:lvl7pPr marL="2268352" indent="0">
              <a:buNone/>
              <a:defRPr sz="1323">
                <a:solidFill>
                  <a:schemeClr val="tx1">
                    <a:tint val="82000"/>
                  </a:schemeClr>
                </a:solidFill>
              </a:defRPr>
            </a:lvl7pPr>
            <a:lvl8pPr marL="2646411" indent="0">
              <a:buNone/>
              <a:defRPr sz="1323">
                <a:solidFill>
                  <a:schemeClr val="tx1">
                    <a:tint val="82000"/>
                  </a:schemeClr>
                </a:solidFill>
              </a:defRPr>
            </a:lvl8pPr>
            <a:lvl9pPr marL="3024469" indent="0">
              <a:buNone/>
              <a:defRPr sz="1323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57E78B-50A5-4041-B8E5-C741E639875A}" type="datetimeFigureOut">
              <a:rPr lang="pt-BR" smtClean="0"/>
              <a:t>02/04/2026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90920B-204E-400E-81BC-E838173BE79B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30340847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519837" y="2846200"/>
            <a:ext cx="3213537" cy="6783857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827889" y="2846200"/>
            <a:ext cx="3213537" cy="6783857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57E78B-50A5-4041-B8E5-C741E639875A}" type="datetimeFigureOut">
              <a:rPr lang="pt-BR" smtClean="0"/>
              <a:t>02/04/2026</a:t>
            </a:fld>
            <a:endParaRPr lang="pt-B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90920B-204E-400E-81BC-E838173BE79B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23194630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20822" y="569242"/>
            <a:ext cx="6521589" cy="2066590"/>
          </a:xfrm>
        </p:spPr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20823" y="2620980"/>
            <a:ext cx="3198768" cy="1284502"/>
          </a:xfrm>
        </p:spPr>
        <p:txBody>
          <a:bodyPr anchor="b"/>
          <a:lstStyle>
            <a:lvl1pPr marL="0" indent="0">
              <a:buNone/>
              <a:defRPr sz="1985" b="1"/>
            </a:lvl1pPr>
            <a:lvl2pPr marL="378059" indent="0">
              <a:buNone/>
              <a:defRPr sz="1654" b="1"/>
            </a:lvl2pPr>
            <a:lvl3pPr marL="756117" indent="0">
              <a:buNone/>
              <a:defRPr sz="1488" b="1"/>
            </a:lvl3pPr>
            <a:lvl4pPr marL="1134176" indent="0">
              <a:buNone/>
              <a:defRPr sz="1323" b="1"/>
            </a:lvl4pPr>
            <a:lvl5pPr marL="1512235" indent="0">
              <a:buNone/>
              <a:defRPr sz="1323" b="1"/>
            </a:lvl5pPr>
            <a:lvl6pPr marL="1890293" indent="0">
              <a:buNone/>
              <a:defRPr sz="1323" b="1"/>
            </a:lvl6pPr>
            <a:lvl7pPr marL="2268352" indent="0">
              <a:buNone/>
              <a:defRPr sz="1323" b="1"/>
            </a:lvl7pPr>
            <a:lvl8pPr marL="2646411" indent="0">
              <a:buNone/>
              <a:defRPr sz="1323" b="1"/>
            </a:lvl8pPr>
            <a:lvl9pPr marL="3024469" indent="0">
              <a:buNone/>
              <a:defRPr sz="1323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20823" y="3905482"/>
            <a:ext cx="3198768" cy="5744375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827890" y="2620980"/>
            <a:ext cx="3214522" cy="1284502"/>
          </a:xfrm>
        </p:spPr>
        <p:txBody>
          <a:bodyPr anchor="b"/>
          <a:lstStyle>
            <a:lvl1pPr marL="0" indent="0">
              <a:buNone/>
              <a:defRPr sz="1985" b="1"/>
            </a:lvl1pPr>
            <a:lvl2pPr marL="378059" indent="0">
              <a:buNone/>
              <a:defRPr sz="1654" b="1"/>
            </a:lvl2pPr>
            <a:lvl3pPr marL="756117" indent="0">
              <a:buNone/>
              <a:defRPr sz="1488" b="1"/>
            </a:lvl3pPr>
            <a:lvl4pPr marL="1134176" indent="0">
              <a:buNone/>
              <a:defRPr sz="1323" b="1"/>
            </a:lvl4pPr>
            <a:lvl5pPr marL="1512235" indent="0">
              <a:buNone/>
              <a:defRPr sz="1323" b="1"/>
            </a:lvl5pPr>
            <a:lvl6pPr marL="1890293" indent="0">
              <a:buNone/>
              <a:defRPr sz="1323" b="1"/>
            </a:lvl6pPr>
            <a:lvl7pPr marL="2268352" indent="0">
              <a:buNone/>
              <a:defRPr sz="1323" b="1"/>
            </a:lvl7pPr>
            <a:lvl8pPr marL="2646411" indent="0">
              <a:buNone/>
              <a:defRPr sz="1323" b="1"/>
            </a:lvl8pPr>
            <a:lvl9pPr marL="3024469" indent="0">
              <a:buNone/>
              <a:defRPr sz="1323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3827890" y="3905482"/>
            <a:ext cx="3214522" cy="5744375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57E78B-50A5-4041-B8E5-C741E639875A}" type="datetimeFigureOut">
              <a:rPr lang="pt-BR" smtClean="0"/>
              <a:t>02/04/2026</a:t>
            </a:fld>
            <a:endParaRPr lang="pt-BR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90920B-204E-400E-81BC-E838173BE79B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8269291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57E78B-50A5-4041-B8E5-C741E639875A}" type="datetimeFigureOut">
              <a:rPr lang="pt-BR" smtClean="0"/>
              <a:t>02/04/2026</a:t>
            </a:fld>
            <a:endParaRPr lang="pt-BR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90920B-204E-400E-81BC-E838173BE79B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28695980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57E78B-50A5-4041-B8E5-C741E639875A}" type="datetimeFigureOut">
              <a:rPr lang="pt-BR" smtClean="0"/>
              <a:t>02/04/2026</a:t>
            </a:fld>
            <a:endParaRPr lang="pt-BR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90920B-204E-400E-81BC-E838173BE79B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54827741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20822" y="712788"/>
            <a:ext cx="2438704" cy="2494756"/>
          </a:xfrm>
        </p:spPr>
        <p:txBody>
          <a:bodyPr anchor="b"/>
          <a:lstStyle>
            <a:lvl1pPr>
              <a:defRPr sz="2646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214522" y="1539425"/>
            <a:ext cx="3827889" cy="7598117"/>
          </a:xfrm>
        </p:spPr>
        <p:txBody>
          <a:bodyPr/>
          <a:lstStyle>
            <a:lvl1pPr>
              <a:defRPr sz="2646"/>
            </a:lvl1pPr>
            <a:lvl2pPr>
              <a:defRPr sz="2315"/>
            </a:lvl2pPr>
            <a:lvl3pPr>
              <a:defRPr sz="1985"/>
            </a:lvl3pPr>
            <a:lvl4pPr>
              <a:defRPr sz="1654"/>
            </a:lvl4pPr>
            <a:lvl5pPr>
              <a:defRPr sz="1654"/>
            </a:lvl5pPr>
            <a:lvl6pPr>
              <a:defRPr sz="1654"/>
            </a:lvl6pPr>
            <a:lvl7pPr>
              <a:defRPr sz="1654"/>
            </a:lvl7pPr>
            <a:lvl8pPr>
              <a:defRPr sz="1654"/>
            </a:lvl8pPr>
            <a:lvl9pPr>
              <a:defRPr sz="1654"/>
            </a:lvl9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20822" y="3207544"/>
            <a:ext cx="2438704" cy="5942372"/>
          </a:xfrm>
        </p:spPr>
        <p:txBody>
          <a:bodyPr/>
          <a:lstStyle>
            <a:lvl1pPr marL="0" indent="0">
              <a:buNone/>
              <a:defRPr sz="1323"/>
            </a:lvl1pPr>
            <a:lvl2pPr marL="378059" indent="0">
              <a:buNone/>
              <a:defRPr sz="1158"/>
            </a:lvl2pPr>
            <a:lvl3pPr marL="756117" indent="0">
              <a:buNone/>
              <a:defRPr sz="992"/>
            </a:lvl3pPr>
            <a:lvl4pPr marL="1134176" indent="0">
              <a:buNone/>
              <a:defRPr sz="827"/>
            </a:lvl4pPr>
            <a:lvl5pPr marL="1512235" indent="0">
              <a:buNone/>
              <a:defRPr sz="827"/>
            </a:lvl5pPr>
            <a:lvl6pPr marL="1890293" indent="0">
              <a:buNone/>
              <a:defRPr sz="827"/>
            </a:lvl6pPr>
            <a:lvl7pPr marL="2268352" indent="0">
              <a:buNone/>
              <a:defRPr sz="827"/>
            </a:lvl7pPr>
            <a:lvl8pPr marL="2646411" indent="0">
              <a:buNone/>
              <a:defRPr sz="827"/>
            </a:lvl8pPr>
            <a:lvl9pPr marL="3024469" indent="0">
              <a:buNone/>
              <a:defRPr sz="827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57E78B-50A5-4041-B8E5-C741E639875A}" type="datetimeFigureOut">
              <a:rPr lang="pt-BR" smtClean="0"/>
              <a:t>02/04/2026</a:t>
            </a:fld>
            <a:endParaRPr lang="pt-B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90920B-204E-400E-81BC-E838173BE79B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53912065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20822" y="712788"/>
            <a:ext cx="2438704" cy="2494756"/>
          </a:xfrm>
        </p:spPr>
        <p:txBody>
          <a:bodyPr anchor="b"/>
          <a:lstStyle>
            <a:lvl1pPr>
              <a:defRPr sz="2646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214522" y="1539425"/>
            <a:ext cx="3827889" cy="7598117"/>
          </a:xfrm>
        </p:spPr>
        <p:txBody>
          <a:bodyPr anchor="t"/>
          <a:lstStyle>
            <a:lvl1pPr marL="0" indent="0">
              <a:buNone/>
              <a:defRPr sz="2646"/>
            </a:lvl1pPr>
            <a:lvl2pPr marL="378059" indent="0">
              <a:buNone/>
              <a:defRPr sz="2315"/>
            </a:lvl2pPr>
            <a:lvl3pPr marL="756117" indent="0">
              <a:buNone/>
              <a:defRPr sz="1985"/>
            </a:lvl3pPr>
            <a:lvl4pPr marL="1134176" indent="0">
              <a:buNone/>
              <a:defRPr sz="1654"/>
            </a:lvl4pPr>
            <a:lvl5pPr marL="1512235" indent="0">
              <a:buNone/>
              <a:defRPr sz="1654"/>
            </a:lvl5pPr>
            <a:lvl6pPr marL="1890293" indent="0">
              <a:buNone/>
              <a:defRPr sz="1654"/>
            </a:lvl6pPr>
            <a:lvl7pPr marL="2268352" indent="0">
              <a:buNone/>
              <a:defRPr sz="1654"/>
            </a:lvl7pPr>
            <a:lvl8pPr marL="2646411" indent="0">
              <a:buNone/>
              <a:defRPr sz="1654"/>
            </a:lvl8pPr>
            <a:lvl9pPr marL="3024469" indent="0">
              <a:buNone/>
              <a:defRPr sz="1654"/>
            </a:lvl9pPr>
          </a:lstStyle>
          <a:p>
            <a:r>
              <a:rPr lang="pt-BR"/>
              <a:t>Clique no ícone para adicionar uma imagem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20822" y="3207544"/>
            <a:ext cx="2438704" cy="5942372"/>
          </a:xfrm>
        </p:spPr>
        <p:txBody>
          <a:bodyPr/>
          <a:lstStyle>
            <a:lvl1pPr marL="0" indent="0">
              <a:buNone/>
              <a:defRPr sz="1323"/>
            </a:lvl1pPr>
            <a:lvl2pPr marL="378059" indent="0">
              <a:buNone/>
              <a:defRPr sz="1158"/>
            </a:lvl2pPr>
            <a:lvl3pPr marL="756117" indent="0">
              <a:buNone/>
              <a:defRPr sz="992"/>
            </a:lvl3pPr>
            <a:lvl4pPr marL="1134176" indent="0">
              <a:buNone/>
              <a:defRPr sz="827"/>
            </a:lvl4pPr>
            <a:lvl5pPr marL="1512235" indent="0">
              <a:buNone/>
              <a:defRPr sz="827"/>
            </a:lvl5pPr>
            <a:lvl6pPr marL="1890293" indent="0">
              <a:buNone/>
              <a:defRPr sz="827"/>
            </a:lvl6pPr>
            <a:lvl7pPr marL="2268352" indent="0">
              <a:buNone/>
              <a:defRPr sz="827"/>
            </a:lvl7pPr>
            <a:lvl8pPr marL="2646411" indent="0">
              <a:buNone/>
              <a:defRPr sz="827"/>
            </a:lvl8pPr>
            <a:lvl9pPr marL="3024469" indent="0">
              <a:buNone/>
              <a:defRPr sz="827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57E78B-50A5-4041-B8E5-C741E639875A}" type="datetimeFigureOut">
              <a:rPr lang="pt-BR" smtClean="0"/>
              <a:t>02/04/2026</a:t>
            </a:fld>
            <a:endParaRPr lang="pt-B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90920B-204E-400E-81BC-E838173BE79B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96348873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57E78B-50A5-4041-B8E5-C741E639875A}" type="datetimeFigureOut">
              <a:rPr lang="pt-BR" smtClean="0"/>
              <a:t>02/04/2026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90920B-204E-400E-81BC-E838173BE79B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87618498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5411029" y="569240"/>
            <a:ext cx="1630397" cy="9060817"/>
          </a:xfrm>
        </p:spPr>
        <p:txBody>
          <a:bodyPr vert="eaVert"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519837" y="569240"/>
            <a:ext cx="4796676" cy="9060817"/>
          </a:xfrm>
        </p:spPr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57E78B-50A5-4041-B8E5-C741E639875A}" type="datetimeFigureOut">
              <a:rPr lang="pt-BR" smtClean="0"/>
              <a:t>02/04/2026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90920B-204E-400E-81BC-E838173BE79B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99591205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519837" y="569242"/>
            <a:ext cx="6521589" cy="206659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19837" y="2846200"/>
            <a:ext cx="6521589" cy="678385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519837" y="9909729"/>
            <a:ext cx="1701284" cy="56924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92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157E78B-50A5-4041-B8E5-C741E639875A}" type="datetimeFigureOut">
              <a:rPr lang="pt-BR" smtClean="0"/>
              <a:t>02/04/2026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504669" y="9909729"/>
            <a:ext cx="2551926" cy="56924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92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5340142" y="9909729"/>
            <a:ext cx="1701284" cy="56924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92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390920B-204E-400E-81BC-E838173BE79B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27326617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756117" rtl="0" eaLnBrk="1" latinLnBrk="0" hangingPunct="1">
        <a:lnSpc>
          <a:spcPct val="90000"/>
        </a:lnSpc>
        <a:spcBef>
          <a:spcPct val="0"/>
        </a:spcBef>
        <a:buNone/>
        <a:defRPr sz="3638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89029" indent="-189029" algn="l" defTabSz="756117" rtl="0" eaLnBrk="1" latinLnBrk="0" hangingPunct="1">
        <a:lnSpc>
          <a:spcPct val="90000"/>
        </a:lnSpc>
        <a:spcBef>
          <a:spcPts val="827"/>
        </a:spcBef>
        <a:buFont typeface="Arial" panose="020B0604020202020204" pitchFamily="34" charset="0"/>
        <a:buChar char="•"/>
        <a:defRPr sz="2315" kern="1200">
          <a:solidFill>
            <a:schemeClr val="tx1"/>
          </a:solidFill>
          <a:latin typeface="+mn-lt"/>
          <a:ea typeface="+mn-ea"/>
          <a:cs typeface="+mn-cs"/>
        </a:defRPr>
      </a:lvl1pPr>
      <a:lvl2pPr marL="567088" indent="-189029" algn="l" defTabSz="756117" rtl="0" eaLnBrk="1" latinLnBrk="0" hangingPunct="1">
        <a:lnSpc>
          <a:spcPct val="90000"/>
        </a:lnSpc>
        <a:spcBef>
          <a:spcPts val="413"/>
        </a:spcBef>
        <a:buFont typeface="Arial" panose="020B0604020202020204" pitchFamily="34" charset="0"/>
        <a:buChar char="•"/>
        <a:defRPr sz="1985" kern="1200">
          <a:solidFill>
            <a:schemeClr val="tx1"/>
          </a:solidFill>
          <a:latin typeface="+mn-lt"/>
          <a:ea typeface="+mn-ea"/>
          <a:cs typeface="+mn-cs"/>
        </a:defRPr>
      </a:lvl2pPr>
      <a:lvl3pPr marL="945147" indent="-189029" algn="l" defTabSz="756117" rtl="0" eaLnBrk="1" latinLnBrk="0" hangingPunct="1">
        <a:lnSpc>
          <a:spcPct val="90000"/>
        </a:lnSpc>
        <a:spcBef>
          <a:spcPts val="413"/>
        </a:spcBef>
        <a:buFont typeface="Arial" panose="020B0604020202020204" pitchFamily="34" charset="0"/>
        <a:buChar char="•"/>
        <a:defRPr sz="1654" kern="1200">
          <a:solidFill>
            <a:schemeClr val="tx1"/>
          </a:solidFill>
          <a:latin typeface="+mn-lt"/>
          <a:ea typeface="+mn-ea"/>
          <a:cs typeface="+mn-cs"/>
        </a:defRPr>
      </a:lvl3pPr>
      <a:lvl4pPr marL="1323205" indent="-189029" algn="l" defTabSz="756117" rtl="0" eaLnBrk="1" latinLnBrk="0" hangingPunct="1">
        <a:lnSpc>
          <a:spcPct val="90000"/>
        </a:lnSpc>
        <a:spcBef>
          <a:spcPts val="413"/>
        </a:spcBef>
        <a:buFont typeface="Arial" panose="020B0604020202020204" pitchFamily="34" charset="0"/>
        <a:buChar char="•"/>
        <a:defRPr sz="1488" kern="1200">
          <a:solidFill>
            <a:schemeClr val="tx1"/>
          </a:solidFill>
          <a:latin typeface="+mn-lt"/>
          <a:ea typeface="+mn-ea"/>
          <a:cs typeface="+mn-cs"/>
        </a:defRPr>
      </a:lvl4pPr>
      <a:lvl5pPr marL="1701264" indent="-189029" algn="l" defTabSz="756117" rtl="0" eaLnBrk="1" latinLnBrk="0" hangingPunct="1">
        <a:lnSpc>
          <a:spcPct val="90000"/>
        </a:lnSpc>
        <a:spcBef>
          <a:spcPts val="413"/>
        </a:spcBef>
        <a:buFont typeface="Arial" panose="020B0604020202020204" pitchFamily="34" charset="0"/>
        <a:buChar char="•"/>
        <a:defRPr sz="1488" kern="1200">
          <a:solidFill>
            <a:schemeClr val="tx1"/>
          </a:solidFill>
          <a:latin typeface="+mn-lt"/>
          <a:ea typeface="+mn-ea"/>
          <a:cs typeface="+mn-cs"/>
        </a:defRPr>
      </a:lvl5pPr>
      <a:lvl6pPr marL="2079323" indent="-189029" algn="l" defTabSz="756117" rtl="0" eaLnBrk="1" latinLnBrk="0" hangingPunct="1">
        <a:lnSpc>
          <a:spcPct val="90000"/>
        </a:lnSpc>
        <a:spcBef>
          <a:spcPts val="413"/>
        </a:spcBef>
        <a:buFont typeface="Arial" panose="020B0604020202020204" pitchFamily="34" charset="0"/>
        <a:buChar char="•"/>
        <a:defRPr sz="1488" kern="1200">
          <a:solidFill>
            <a:schemeClr val="tx1"/>
          </a:solidFill>
          <a:latin typeface="+mn-lt"/>
          <a:ea typeface="+mn-ea"/>
          <a:cs typeface="+mn-cs"/>
        </a:defRPr>
      </a:lvl6pPr>
      <a:lvl7pPr marL="2457381" indent="-189029" algn="l" defTabSz="756117" rtl="0" eaLnBrk="1" latinLnBrk="0" hangingPunct="1">
        <a:lnSpc>
          <a:spcPct val="90000"/>
        </a:lnSpc>
        <a:spcBef>
          <a:spcPts val="413"/>
        </a:spcBef>
        <a:buFont typeface="Arial" panose="020B0604020202020204" pitchFamily="34" charset="0"/>
        <a:buChar char="•"/>
        <a:defRPr sz="1488" kern="1200">
          <a:solidFill>
            <a:schemeClr val="tx1"/>
          </a:solidFill>
          <a:latin typeface="+mn-lt"/>
          <a:ea typeface="+mn-ea"/>
          <a:cs typeface="+mn-cs"/>
        </a:defRPr>
      </a:lvl7pPr>
      <a:lvl8pPr marL="2835440" indent="-189029" algn="l" defTabSz="756117" rtl="0" eaLnBrk="1" latinLnBrk="0" hangingPunct="1">
        <a:lnSpc>
          <a:spcPct val="90000"/>
        </a:lnSpc>
        <a:spcBef>
          <a:spcPts val="413"/>
        </a:spcBef>
        <a:buFont typeface="Arial" panose="020B0604020202020204" pitchFamily="34" charset="0"/>
        <a:buChar char="•"/>
        <a:defRPr sz="1488" kern="1200">
          <a:solidFill>
            <a:schemeClr val="tx1"/>
          </a:solidFill>
          <a:latin typeface="+mn-lt"/>
          <a:ea typeface="+mn-ea"/>
          <a:cs typeface="+mn-cs"/>
        </a:defRPr>
      </a:lvl8pPr>
      <a:lvl9pPr marL="3213499" indent="-189029" algn="l" defTabSz="756117" rtl="0" eaLnBrk="1" latinLnBrk="0" hangingPunct="1">
        <a:lnSpc>
          <a:spcPct val="90000"/>
        </a:lnSpc>
        <a:spcBef>
          <a:spcPts val="413"/>
        </a:spcBef>
        <a:buFont typeface="Arial" panose="020B0604020202020204" pitchFamily="34" charset="0"/>
        <a:buChar char="•"/>
        <a:defRPr sz="1488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756117" rtl="0" eaLnBrk="1" latinLnBrk="0" hangingPunct="1">
        <a:defRPr sz="1488" kern="1200">
          <a:solidFill>
            <a:schemeClr val="tx1"/>
          </a:solidFill>
          <a:latin typeface="+mn-lt"/>
          <a:ea typeface="+mn-ea"/>
          <a:cs typeface="+mn-cs"/>
        </a:defRPr>
      </a:lvl1pPr>
      <a:lvl2pPr marL="378059" algn="l" defTabSz="756117" rtl="0" eaLnBrk="1" latinLnBrk="0" hangingPunct="1">
        <a:defRPr sz="1488" kern="1200">
          <a:solidFill>
            <a:schemeClr val="tx1"/>
          </a:solidFill>
          <a:latin typeface="+mn-lt"/>
          <a:ea typeface="+mn-ea"/>
          <a:cs typeface="+mn-cs"/>
        </a:defRPr>
      </a:lvl2pPr>
      <a:lvl3pPr marL="756117" algn="l" defTabSz="756117" rtl="0" eaLnBrk="1" latinLnBrk="0" hangingPunct="1">
        <a:defRPr sz="1488" kern="1200">
          <a:solidFill>
            <a:schemeClr val="tx1"/>
          </a:solidFill>
          <a:latin typeface="+mn-lt"/>
          <a:ea typeface="+mn-ea"/>
          <a:cs typeface="+mn-cs"/>
        </a:defRPr>
      </a:lvl3pPr>
      <a:lvl4pPr marL="1134176" algn="l" defTabSz="756117" rtl="0" eaLnBrk="1" latinLnBrk="0" hangingPunct="1">
        <a:defRPr sz="1488" kern="1200">
          <a:solidFill>
            <a:schemeClr val="tx1"/>
          </a:solidFill>
          <a:latin typeface="+mn-lt"/>
          <a:ea typeface="+mn-ea"/>
          <a:cs typeface="+mn-cs"/>
        </a:defRPr>
      </a:lvl4pPr>
      <a:lvl5pPr marL="1512235" algn="l" defTabSz="756117" rtl="0" eaLnBrk="1" latinLnBrk="0" hangingPunct="1">
        <a:defRPr sz="1488" kern="1200">
          <a:solidFill>
            <a:schemeClr val="tx1"/>
          </a:solidFill>
          <a:latin typeface="+mn-lt"/>
          <a:ea typeface="+mn-ea"/>
          <a:cs typeface="+mn-cs"/>
        </a:defRPr>
      </a:lvl5pPr>
      <a:lvl6pPr marL="1890293" algn="l" defTabSz="756117" rtl="0" eaLnBrk="1" latinLnBrk="0" hangingPunct="1">
        <a:defRPr sz="1488" kern="1200">
          <a:solidFill>
            <a:schemeClr val="tx1"/>
          </a:solidFill>
          <a:latin typeface="+mn-lt"/>
          <a:ea typeface="+mn-ea"/>
          <a:cs typeface="+mn-cs"/>
        </a:defRPr>
      </a:lvl6pPr>
      <a:lvl7pPr marL="2268352" algn="l" defTabSz="756117" rtl="0" eaLnBrk="1" latinLnBrk="0" hangingPunct="1">
        <a:defRPr sz="1488" kern="1200">
          <a:solidFill>
            <a:schemeClr val="tx1"/>
          </a:solidFill>
          <a:latin typeface="+mn-lt"/>
          <a:ea typeface="+mn-ea"/>
          <a:cs typeface="+mn-cs"/>
        </a:defRPr>
      </a:lvl7pPr>
      <a:lvl8pPr marL="2646411" algn="l" defTabSz="756117" rtl="0" eaLnBrk="1" latinLnBrk="0" hangingPunct="1">
        <a:defRPr sz="1488" kern="1200">
          <a:solidFill>
            <a:schemeClr val="tx1"/>
          </a:solidFill>
          <a:latin typeface="+mn-lt"/>
          <a:ea typeface="+mn-ea"/>
          <a:cs typeface="+mn-cs"/>
        </a:defRPr>
      </a:lvl8pPr>
      <a:lvl9pPr marL="3024469" algn="l" defTabSz="756117" rtl="0" eaLnBrk="1" latinLnBrk="0" hangingPunct="1">
        <a:defRPr sz="1488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5.png"/><Relationship Id="rId4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jp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9.jpe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0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5.png"/><Relationship Id="rId3" Type="http://schemas.openxmlformats.org/officeDocument/2006/relationships/image" Target="../media/image11.png"/><Relationship Id="rId7" Type="http://schemas.openxmlformats.org/officeDocument/2006/relationships/image" Target="../media/image2.png"/><Relationship Id="rId2" Type="http://schemas.openxmlformats.org/officeDocument/2006/relationships/image" Target="../media/image6.jp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4.png"/><Relationship Id="rId5" Type="http://schemas.openxmlformats.org/officeDocument/2006/relationships/image" Target="../media/image13.png"/><Relationship Id="rId4" Type="http://schemas.openxmlformats.org/officeDocument/2006/relationships/image" Target="../media/image12.png"/><Relationship Id="rId9" Type="http://schemas.openxmlformats.org/officeDocument/2006/relationships/image" Target="../media/image16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6.jp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9" name="Imagem 28">
            <a:extLst>
              <a:ext uri="{FF2B5EF4-FFF2-40B4-BE49-F238E27FC236}">
                <a16:creationId xmlns:a16="http://schemas.microsoft.com/office/drawing/2014/main" id="{13CDD406-37B5-AE55-73A2-1A6D4C7564C1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13" y="0"/>
            <a:ext cx="7558636" cy="10691813"/>
          </a:xfrm>
          <a:prstGeom prst="rect">
            <a:avLst/>
          </a:prstGeom>
        </p:spPr>
      </p:pic>
      <p:pic>
        <p:nvPicPr>
          <p:cNvPr id="27" name="Imagem 26">
            <a:extLst>
              <a:ext uri="{FF2B5EF4-FFF2-40B4-BE49-F238E27FC236}">
                <a16:creationId xmlns:a16="http://schemas.microsoft.com/office/drawing/2014/main" id="{B41925B5-F653-5F92-AAEB-B954175E16F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82962" y="10125011"/>
            <a:ext cx="795338" cy="274618"/>
          </a:xfrm>
          <a:prstGeom prst="rect">
            <a:avLst/>
          </a:prstGeom>
        </p:spPr>
      </p:pic>
      <p:sp>
        <p:nvSpPr>
          <p:cNvPr id="9" name="CaixaDeTexto 8">
            <a:extLst>
              <a:ext uri="{FF2B5EF4-FFF2-40B4-BE49-F238E27FC236}">
                <a16:creationId xmlns:a16="http://schemas.microsoft.com/office/drawing/2014/main" id="{F08F497B-2BE5-405D-6939-721161B8624F}"/>
              </a:ext>
            </a:extLst>
          </p:cNvPr>
          <p:cNvSpPr txBox="1"/>
          <p:nvPr/>
        </p:nvSpPr>
        <p:spPr>
          <a:xfrm>
            <a:off x="91736" y="718436"/>
            <a:ext cx="7375161" cy="8084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ts val="5900"/>
              </a:lnSpc>
            </a:pPr>
            <a:r>
              <a:rPr lang="pt-BR" sz="4400" b="1" dirty="0">
                <a:solidFill>
                  <a:srgbClr val="E01684"/>
                </a:solidFill>
                <a:latin typeface="Arial Black" panose="020B0A04020102020204" pitchFamily="34" charset="0"/>
                <a:ea typeface="Inter" panose="02000503000000020004" pitchFamily="2" charset="0"/>
              </a:rPr>
              <a:t>DEFLOCULADORA</a:t>
            </a:r>
          </a:p>
        </p:txBody>
      </p:sp>
      <p:sp>
        <p:nvSpPr>
          <p:cNvPr id="12" name="CaixaDeTexto 11">
            <a:extLst>
              <a:ext uri="{FF2B5EF4-FFF2-40B4-BE49-F238E27FC236}">
                <a16:creationId xmlns:a16="http://schemas.microsoft.com/office/drawing/2014/main" id="{7686D901-E622-309E-6996-A977F34E8674}"/>
              </a:ext>
            </a:extLst>
          </p:cNvPr>
          <p:cNvSpPr txBox="1"/>
          <p:nvPr/>
        </p:nvSpPr>
        <p:spPr>
          <a:xfrm>
            <a:off x="3521356" y="8618436"/>
            <a:ext cx="3705727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pt-BR" sz="1600" b="1" dirty="0">
                <a:latin typeface="Arial" panose="020B0604020202020204" pitchFamily="34" charset="0"/>
                <a:ea typeface="Inter" panose="02000503000000020004" pitchFamily="2" charset="0"/>
                <a:cs typeface="Arial" panose="020B0604020202020204" pitchFamily="34" charset="0"/>
              </a:rPr>
              <a:t>Proposta</a:t>
            </a:r>
            <a:r>
              <a:rPr lang="pt-BR" sz="1600" b="1" dirty="0">
                <a:latin typeface="Arial" panose="020B0604020202020204" pitchFamily="34" charset="0"/>
                <a:cs typeface="Arial" panose="020B0604020202020204" pitchFamily="34" charset="0"/>
              </a:rPr>
              <a:t> Técnica Nº {{proposta}}</a:t>
            </a:r>
          </a:p>
        </p:txBody>
      </p:sp>
      <p:sp>
        <p:nvSpPr>
          <p:cNvPr id="13" name="CaixaDeTexto 12">
            <a:extLst>
              <a:ext uri="{FF2B5EF4-FFF2-40B4-BE49-F238E27FC236}">
                <a16:creationId xmlns:a16="http://schemas.microsoft.com/office/drawing/2014/main" id="{2FD5F4C4-2814-C466-60ED-B717F86A87C1}"/>
              </a:ext>
            </a:extLst>
          </p:cNvPr>
          <p:cNvSpPr txBox="1"/>
          <p:nvPr/>
        </p:nvSpPr>
        <p:spPr>
          <a:xfrm>
            <a:off x="3819673" y="8931807"/>
            <a:ext cx="3374274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pt-BR" sz="1600" b="1" dirty="0">
                <a:latin typeface="Arial" panose="020B0604020202020204" pitchFamily="34" charset="0"/>
                <a:ea typeface="Inter" panose="02000503000000020004" pitchFamily="2" charset="0"/>
                <a:cs typeface="Arial" panose="020B0604020202020204" pitchFamily="34" charset="0"/>
              </a:rPr>
              <a:t>Aplicação: </a:t>
            </a:r>
            <a:r>
              <a:rPr lang="pt-BR" sz="1600" dirty="0">
                <a:latin typeface="Arial" panose="020B0604020202020204" pitchFamily="34" charset="0"/>
                <a:ea typeface="Inter" panose="02000503000000020004" pitchFamily="2" charset="0"/>
                <a:cs typeface="Arial" panose="020B0604020202020204" pitchFamily="34" charset="0"/>
              </a:rPr>
              <a:t>Alta Dispersão e Homogeneização</a:t>
            </a:r>
          </a:p>
        </p:txBody>
      </p:sp>
      <p:sp>
        <p:nvSpPr>
          <p:cNvPr id="14" name="Retângulo: Cantos Arredondados 13">
            <a:extLst>
              <a:ext uri="{FF2B5EF4-FFF2-40B4-BE49-F238E27FC236}">
                <a16:creationId xmlns:a16="http://schemas.microsoft.com/office/drawing/2014/main" id="{D5512939-228E-695E-8736-123C956396E6}"/>
              </a:ext>
            </a:extLst>
          </p:cNvPr>
          <p:cNvSpPr/>
          <p:nvPr/>
        </p:nvSpPr>
        <p:spPr>
          <a:xfrm>
            <a:off x="642937" y="8223749"/>
            <a:ext cx="2250164" cy="1578574"/>
          </a:xfrm>
          <a:prstGeom prst="roundRect">
            <a:avLst/>
          </a:prstGeom>
          <a:solidFill>
            <a:srgbClr val="E0168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6" name="CaixaDeTexto 15">
            <a:extLst>
              <a:ext uri="{FF2B5EF4-FFF2-40B4-BE49-F238E27FC236}">
                <a16:creationId xmlns:a16="http://schemas.microsoft.com/office/drawing/2014/main" id="{7DD51783-DF28-1A28-D05F-6D4236BBB9B4}"/>
              </a:ext>
            </a:extLst>
          </p:cNvPr>
          <p:cNvSpPr txBox="1"/>
          <p:nvPr/>
        </p:nvSpPr>
        <p:spPr>
          <a:xfrm>
            <a:off x="749425" y="8326048"/>
            <a:ext cx="2037187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1600" b="1" dirty="0">
                <a:solidFill>
                  <a:schemeClr val="bg1"/>
                </a:solidFill>
                <a:latin typeface="Arial" panose="020B0604020202020204" pitchFamily="34" charset="0"/>
                <a:ea typeface="Inter" panose="02000503000000020004" pitchFamily="2" charset="0"/>
                <a:cs typeface="Arial" panose="020B0604020202020204" pitchFamily="34" charset="0"/>
              </a:rPr>
              <a:t>Tecnologia:</a:t>
            </a:r>
            <a:br>
              <a:rPr lang="pt-BR" sz="1600" b="1" dirty="0">
                <a:solidFill>
                  <a:schemeClr val="bg1"/>
                </a:solidFill>
                <a:latin typeface="Arial" panose="020B0604020202020204" pitchFamily="34" charset="0"/>
                <a:ea typeface="Inter" panose="02000503000000020004" pitchFamily="2" charset="0"/>
                <a:cs typeface="Arial" panose="020B0604020202020204" pitchFamily="34" charset="0"/>
              </a:rPr>
            </a:br>
            <a:r>
              <a:rPr lang="pt-BR" sz="1600" dirty="0" err="1">
                <a:solidFill>
                  <a:schemeClr val="bg1"/>
                </a:solidFill>
                <a:latin typeface="Arial" panose="020B0604020202020204" pitchFamily="34" charset="0"/>
                <a:ea typeface="Inter" panose="02000503000000020004" pitchFamily="2" charset="0"/>
                <a:cs typeface="Arial" panose="020B0604020202020204" pitchFamily="34" charset="0"/>
              </a:rPr>
              <a:t>Rushton</a:t>
            </a:r>
            <a:r>
              <a:rPr lang="pt-BR" sz="1600" dirty="0">
                <a:solidFill>
                  <a:schemeClr val="bg1"/>
                </a:solidFill>
                <a:latin typeface="Arial" panose="020B0604020202020204" pitchFamily="34" charset="0"/>
                <a:ea typeface="Inter" panose="02000503000000020004" pitchFamily="2" charset="0"/>
                <a:cs typeface="Arial" panose="020B0604020202020204" pitchFamily="34" charset="0"/>
              </a:rPr>
              <a:t> Converter</a:t>
            </a:r>
          </a:p>
        </p:txBody>
      </p:sp>
      <p:sp>
        <p:nvSpPr>
          <p:cNvPr id="17" name="CaixaDeTexto 16">
            <a:extLst>
              <a:ext uri="{FF2B5EF4-FFF2-40B4-BE49-F238E27FC236}">
                <a16:creationId xmlns:a16="http://schemas.microsoft.com/office/drawing/2014/main" id="{0C03BC49-F342-411B-54A7-97B857170AA3}"/>
              </a:ext>
            </a:extLst>
          </p:cNvPr>
          <p:cNvSpPr txBox="1"/>
          <p:nvPr/>
        </p:nvSpPr>
        <p:spPr>
          <a:xfrm>
            <a:off x="642936" y="9000504"/>
            <a:ext cx="225016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1600" b="1" dirty="0">
                <a:solidFill>
                  <a:schemeClr val="bg1"/>
                </a:solidFill>
                <a:latin typeface="Arial" panose="020B0604020202020204" pitchFamily="34" charset="0"/>
                <a:ea typeface="Inter" panose="02000503000000020004" pitchFamily="2" charset="0"/>
                <a:cs typeface="Arial" panose="020B0604020202020204" pitchFamily="34" charset="0"/>
              </a:rPr>
              <a:t>Diâmetro:</a:t>
            </a:r>
          </a:p>
          <a:p>
            <a:pPr algn="ctr"/>
            <a:r>
              <a:rPr lang="pt-BR" sz="1600" dirty="0">
                <a:solidFill>
                  <a:schemeClr val="bg1"/>
                </a:solidFill>
                <a:latin typeface="Arial" panose="020B0604020202020204" pitchFamily="34" charset="0"/>
                <a:ea typeface="Inter" panose="02000503000000020004" pitchFamily="2" charset="0"/>
                <a:cs typeface="Arial" panose="020B0604020202020204" pitchFamily="34" charset="0"/>
              </a:rPr>
              <a:t>{{</a:t>
            </a:r>
            <a:r>
              <a:rPr lang="pt-BR" sz="1600" dirty="0" err="1">
                <a:solidFill>
                  <a:schemeClr val="bg1"/>
                </a:solidFill>
                <a:latin typeface="Arial" panose="020B0604020202020204" pitchFamily="34" charset="0"/>
                <a:ea typeface="Inter" panose="02000503000000020004" pitchFamily="2" charset="0"/>
                <a:cs typeface="Arial" panose="020B0604020202020204" pitchFamily="34" charset="0"/>
              </a:rPr>
              <a:t>diametro_corpo</a:t>
            </a:r>
            <a:r>
              <a:rPr lang="pt-BR" sz="1600" dirty="0">
                <a:solidFill>
                  <a:schemeClr val="bg1"/>
                </a:solidFill>
                <a:latin typeface="Arial" panose="020B0604020202020204" pitchFamily="34" charset="0"/>
                <a:ea typeface="Inter" panose="02000503000000020004" pitchFamily="2" charset="0"/>
                <a:cs typeface="Arial" panose="020B0604020202020204" pitchFamily="34" charset="0"/>
              </a:rPr>
              <a:t>}} mm</a:t>
            </a:r>
          </a:p>
        </p:txBody>
      </p:sp>
      <p:cxnSp>
        <p:nvCxnSpPr>
          <p:cNvPr id="18" name="Conector reto 17">
            <a:extLst>
              <a:ext uri="{FF2B5EF4-FFF2-40B4-BE49-F238E27FC236}">
                <a16:creationId xmlns:a16="http://schemas.microsoft.com/office/drawing/2014/main" id="{AF349FF2-80F7-8B57-E655-2224B9872B68}"/>
              </a:ext>
            </a:extLst>
          </p:cNvPr>
          <p:cNvCxnSpPr>
            <a:cxnSpLocks/>
            <a:stCxn id="14" idx="1"/>
            <a:endCxn id="14" idx="3"/>
          </p:cNvCxnSpPr>
          <p:nvPr/>
        </p:nvCxnSpPr>
        <p:spPr>
          <a:xfrm>
            <a:off x="642937" y="9013036"/>
            <a:ext cx="2250164" cy="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3" name="Imagem 2">
            <a:extLst>
              <a:ext uri="{FF2B5EF4-FFF2-40B4-BE49-F238E27FC236}">
                <a16:creationId xmlns:a16="http://schemas.microsoft.com/office/drawing/2014/main" id="{B9B93287-E9E0-69F4-F892-A0BC7207822C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0350" t="20449" r="15716" b="19145"/>
          <a:stretch>
            <a:fillRect/>
          </a:stretch>
        </p:blipFill>
        <p:spPr>
          <a:xfrm>
            <a:off x="445851" y="1735400"/>
            <a:ext cx="6666930" cy="62990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5415839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CB3DA2B-66A4-6132-B1DB-35EA12B7C20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3" name="Imagem 52">
            <a:extLst>
              <a:ext uri="{FF2B5EF4-FFF2-40B4-BE49-F238E27FC236}">
                <a16:creationId xmlns:a16="http://schemas.microsoft.com/office/drawing/2014/main" id="{2DA6CAA3-6C7E-DF1D-C489-75B8DC67F738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13" y="0"/>
            <a:ext cx="7558636" cy="10691813"/>
          </a:xfrm>
          <a:prstGeom prst="rect">
            <a:avLst/>
          </a:prstGeom>
        </p:spPr>
      </p:pic>
      <p:sp>
        <p:nvSpPr>
          <p:cNvPr id="16" name="CaixaDeTexto 15">
            <a:extLst>
              <a:ext uri="{FF2B5EF4-FFF2-40B4-BE49-F238E27FC236}">
                <a16:creationId xmlns:a16="http://schemas.microsoft.com/office/drawing/2014/main" id="{0169B29F-5158-B93F-9B80-AC854030C197}"/>
              </a:ext>
            </a:extLst>
          </p:cNvPr>
          <p:cNvSpPr txBox="1"/>
          <p:nvPr/>
        </p:nvSpPr>
        <p:spPr>
          <a:xfrm>
            <a:off x="195744" y="684011"/>
            <a:ext cx="6680618" cy="137197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ts val="5100"/>
              </a:lnSpc>
            </a:pPr>
            <a:r>
              <a:rPr lang="pt-BR" sz="4000" b="1" dirty="0">
                <a:solidFill>
                  <a:srgbClr val="E01684"/>
                </a:solidFill>
                <a:latin typeface="Arial Black" panose="020B0A04020102020204" pitchFamily="34" charset="0"/>
                <a:ea typeface="Inter" panose="02000503000000020004" pitchFamily="2" charset="0"/>
              </a:rPr>
              <a:t>Especificidades Técnicas</a:t>
            </a:r>
          </a:p>
        </p:txBody>
      </p:sp>
      <p:pic>
        <p:nvPicPr>
          <p:cNvPr id="37" name="Imagem 36">
            <a:extLst>
              <a:ext uri="{FF2B5EF4-FFF2-40B4-BE49-F238E27FC236}">
                <a16:creationId xmlns:a16="http://schemas.microsoft.com/office/drawing/2014/main" id="{13CA9346-23F1-71E1-6B40-3B6F77FDF305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10855" y="10150411"/>
            <a:ext cx="795338" cy="274618"/>
          </a:xfrm>
          <a:prstGeom prst="rect">
            <a:avLst/>
          </a:prstGeom>
        </p:spPr>
      </p:pic>
      <p:sp>
        <p:nvSpPr>
          <p:cNvPr id="2" name="Retângulo: Cantos Arredondados 1">
            <a:extLst>
              <a:ext uri="{FF2B5EF4-FFF2-40B4-BE49-F238E27FC236}">
                <a16:creationId xmlns:a16="http://schemas.microsoft.com/office/drawing/2014/main" id="{83FFF8F2-EFB3-055C-B020-11B88B81A21B}"/>
              </a:ext>
            </a:extLst>
          </p:cNvPr>
          <p:cNvSpPr/>
          <p:nvPr/>
        </p:nvSpPr>
        <p:spPr>
          <a:xfrm>
            <a:off x="855720" y="2705196"/>
            <a:ext cx="97631" cy="100335"/>
          </a:xfrm>
          <a:prstGeom prst="roundRect">
            <a:avLst/>
          </a:prstGeom>
          <a:solidFill>
            <a:srgbClr val="E0168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7" name="CaixaDeTexto 6">
            <a:extLst>
              <a:ext uri="{FF2B5EF4-FFF2-40B4-BE49-F238E27FC236}">
                <a16:creationId xmlns:a16="http://schemas.microsoft.com/office/drawing/2014/main" id="{9BF5DC46-041C-339A-0EFC-AD375EC5E432}"/>
              </a:ext>
            </a:extLst>
          </p:cNvPr>
          <p:cNvSpPr txBox="1"/>
          <p:nvPr/>
        </p:nvSpPr>
        <p:spPr>
          <a:xfrm>
            <a:off x="1139583" y="2451964"/>
            <a:ext cx="235001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400" b="1" dirty="0">
                <a:latin typeface="Arial" panose="020B0604020202020204" pitchFamily="34" charset="0"/>
                <a:ea typeface="Inter" panose="02000503000000020004" pitchFamily="2" charset="0"/>
                <a:cs typeface="Arial" panose="020B0604020202020204" pitchFamily="34" charset="0"/>
              </a:rPr>
              <a:t>Vetor:  </a:t>
            </a:r>
            <a:r>
              <a:rPr lang="pt-BR" sz="1400" dirty="0" err="1">
                <a:latin typeface="Arial" panose="020B0604020202020204" pitchFamily="34" charset="0"/>
                <a:ea typeface="Inter" panose="02000503000000020004" pitchFamily="2" charset="0"/>
                <a:cs typeface="Arial" panose="020B0604020202020204" pitchFamily="34" charset="0"/>
              </a:rPr>
              <a:t>Defloculadora</a:t>
            </a:r>
            <a:r>
              <a:rPr lang="pt-BR" sz="1400" dirty="0">
                <a:latin typeface="Arial" panose="020B0604020202020204" pitchFamily="34" charset="0"/>
                <a:ea typeface="Inter" panose="02000503000000020004" pitchFamily="2" charset="0"/>
                <a:cs typeface="Arial" panose="020B0604020202020204" pitchFamily="34" charset="0"/>
              </a:rPr>
              <a:t> com </a:t>
            </a:r>
          </a:p>
          <a:p>
            <a:r>
              <a:rPr lang="pt-BR" sz="1400" dirty="0">
                <a:latin typeface="Arial" panose="020B0604020202020204" pitchFamily="34" charset="0"/>
                <a:ea typeface="Inter" panose="02000503000000020004" pitchFamily="2" charset="0"/>
                <a:cs typeface="Arial" panose="020B0604020202020204" pitchFamily="34" charset="0"/>
              </a:rPr>
              <a:t>Aleta Dedicada.</a:t>
            </a:r>
          </a:p>
        </p:txBody>
      </p:sp>
      <p:sp>
        <p:nvSpPr>
          <p:cNvPr id="9" name="CaixaDeTexto 8">
            <a:extLst>
              <a:ext uri="{FF2B5EF4-FFF2-40B4-BE49-F238E27FC236}">
                <a16:creationId xmlns:a16="http://schemas.microsoft.com/office/drawing/2014/main" id="{2031B708-A79C-2E79-A236-269EF59DC7C5}"/>
              </a:ext>
            </a:extLst>
          </p:cNvPr>
          <p:cNvSpPr txBox="1"/>
          <p:nvPr/>
        </p:nvSpPr>
        <p:spPr>
          <a:xfrm>
            <a:off x="1110556" y="3226129"/>
            <a:ext cx="237904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400" b="1" dirty="0">
                <a:latin typeface="Arial" panose="020B0604020202020204" pitchFamily="34" charset="0"/>
                <a:ea typeface="Inter" panose="02000503000000020004" pitchFamily="2" charset="0"/>
                <a:cs typeface="Arial" panose="020B0604020202020204" pitchFamily="34" charset="0"/>
              </a:rPr>
              <a:t>Diâmetro da Aleta:</a:t>
            </a:r>
          </a:p>
          <a:p>
            <a:r>
              <a:rPr lang="pt-BR" sz="1400" dirty="0">
                <a:latin typeface="Arial" panose="020B0604020202020204" pitchFamily="34" charset="0"/>
                <a:ea typeface="Inter" panose="02000503000000020004" pitchFamily="2" charset="0"/>
                <a:cs typeface="Arial" panose="020B0604020202020204" pitchFamily="34" charset="0"/>
              </a:rPr>
              <a:t>{{</a:t>
            </a:r>
            <a:r>
              <a:rPr lang="pt-BR" sz="1400" dirty="0" err="1">
                <a:latin typeface="Arial" panose="020B0604020202020204" pitchFamily="34" charset="0"/>
                <a:ea typeface="Inter" panose="02000503000000020004" pitchFamily="2" charset="0"/>
                <a:cs typeface="Arial" panose="020B0604020202020204" pitchFamily="34" charset="0"/>
              </a:rPr>
              <a:t>diametro_aleta</a:t>
            </a:r>
            <a:r>
              <a:rPr lang="pt-BR" sz="1400" dirty="0">
                <a:latin typeface="Arial" panose="020B0604020202020204" pitchFamily="34" charset="0"/>
                <a:ea typeface="Inter" panose="02000503000000020004" pitchFamily="2" charset="0"/>
                <a:cs typeface="Arial" panose="020B0604020202020204" pitchFamily="34" charset="0"/>
              </a:rPr>
              <a:t>}} mm</a:t>
            </a:r>
          </a:p>
        </p:txBody>
      </p:sp>
      <p:sp>
        <p:nvSpPr>
          <p:cNvPr id="15" name="CaixaDeTexto 14">
            <a:extLst>
              <a:ext uri="{FF2B5EF4-FFF2-40B4-BE49-F238E27FC236}">
                <a16:creationId xmlns:a16="http://schemas.microsoft.com/office/drawing/2014/main" id="{201305FC-4F3E-7F52-8C33-65B997877C9D}"/>
              </a:ext>
            </a:extLst>
          </p:cNvPr>
          <p:cNvSpPr txBox="1"/>
          <p:nvPr/>
        </p:nvSpPr>
        <p:spPr>
          <a:xfrm>
            <a:off x="1110556" y="3917899"/>
            <a:ext cx="202712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400" b="1" dirty="0">
                <a:latin typeface="Arial" panose="020B0604020202020204" pitchFamily="34" charset="0"/>
                <a:ea typeface="Inter" panose="02000503000000020004" pitchFamily="2" charset="0"/>
                <a:cs typeface="Arial" panose="020B0604020202020204" pitchFamily="34" charset="0"/>
              </a:rPr>
              <a:t>Espaçamento: </a:t>
            </a:r>
          </a:p>
          <a:p>
            <a:r>
              <a:rPr lang="pt-BR" sz="1400" dirty="0">
                <a:latin typeface="Arial" panose="020B0604020202020204" pitchFamily="34" charset="0"/>
                <a:ea typeface="Inter" panose="02000503000000020004" pitchFamily="2" charset="0"/>
                <a:cs typeface="Arial" panose="020B0604020202020204" pitchFamily="34" charset="0"/>
              </a:rPr>
              <a:t>{{</a:t>
            </a:r>
            <a:r>
              <a:rPr lang="pt-BR" sz="1400" dirty="0" err="1">
                <a:latin typeface="Arial" panose="020B0604020202020204" pitchFamily="34" charset="0"/>
                <a:ea typeface="Inter" panose="02000503000000020004" pitchFamily="2" charset="0"/>
                <a:cs typeface="Arial" panose="020B0604020202020204" pitchFamily="34" charset="0"/>
              </a:rPr>
              <a:t>espacamento</a:t>
            </a:r>
            <a:r>
              <a:rPr lang="pt-BR" sz="1400" dirty="0">
                <a:latin typeface="Arial" panose="020B0604020202020204" pitchFamily="34" charset="0"/>
                <a:ea typeface="Inter" panose="02000503000000020004" pitchFamily="2" charset="0"/>
                <a:cs typeface="Arial" panose="020B0604020202020204" pitchFamily="34" charset="0"/>
              </a:rPr>
              <a:t>}} mm</a:t>
            </a:r>
          </a:p>
        </p:txBody>
      </p:sp>
      <p:sp>
        <p:nvSpPr>
          <p:cNvPr id="18" name="CaixaDeTexto 17">
            <a:extLst>
              <a:ext uri="{FF2B5EF4-FFF2-40B4-BE49-F238E27FC236}">
                <a16:creationId xmlns:a16="http://schemas.microsoft.com/office/drawing/2014/main" id="{0111CE1E-56B1-E2AE-6833-BD7ECEB31B39}"/>
              </a:ext>
            </a:extLst>
          </p:cNvPr>
          <p:cNvSpPr txBox="1"/>
          <p:nvPr/>
        </p:nvSpPr>
        <p:spPr>
          <a:xfrm>
            <a:off x="1110556" y="4627554"/>
            <a:ext cx="202712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400" b="1" dirty="0">
                <a:latin typeface="Arial" panose="020B0604020202020204" pitchFamily="34" charset="0"/>
                <a:ea typeface="Inter" panose="02000503000000020004" pitchFamily="2" charset="0"/>
                <a:cs typeface="Arial" panose="020B0604020202020204" pitchFamily="34" charset="0"/>
              </a:rPr>
              <a:t>Diâmetro do Corpo: </a:t>
            </a:r>
            <a:r>
              <a:rPr lang="pt-BR" sz="1400" dirty="0">
                <a:latin typeface="Arial" panose="020B0604020202020204" pitchFamily="34" charset="0"/>
                <a:ea typeface="Inter" panose="02000503000000020004" pitchFamily="2" charset="0"/>
                <a:cs typeface="Arial" panose="020B0604020202020204" pitchFamily="34" charset="0"/>
              </a:rPr>
              <a:t>{{</a:t>
            </a:r>
            <a:r>
              <a:rPr lang="pt-BR" sz="1400" dirty="0" err="1">
                <a:latin typeface="Arial" panose="020B0604020202020204" pitchFamily="34" charset="0"/>
                <a:ea typeface="Inter" panose="02000503000000020004" pitchFamily="2" charset="0"/>
                <a:cs typeface="Arial" panose="020B0604020202020204" pitchFamily="34" charset="0"/>
              </a:rPr>
              <a:t>diametro_corpo</a:t>
            </a:r>
            <a:r>
              <a:rPr lang="pt-BR" sz="1400" dirty="0">
                <a:latin typeface="Arial" panose="020B0604020202020204" pitchFamily="34" charset="0"/>
                <a:ea typeface="Inter" panose="02000503000000020004" pitchFamily="2" charset="0"/>
                <a:cs typeface="Arial" panose="020B0604020202020204" pitchFamily="34" charset="0"/>
              </a:rPr>
              <a:t>}} mm</a:t>
            </a:r>
          </a:p>
        </p:txBody>
      </p:sp>
      <p:sp>
        <p:nvSpPr>
          <p:cNvPr id="19" name="CaixaDeTexto 18">
            <a:extLst>
              <a:ext uri="{FF2B5EF4-FFF2-40B4-BE49-F238E27FC236}">
                <a16:creationId xmlns:a16="http://schemas.microsoft.com/office/drawing/2014/main" id="{A765C952-B885-262F-C72F-8D39718088FE}"/>
              </a:ext>
            </a:extLst>
          </p:cNvPr>
          <p:cNvSpPr txBox="1"/>
          <p:nvPr/>
        </p:nvSpPr>
        <p:spPr>
          <a:xfrm>
            <a:off x="1110555" y="5363177"/>
            <a:ext cx="202712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400" b="1" dirty="0">
                <a:latin typeface="Arial" panose="020B0604020202020204" pitchFamily="34" charset="0"/>
                <a:ea typeface="Inter" panose="02000503000000020004" pitchFamily="2" charset="0"/>
                <a:cs typeface="Arial" panose="020B0604020202020204" pitchFamily="34" charset="0"/>
              </a:rPr>
              <a:t>Material: </a:t>
            </a:r>
          </a:p>
          <a:p>
            <a:r>
              <a:rPr lang="pt-BR" sz="1400" dirty="0">
                <a:latin typeface="Arial" panose="020B0604020202020204" pitchFamily="34" charset="0"/>
                <a:ea typeface="Inter" panose="02000503000000020004" pitchFamily="2" charset="0"/>
                <a:cs typeface="Arial" panose="020B0604020202020204" pitchFamily="34" charset="0"/>
              </a:rPr>
              <a:t>Aço Inox {{</a:t>
            </a:r>
            <a:r>
              <a:rPr lang="pt-BR" sz="1400" dirty="0" err="1">
                <a:latin typeface="Arial" panose="020B0604020202020204" pitchFamily="34" charset="0"/>
                <a:ea typeface="Inter" panose="02000503000000020004" pitchFamily="2" charset="0"/>
                <a:cs typeface="Arial" panose="020B0604020202020204" pitchFamily="34" charset="0"/>
              </a:rPr>
              <a:t>aisi</a:t>
            </a:r>
            <a:r>
              <a:rPr lang="pt-BR" sz="1400" dirty="0">
                <a:latin typeface="Arial" panose="020B0604020202020204" pitchFamily="34" charset="0"/>
                <a:ea typeface="Inter" panose="02000503000000020004" pitchFamily="2" charset="0"/>
                <a:cs typeface="Arial" panose="020B0604020202020204" pitchFamily="34" charset="0"/>
              </a:rPr>
              <a:t>}}</a:t>
            </a:r>
          </a:p>
        </p:txBody>
      </p:sp>
      <p:sp>
        <p:nvSpPr>
          <p:cNvPr id="20" name="CaixaDeTexto 19">
            <a:extLst>
              <a:ext uri="{FF2B5EF4-FFF2-40B4-BE49-F238E27FC236}">
                <a16:creationId xmlns:a16="http://schemas.microsoft.com/office/drawing/2014/main" id="{550DD9C2-8CB2-68A6-07FB-CE8DD20608C9}"/>
              </a:ext>
            </a:extLst>
          </p:cNvPr>
          <p:cNvSpPr txBox="1"/>
          <p:nvPr/>
        </p:nvSpPr>
        <p:spPr>
          <a:xfrm>
            <a:off x="4432093" y="2451964"/>
            <a:ext cx="202712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400" b="1" dirty="0">
                <a:latin typeface="Arial" panose="020B0604020202020204" pitchFamily="34" charset="0"/>
                <a:ea typeface="Inter" panose="02000503000000020004" pitchFamily="2" charset="0"/>
                <a:cs typeface="Arial" panose="020B0604020202020204" pitchFamily="34" charset="0"/>
              </a:rPr>
              <a:t>Acabamento: </a:t>
            </a:r>
          </a:p>
          <a:p>
            <a:r>
              <a:rPr lang="pt-BR" sz="1400" dirty="0">
                <a:latin typeface="Arial" panose="020B0604020202020204" pitchFamily="34" charset="0"/>
                <a:ea typeface="Inter" panose="02000503000000020004" pitchFamily="2" charset="0"/>
                <a:cs typeface="Arial" panose="020B0604020202020204" pitchFamily="34" charset="0"/>
              </a:rPr>
              <a:t>Semi escovado</a:t>
            </a:r>
          </a:p>
        </p:txBody>
      </p:sp>
      <p:sp>
        <p:nvSpPr>
          <p:cNvPr id="21" name="CaixaDeTexto 20">
            <a:extLst>
              <a:ext uri="{FF2B5EF4-FFF2-40B4-BE49-F238E27FC236}">
                <a16:creationId xmlns:a16="http://schemas.microsoft.com/office/drawing/2014/main" id="{66C451FB-C41B-1CFD-739F-6E0287E87685}"/>
              </a:ext>
            </a:extLst>
          </p:cNvPr>
          <p:cNvSpPr txBox="1"/>
          <p:nvPr/>
        </p:nvSpPr>
        <p:spPr>
          <a:xfrm>
            <a:off x="4403064" y="3187710"/>
            <a:ext cx="202712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400" b="1" dirty="0">
                <a:latin typeface="Arial" panose="020B0604020202020204" pitchFamily="34" charset="0"/>
                <a:ea typeface="Inter" panose="02000503000000020004" pitchFamily="2" charset="0"/>
                <a:cs typeface="Arial" panose="020B0604020202020204" pitchFamily="34" charset="0"/>
              </a:rPr>
              <a:t>Espessura: </a:t>
            </a:r>
          </a:p>
          <a:p>
            <a:r>
              <a:rPr lang="pt-BR" sz="1400" dirty="0">
                <a:latin typeface="Arial" panose="020B0604020202020204" pitchFamily="34" charset="0"/>
                <a:ea typeface="Inter" panose="02000503000000020004" pitchFamily="2" charset="0"/>
                <a:cs typeface="Arial" panose="020B0604020202020204" pitchFamily="34" charset="0"/>
              </a:rPr>
              <a:t>{{espessura}} mm</a:t>
            </a:r>
          </a:p>
        </p:txBody>
      </p:sp>
      <p:sp>
        <p:nvSpPr>
          <p:cNvPr id="22" name="CaixaDeTexto 21">
            <a:extLst>
              <a:ext uri="{FF2B5EF4-FFF2-40B4-BE49-F238E27FC236}">
                <a16:creationId xmlns:a16="http://schemas.microsoft.com/office/drawing/2014/main" id="{F45989E8-5058-0D09-3EBB-BA1AEF14F0BC}"/>
              </a:ext>
            </a:extLst>
          </p:cNvPr>
          <p:cNvSpPr txBox="1"/>
          <p:nvPr/>
        </p:nvSpPr>
        <p:spPr>
          <a:xfrm>
            <a:off x="4459361" y="3917899"/>
            <a:ext cx="224331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400" b="1" dirty="0">
                <a:latin typeface="Arial" panose="020B0604020202020204" pitchFamily="34" charset="0"/>
                <a:ea typeface="Inter" panose="02000503000000020004" pitchFamily="2" charset="0"/>
                <a:cs typeface="Arial" panose="020B0604020202020204" pitchFamily="34" charset="0"/>
              </a:rPr>
              <a:t>Furo central: </a:t>
            </a:r>
          </a:p>
          <a:p>
            <a:r>
              <a:rPr lang="pt-BR" sz="1400" dirty="0">
                <a:latin typeface="Arial" panose="020B0604020202020204" pitchFamily="34" charset="0"/>
                <a:ea typeface="Inter" panose="02000503000000020004" pitchFamily="2" charset="0"/>
                <a:cs typeface="Arial" panose="020B0604020202020204" pitchFamily="34" charset="0"/>
              </a:rPr>
              <a:t>Padrão com {{furo}} mm</a:t>
            </a:r>
          </a:p>
        </p:txBody>
      </p:sp>
      <p:sp>
        <p:nvSpPr>
          <p:cNvPr id="23" name="CaixaDeTexto 22">
            <a:extLst>
              <a:ext uri="{FF2B5EF4-FFF2-40B4-BE49-F238E27FC236}">
                <a16:creationId xmlns:a16="http://schemas.microsoft.com/office/drawing/2014/main" id="{E0CC80D8-85A1-0975-33F1-22A66F9D75BD}"/>
              </a:ext>
            </a:extLst>
          </p:cNvPr>
          <p:cNvSpPr txBox="1"/>
          <p:nvPr/>
        </p:nvSpPr>
        <p:spPr>
          <a:xfrm>
            <a:off x="4403064" y="4648088"/>
            <a:ext cx="202712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400" b="1" dirty="0">
                <a:latin typeface="Arial" panose="020B0604020202020204" pitchFamily="34" charset="0"/>
                <a:ea typeface="Inter" panose="02000503000000020004" pitchFamily="2" charset="0"/>
                <a:cs typeface="Arial" panose="020B0604020202020204" pitchFamily="34" charset="0"/>
              </a:rPr>
              <a:t>Eixo/Haste: </a:t>
            </a:r>
          </a:p>
          <a:p>
            <a:r>
              <a:rPr lang="pt-BR" sz="1400" dirty="0">
                <a:latin typeface="Arial" panose="020B0604020202020204" pitchFamily="34" charset="0"/>
                <a:ea typeface="Inter" panose="02000503000000020004" pitchFamily="2" charset="0"/>
                <a:cs typeface="Arial" panose="020B0604020202020204" pitchFamily="34" charset="0"/>
              </a:rPr>
              <a:t>{{haste}}</a:t>
            </a:r>
          </a:p>
        </p:txBody>
      </p:sp>
      <p:sp>
        <p:nvSpPr>
          <p:cNvPr id="24" name="CaixaDeTexto 23">
            <a:extLst>
              <a:ext uri="{FF2B5EF4-FFF2-40B4-BE49-F238E27FC236}">
                <a16:creationId xmlns:a16="http://schemas.microsoft.com/office/drawing/2014/main" id="{03C86366-DD67-68E7-A0DB-AE570E590437}"/>
              </a:ext>
            </a:extLst>
          </p:cNvPr>
          <p:cNvSpPr txBox="1"/>
          <p:nvPr/>
        </p:nvSpPr>
        <p:spPr>
          <a:xfrm>
            <a:off x="4432091" y="5413239"/>
            <a:ext cx="2376433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400" b="1" dirty="0">
                <a:latin typeface="Arial" panose="020B0604020202020204" pitchFamily="34" charset="0"/>
                <a:ea typeface="Inter" panose="02000503000000020004" pitchFamily="2" charset="0"/>
                <a:cs typeface="Arial" panose="020B0604020202020204" pitchFamily="34" charset="0"/>
              </a:rPr>
              <a:t>RPM: </a:t>
            </a:r>
          </a:p>
          <a:p>
            <a:r>
              <a:rPr lang="pt-BR" sz="1400" dirty="0">
                <a:latin typeface="Arial" panose="020B0604020202020204" pitchFamily="34" charset="0"/>
                <a:ea typeface="Inter" panose="02000503000000020004" pitchFamily="2" charset="0"/>
                <a:cs typeface="Arial" panose="020B0604020202020204" pitchFamily="34" charset="0"/>
              </a:rPr>
              <a:t>Balanceada para altas e baixas rotações</a:t>
            </a:r>
          </a:p>
        </p:txBody>
      </p:sp>
      <p:sp>
        <p:nvSpPr>
          <p:cNvPr id="25" name="Retângulo: Cantos Arredondados 24">
            <a:extLst>
              <a:ext uri="{FF2B5EF4-FFF2-40B4-BE49-F238E27FC236}">
                <a16:creationId xmlns:a16="http://schemas.microsoft.com/office/drawing/2014/main" id="{F927A86B-9387-034A-015B-6970957496C8}"/>
              </a:ext>
            </a:extLst>
          </p:cNvPr>
          <p:cNvSpPr/>
          <p:nvPr/>
        </p:nvSpPr>
        <p:spPr>
          <a:xfrm>
            <a:off x="854426" y="3440714"/>
            <a:ext cx="97631" cy="100335"/>
          </a:xfrm>
          <a:prstGeom prst="roundRect">
            <a:avLst/>
          </a:prstGeom>
          <a:solidFill>
            <a:srgbClr val="E0168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26" name="Retângulo: Cantos Arredondados 25">
            <a:extLst>
              <a:ext uri="{FF2B5EF4-FFF2-40B4-BE49-F238E27FC236}">
                <a16:creationId xmlns:a16="http://schemas.microsoft.com/office/drawing/2014/main" id="{1F45763C-5232-AC56-053C-68B8445F0C62}"/>
              </a:ext>
            </a:extLst>
          </p:cNvPr>
          <p:cNvSpPr/>
          <p:nvPr/>
        </p:nvSpPr>
        <p:spPr>
          <a:xfrm>
            <a:off x="855720" y="4164939"/>
            <a:ext cx="97631" cy="100335"/>
          </a:xfrm>
          <a:prstGeom prst="roundRect">
            <a:avLst/>
          </a:prstGeom>
          <a:solidFill>
            <a:srgbClr val="E0168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27" name="Retângulo: Cantos Arredondados 26">
            <a:extLst>
              <a:ext uri="{FF2B5EF4-FFF2-40B4-BE49-F238E27FC236}">
                <a16:creationId xmlns:a16="http://schemas.microsoft.com/office/drawing/2014/main" id="{50DB1D55-EC39-5F7D-BDBA-9A2941EAF9D0}"/>
              </a:ext>
            </a:extLst>
          </p:cNvPr>
          <p:cNvSpPr/>
          <p:nvPr/>
        </p:nvSpPr>
        <p:spPr>
          <a:xfrm>
            <a:off x="855720" y="4889164"/>
            <a:ext cx="97631" cy="100335"/>
          </a:xfrm>
          <a:prstGeom prst="roundRect">
            <a:avLst/>
          </a:prstGeom>
          <a:solidFill>
            <a:srgbClr val="E0168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28" name="Retângulo: Cantos Arredondados 27">
            <a:extLst>
              <a:ext uri="{FF2B5EF4-FFF2-40B4-BE49-F238E27FC236}">
                <a16:creationId xmlns:a16="http://schemas.microsoft.com/office/drawing/2014/main" id="{2DA7D8D3-CA18-41DE-566D-0201C8858774}"/>
              </a:ext>
            </a:extLst>
          </p:cNvPr>
          <p:cNvSpPr/>
          <p:nvPr/>
        </p:nvSpPr>
        <p:spPr>
          <a:xfrm>
            <a:off x="855720" y="5624682"/>
            <a:ext cx="97631" cy="100335"/>
          </a:xfrm>
          <a:prstGeom prst="roundRect">
            <a:avLst/>
          </a:prstGeom>
          <a:solidFill>
            <a:srgbClr val="E0168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29" name="Retângulo: Cantos Arredondados 28">
            <a:extLst>
              <a:ext uri="{FF2B5EF4-FFF2-40B4-BE49-F238E27FC236}">
                <a16:creationId xmlns:a16="http://schemas.microsoft.com/office/drawing/2014/main" id="{7F1BDEB5-B54D-4E6E-D528-3F6DA142C05E}"/>
              </a:ext>
            </a:extLst>
          </p:cNvPr>
          <p:cNvSpPr/>
          <p:nvPr/>
        </p:nvSpPr>
        <p:spPr>
          <a:xfrm>
            <a:off x="4056192" y="2705196"/>
            <a:ext cx="97631" cy="100335"/>
          </a:xfrm>
          <a:prstGeom prst="roundRect">
            <a:avLst/>
          </a:prstGeom>
          <a:solidFill>
            <a:srgbClr val="E0168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30" name="Retângulo: Cantos Arredondados 29">
            <a:extLst>
              <a:ext uri="{FF2B5EF4-FFF2-40B4-BE49-F238E27FC236}">
                <a16:creationId xmlns:a16="http://schemas.microsoft.com/office/drawing/2014/main" id="{CD7E2E6F-75E9-5561-690E-F06AB494A39C}"/>
              </a:ext>
            </a:extLst>
          </p:cNvPr>
          <p:cNvSpPr/>
          <p:nvPr/>
        </p:nvSpPr>
        <p:spPr>
          <a:xfrm>
            <a:off x="4056191" y="3432564"/>
            <a:ext cx="97631" cy="100335"/>
          </a:xfrm>
          <a:prstGeom prst="roundRect">
            <a:avLst/>
          </a:prstGeom>
          <a:solidFill>
            <a:srgbClr val="E0168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31" name="Retângulo: Cantos Arredondados 30">
            <a:extLst>
              <a:ext uri="{FF2B5EF4-FFF2-40B4-BE49-F238E27FC236}">
                <a16:creationId xmlns:a16="http://schemas.microsoft.com/office/drawing/2014/main" id="{9170F8EA-6834-19E3-2AB3-EC7DF7E0D8B0}"/>
              </a:ext>
            </a:extLst>
          </p:cNvPr>
          <p:cNvSpPr/>
          <p:nvPr/>
        </p:nvSpPr>
        <p:spPr>
          <a:xfrm>
            <a:off x="4056190" y="4159932"/>
            <a:ext cx="97631" cy="100335"/>
          </a:xfrm>
          <a:prstGeom prst="roundRect">
            <a:avLst/>
          </a:prstGeom>
          <a:solidFill>
            <a:srgbClr val="E0168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32" name="Retângulo: Cantos Arredondados 31">
            <a:extLst>
              <a:ext uri="{FF2B5EF4-FFF2-40B4-BE49-F238E27FC236}">
                <a16:creationId xmlns:a16="http://schemas.microsoft.com/office/drawing/2014/main" id="{D0234C0E-B16E-4176-9655-CE9DA95841C3}"/>
              </a:ext>
            </a:extLst>
          </p:cNvPr>
          <p:cNvSpPr/>
          <p:nvPr/>
        </p:nvSpPr>
        <p:spPr>
          <a:xfrm>
            <a:off x="4056189" y="4887300"/>
            <a:ext cx="97631" cy="100335"/>
          </a:xfrm>
          <a:prstGeom prst="roundRect">
            <a:avLst/>
          </a:prstGeom>
          <a:solidFill>
            <a:srgbClr val="E0168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33" name="Retângulo: Cantos Arredondados 32">
            <a:extLst>
              <a:ext uri="{FF2B5EF4-FFF2-40B4-BE49-F238E27FC236}">
                <a16:creationId xmlns:a16="http://schemas.microsoft.com/office/drawing/2014/main" id="{A72C22B6-226C-AEF1-6881-C109734BE165}"/>
              </a:ext>
            </a:extLst>
          </p:cNvPr>
          <p:cNvSpPr/>
          <p:nvPr/>
        </p:nvSpPr>
        <p:spPr>
          <a:xfrm>
            <a:off x="4056189" y="5624682"/>
            <a:ext cx="97631" cy="100335"/>
          </a:xfrm>
          <a:prstGeom prst="roundRect">
            <a:avLst/>
          </a:prstGeom>
          <a:solidFill>
            <a:srgbClr val="E0168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pic>
        <p:nvPicPr>
          <p:cNvPr id="4" name="Imagem 3">
            <a:extLst>
              <a:ext uri="{FF2B5EF4-FFF2-40B4-BE49-F238E27FC236}">
                <a16:creationId xmlns:a16="http://schemas.microsoft.com/office/drawing/2014/main" id="{9FCB2400-B602-315E-6439-BCB8CD6A775C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6872" b="13446"/>
          <a:stretch>
            <a:fillRect/>
          </a:stretch>
        </p:blipFill>
        <p:spPr>
          <a:xfrm>
            <a:off x="440322" y="7372764"/>
            <a:ext cx="6680618" cy="33190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4750210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" name="Imagem 24">
            <a:extLst>
              <a:ext uri="{FF2B5EF4-FFF2-40B4-BE49-F238E27FC236}">
                <a16:creationId xmlns:a16="http://schemas.microsoft.com/office/drawing/2014/main" id="{58B0150A-607A-439B-2AE7-91C0733BC6E1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13" y="0"/>
            <a:ext cx="7558636" cy="10691813"/>
          </a:xfrm>
          <a:prstGeom prst="rect">
            <a:avLst/>
          </a:prstGeom>
        </p:spPr>
      </p:pic>
      <p:sp>
        <p:nvSpPr>
          <p:cNvPr id="4" name="CaixaDeTexto 3">
            <a:extLst>
              <a:ext uri="{FF2B5EF4-FFF2-40B4-BE49-F238E27FC236}">
                <a16:creationId xmlns:a16="http://schemas.microsoft.com/office/drawing/2014/main" id="{4E268EB4-6172-811B-4097-FA9D7F73D484}"/>
              </a:ext>
            </a:extLst>
          </p:cNvPr>
          <p:cNvSpPr txBox="1"/>
          <p:nvPr/>
        </p:nvSpPr>
        <p:spPr>
          <a:xfrm>
            <a:off x="245398" y="703309"/>
            <a:ext cx="6680618" cy="71795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ts val="5100"/>
              </a:lnSpc>
            </a:pPr>
            <a:r>
              <a:rPr lang="pt-BR" sz="4000" b="1" dirty="0">
                <a:solidFill>
                  <a:srgbClr val="E01684"/>
                </a:solidFill>
                <a:latin typeface="Arial Black" panose="020B0A04020102020204" pitchFamily="34" charset="0"/>
                <a:ea typeface="Inter" panose="02000503000000020004" pitchFamily="2" charset="0"/>
              </a:rPr>
              <a:t>Objetivo da Oferta</a:t>
            </a:r>
          </a:p>
        </p:txBody>
      </p:sp>
      <p:sp>
        <p:nvSpPr>
          <p:cNvPr id="5" name="CaixaDeTexto 4">
            <a:extLst>
              <a:ext uri="{FF2B5EF4-FFF2-40B4-BE49-F238E27FC236}">
                <a16:creationId xmlns:a16="http://schemas.microsoft.com/office/drawing/2014/main" id="{994CF1CA-1A58-61AB-93F7-35A2D59D7DF6}"/>
              </a:ext>
            </a:extLst>
          </p:cNvPr>
          <p:cNvSpPr txBox="1"/>
          <p:nvPr/>
        </p:nvSpPr>
        <p:spPr>
          <a:xfrm>
            <a:off x="245397" y="1608980"/>
            <a:ext cx="6680617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400" dirty="0">
                <a:latin typeface="Arial" panose="020B0604020202020204" pitchFamily="34" charset="0"/>
                <a:ea typeface="Inter" panose="02000503000000020004" pitchFamily="2" charset="0"/>
                <a:cs typeface="Arial" panose="020B0604020202020204" pitchFamily="34" charset="0"/>
              </a:rPr>
              <a:t>O objetivo desta proposta é definir o escopo e condições comerciais ideais para o fornecimento do vetor de mistura.  Obedece aos critérios de concorrência (</a:t>
            </a:r>
            <a:r>
              <a:rPr lang="pt-BR" sz="1400" dirty="0" err="1">
                <a:latin typeface="Arial" panose="020B0604020202020204" pitchFamily="34" charset="0"/>
                <a:ea typeface="Inter" panose="02000503000000020004" pitchFamily="2" charset="0"/>
                <a:cs typeface="Arial" panose="020B0604020202020204" pitchFamily="34" charset="0"/>
              </a:rPr>
              <a:t>Farplay</a:t>
            </a:r>
            <a:r>
              <a:rPr lang="pt-BR" sz="1400" dirty="0">
                <a:latin typeface="Arial" panose="020B0604020202020204" pitchFamily="34" charset="0"/>
                <a:ea typeface="Inter" panose="02000503000000020004" pitchFamily="2" charset="0"/>
                <a:cs typeface="Arial" panose="020B0604020202020204" pitchFamily="34" charset="0"/>
              </a:rPr>
              <a:t>) pré-estabelecidos pelo cliente como: segurança, economia de custos, garantia de procedência, balanceamento e baixíssima manutenção. </a:t>
            </a:r>
          </a:p>
        </p:txBody>
      </p:sp>
      <p:sp>
        <p:nvSpPr>
          <p:cNvPr id="6" name="CaixaDeTexto 5">
            <a:extLst>
              <a:ext uri="{FF2B5EF4-FFF2-40B4-BE49-F238E27FC236}">
                <a16:creationId xmlns:a16="http://schemas.microsoft.com/office/drawing/2014/main" id="{459F7859-24E6-43C4-5EA1-85280CEE9A45}"/>
              </a:ext>
            </a:extLst>
          </p:cNvPr>
          <p:cNvSpPr txBox="1"/>
          <p:nvPr/>
        </p:nvSpPr>
        <p:spPr>
          <a:xfrm>
            <a:off x="440322" y="2833173"/>
            <a:ext cx="2230307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400" dirty="0">
                <a:solidFill>
                  <a:srgbClr val="E01684"/>
                </a:solidFill>
                <a:latin typeface="Arial" panose="020B0604020202020204" pitchFamily="34" charset="0"/>
                <a:ea typeface="Inter" panose="02000503000000020004" pitchFamily="2" charset="0"/>
                <a:cs typeface="Arial" panose="020B0604020202020204" pitchFamily="34" charset="0"/>
              </a:rPr>
              <a:t>Aletas dedicadas para melhor usabilidade em qualquer carga de sólido.</a:t>
            </a:r>
          </a:p>
        </p:txBody>
      </p:sp>
      <p:sp>
        <p:nvSpPr>
          <p:cNvPr id="7" name="CaixaDeTexto 6">
            <a:extLst>
              <a:ext uri="{FF2B5EF4-FFF2-40B4-BE49-F238E27FC236}">
                <a16:creationId xmlns:a16="http://schemas.microsoft.com/office/drawing/2014/main" id="{4C16CD1B-2E57-1686-AB08-456399A1B284}"/>
              </a:ext>
            </a:extLst>
          </p:cNvPr>
          <p:cNvSpPr txBox="1"/>
          <p:nvPr/>
        </p:nvSpPr>
        <p:spPr>
          <a:xfrm>
            <a:off x="4410774" y="2916173"/>
            <a:ext cx="2557214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pt-BR" sz="1400" dirty="0">
                <a:solidFill>
                  <a:srgbClr val="E01684"/>
                </a:solidFill>
                <a:latin typeface="Arial" panose="020B0604020202020204" pitchFamily="34" charset="0"/>
                <a:ea typeface="Inter" panose="02000503000000020004" pitchFamily="2" charset="0"/>
                <a:cs typeface="Arial" panose="020B0604020202020204" pitchFamily="34" charset="0"/>
              </a:rPr>
              <a:t>Acabamento recomendado para cosméticos, alimentos, antissépticos, medicamentos, entre outros.</a:t>
            </a:r>
          </a:p>
        </p:txBody>
      </p:sp>
      <p:sp>
        <p:nvSpPr>
          <p:cNvPr id="10" name="CaixaDeTexto 9">
            <a:extLst>
              <a:ext uri="{FF2B5EF4-FFF2-40B4-BE49-F238E27FC236}">
                <a16:creationId xmlns:a16="http://schemas.microsoft.com/office/drawing/2014/main" id="{B4726EC4-31A0-A97C-4811-375E688922B5}"/>
              </a:ext>
            </a:extLst>
          </p:cNvPr>
          <p:cNvSpPr txBox="1"/>
          <p:nvPr/>
        </p:nvSpPr>
        <p:spPr>
          <a:xfrm>
            <a:off x="353769" y="8504931"/>
            <a:ext cx="2230307" cy="95410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400" dirty="0">
                <a:solidFill>
                  <a:srgbClr val="E01684"/>
                </a:solidFill>
                <a:latin typeface="Arial" panose="020B0604020202020204" pitchFamily="34" charset="0"/>
                <a:ea typeface="Inter" panose="02000503000000020004" pitchFamily="2" charset="0"/>
                <a:cs typeface="Arial" panose="020B0604020202020204" pitchFamily="34" charset="0"/>
              </a:rPr>
              <a:t>Aço Inox {{</a:t>
            </a:r>
            <a:r>
              <a:rPr lang="pt-BR" sz="1400" dirty="0" err="1">
                <a:solidFill>
                  <a:srgbClr val="E01684"/>
                </a:solidFill>
                <a:latin typeface="Arial" panose="020B0604020202020204" pitchFamily="34" charset="0"/>
                <a:ea typeface="Inter" panose="02000503000000020004" pitchFamily="2" charset="0"/>
                <a:cs typeface="Arial" panose="020B0604020202020204" pitchFamily="34" charset="0"/>
              </a:rPr>
              <a:t>aisi</a:t>
            </a:r>
            <a:r>
              <a:rPr lang="pt-BR" sz="1400" dirty="0">
                <a:solidFill>
                  <a:srgbClr val="E01684"/>
                </a:solidFill>
                <a:latin typeface="Arial" panose="020B0604020202020204" pitchFamily="34" charset="0"/>
                <a:ea typeface="Inter" panose="02000503000000020004" pitchFamily="2" charset="0"/>
                <a:cs typeface="Arial" panose="020B0604020202020204" pitchFamily="34" charset="0"/>
              </a:rPr>
              <a:t>}} com validação ambiental para evitar contaminação cruzada. </a:t>
            </a:r>
          </a:p>
        </p:txBody>
      </p:sp>
      <p:sp>
        <p:nvSpPr>
          <p:cNvPr id="11" name="CaixaDeTexto 10">
            <a:extLst>
              <a:ext uri="{FF2B5EF4-FFF2-40B4-BE49-F238E27FC236}">
                <a16:creationId xmlns:a16="http://schemas.microsoft.com/office/drawing/2014/main" id="{6CBE7250-DEF4-1096-DD4E-0580BD140C9B}"/>
              </a:ext>
            </a:extLst>
          </p:cNvPr>
          <p:cNvSpPr txBox="1"/>
          <p:nvPr/>
        </p:nvSpPr>
        <p:spPr>
          <a:xfrm>
            <a:off x="4145719" y="8720373"/>
            <a:ext cx="2822269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pt-BR" sz="1400" dirty="0">
                <a:solidFill>
                  <a:srgbClr val="E01684"/>
                </a:solidFill>
                <a:latin typeface="Arial" panose="020B0604020202020204" pitchFamily="34" charset="0"/>
                <a:ea typeface="Inter" panose="02000503000000020004" pitchFamily="2" charset="0"/>
                <a:cs typeface="Arial" panose="020B0604020202020204" pitchFamily="34" charset="0"/>
              </a:rPr>
              <a:t>Abertura do furo em qualquer torno para adaptação do eixo pré-existente</a:t>
            </a:r>
          </a:p>
        </p:txBody>
      </p:sp>
      <p:pic>
        <p:nvPicPr>
          <p:cNvPr id="3" name="Imagem 2">
            <a:extLst>
              <a:ext uri="{FF2B5EF4-FFF2-40B4-BE49-F238E27FC236}">
                <a16:creationId xmlns:a16="http://schemas.microsoft.com/office/drawing/2014/main" id="{3B394259-F095-94AF-5AFF-843205F3654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0369" t="17158" r="10757" b="12398"/>
          <a:stretch>
            <a:fillRect/>
          </a:stretch>
        </p:blipFill>
        <p:spPr>
          <a:xfrm>
            <a:off x="826733" y="3254460"/>
            <a:ext cx="5878867" cy="5250471"/>
          </a:xfrm>
          <a:prstGeom prst="rect">
            <a:avLst/>
          </a:prstGeom>
        </p:spPr>
      </p:pic>
      <p:cxnSp>
        <p:nvCxnSpPr>
          <p:cNvPr id="13" name="Conector de Seta Reta 12">
            <a:extLst>
              <a:ext uri="{FF2B5EF4-FFF2-40B4-BE49-F238E27FC236}">
                <a16:creationId xmlns:a16="http://schemas.microsoft.com/office/drawing/2014/main" id="{86225594-C4EC-23AE-7EA7-D4CDD0F3FABD}"/>
              </a:ext>
            </a:extLst>
          </p:cNvPr>
          <p:cNvCxnSpPr>
            <a:cxnSpLocks/>
          </p:cNvCxnSpPr>
          <p:nvPr/>
        </p:nvCxnSpPr>
        <p:spPr>
          <a:xfrm>
            <a:off x="1525478" y="3642826"/>
            <a:ext cx="1625011" cy="227454"/>
          </a:xfrm>
          <a:prstGeom prst="straightConnector1">
            <a:avLst/>
          </a:prstGeom>
          <a:ln w="19050" cap="flat" cmpd="sng" algn="ctr">
            <a:solidFill>
              <a:schemeClr val="dk1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17" name="Conector de Seta Reta 16">
            <a:extLst>
              <a:ext uri="{FF2B5EF4-FFF2-40B4-BE49-F238E27FC236}">
                <a16:creationId xmlns:a16="http://schemas.microsoft.com/office/drawing/2014/main" id="{BBCF6FA9-48C4-1094-BD65-65857BD3C526}"/>
              </a:ext>
            </a:extLst>
          </p:cNvPr>
          <p:cNvCxnSpPr>
            <a:cxnSpLocks/>
          </p:cNvCxnSpPr>
          <p:nvPr/>
        </p:nvCxnSpPr>
        <p:spPr>
          <a:xfrm flipH="1">
            <a:off x="4145719" y="3771900"/>
            <a:ext cx="1490409" cy="1351994"/>
          </a:xfrm>
          <a:prstGeom prst="straightConnector1">
            <a:avLst/>
          </a:prstGeom>
          <a:ln>
            <a:headEnd type="none" w="med" len="med"/>
            <a:tailEnd type="arrow" w="med" len="med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1" name="Conector de Seta Reta 20">
            <a:extLst>
              <a:ext uri="{FF2B5EF4-FFF2-40B4-BE49-F238E27FC236}">
                <a16:creationId xmlns:a16="http://schemas.microsoft.com/office/drawing/2014/main" id="{B72907E6-1D93-9670-3B15-8A2EA62E334A}"/>
              </a:ext>
            </a:extLst>
          </p:cNvPr>
          <p:cNvCxnSpPr>
            <a:cxnSpLocks/>
          </p:cNvCxnSpPr>
          <p:nvPr/>
        </p:nvCxnSpPr>
        <p:spPr>
          <a:xfrm flipH="1" flipV="1">
            <a:off x="3836334" y="5734050"/>
            <a:ext cx="1490409" cy="2906204"/>
          </a:xfrm>
          <a:prstGeom prst="straightConnector1">
            <a:avLst/>
          </a:prstGeom>
          <a:ln w="19050" cap="flat" cmpd="sng" algn="ctr">
            <a:solidFill>
              <a:schemeClr val="dk1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19" name="Conector de Seta Reta 18">
            <a:extLst>
              <a:ext uri="{FF2B5EF4-FFF2-40B4-BE49-F238E27FC236}">
                <a16:creationId xmlns:a16="http://schemas.microsoft.com/office/drawing/2014/main" id="{EC5AA1ED-2518-1686-0FBF-CAAAFFBAA793}"/>
              </a:ext>
            </a:extLst>
          </p:cNvPr>
          <p:cNvCxnSpPr>
            <a:cxnSpLocks/>
          </p:cNvCxnSpPr>
          <p:nvPr/>
        </p:nvCxnSpPr>
        <p:spPr>
          <a:xfrm flipV="1">
            <a:off x="1264468" y="7340600"/>
            <a:ext cx="1319608" cy="989850"/>
          </a:xfrm>
          <a:prstGeom prst="straightConnector1">
            <a:avLst/>
          </a:prstGeom>
          <a:ln w="19050" cap="flat" cmpd="sng" algn="ctr">
            <a:solidFill>
              <a:schemeClr val="dk1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pic>
        <p:nvPicPr>
          <p:cNvPr id="23" name="Imagem 22">
            <a:extLst>
              <a:ext uri="{FF2B5EF4-FFF2-40B4-BE49-F238E27FC236}">
                <a16:creationId xmlns:a16="http://schemas.microsoft.com/office/drawing/2014/main" id="{5571CB0F-9649-7B4C-8396-DC7F4BBE0698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10855" y="10150411"/>
            <a:ext cx="795338" cy="2746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6521780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Imagem 12">
            <a:extLst>
              <a:ext uri="{FF2B5EF4-FFF2-40B4-BE49-F238E27FC236}">
                <a16:creationId xmlns:a16="http://schemas.microsoft.com/office/drawing/2014/main" id="{53B017D2-BCED-17B2-B63A-4B702D2D6A25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13" y="0"/>
            <a:ext cx="7558636" cy="10691813"/>
          </a:xfrm>
          <a:prstGeom prst="rect">
            <a:avLst/>
          </a:prstGeom>
        </p:spPr>
      </p:pic>
      <p:sp>
        <p:nvSpPr>
          <p:cNvPr id="5" name="CaixaDeTexto 4">
            <a:extLst>
              <a:ext uri="{FF2B5EF4-FFF2-40B4-BE49-F238E27FC236}">
                <a16:creationId xmlns:a16="http://schemas.microsoft.com/office/drawing/2014/main" id="{A9111E26-1C29-2DCB-0179-FE1CA9867733}"/>
              </a:ext>
            </a:extLst>
          </p:cNvPr>
          <p:cNvSpPr txBox="1"/>
          <p:nvPr/>
        </p:nvSpPr>
        <p:spPr>
          <a:xfrm>
            <a:off x="193576" y="728135"/>
            <a:ext cx="6680618" cy="71795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ts val="5100"/>
              </a:lnSpc>
            </a:pPr>
            <a:r>
              <a:rPr lang="pt-BR" sz="4000" b="1" dirty="0">
                <a:solidFill>
                  <a:srgbClr val="E01684"/>
                </a:solidFill>
                <a:latin typeface="Arial Black" panose="020B0A04020102020204" pitchFamily="34" charset="0"/>
                <a:ea typeface="Inter" panose="02000503000000020004" pitchFamily="2" charset="0"/>
              </a:rPr>
              <a:t>Sugestão de Valores</a:t>
            </a:r>
          </a:p>
        </p:txBody>
      </p:sp>
      <p:sp>
        <p:nvSpPr>
          <p:cNvPr id="6" name="CaixaDeTexto 5">
            <a:extLst>
              <a:ext uri="{FF2B5EF4-FFF2-40B4-BE49-F238E27FC236}">
                <a16:creationId xmlns:a16="http://schemas.microsoft.com/office/drawing/2014/main" id="{61C05CDD-B802-2921-6793-2BEF6ADCAADE}"/>
              </a:ext>
            </a:extLst>
          </p:cNvPr>
          <p:cNvSpPr txBox="1"/>
          <p:nvPr/>
        </p:nvSpPr>
        <p:spPr>
          <a:xfrm>
            <a:off x="245395" y="2014435"/>
            <a:ext cx="6680617" cy="113877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2000" b="1" dirty="0">
                <a:latin typeface="Arial" panose="020B0604020202020204" pitchFamily="34" charset="0"/>
                <a:ea typeface="Inter" panose="02000503000000020004" pitchFamily="2" charset="0"/>
                <a:cs typeface="Arial" panose="020B0604020202020204" pitchFamily="34" charset="0"/>
              </a:rPr>
              <a:t>Aquisição:</a:t>
            </a:r>
          </a:p>
          <a:p>
            <a:endParaRPr lang="pt-BR" sz="2000" b="1" dirty="0">
              <a:latin typeface="Arial" panose="020B0604020202020204" pitchFamily="34" charset="0"/>
              <a:ea typeface="Inter" panose="02000503000000020004" pitchFamily="2" charset="0"/>
              <a:cs typeface="Arial" panose="020B0604020202020204" pitchFamily="34" charset="0"/>
            </a:endParaRPr>
          </a:p>
          <a:p>
            <a:r>
              <a:rPr lang="pt-BR" sz="1400" dirty="0">
                <a:latin typeface="Arial" panose="020B0604020202020204" pitchFamily="34" charset="0"/>
                <a:ea typeface="Inter" panose="02000503000000020004" pitchFamily="2" charset="0"/>
                <a:cs typeface="Arial" panose="020B0604020202020204" pitchFamily="34" charset="0"/>
              </a:rPr>
              <a:t>- Vetor </a:t>
            </a:r>
            <a:r>
              <a:rPr lang="pt-BR" sz="1400" dirty="0" err="1">
                <a:latin typeface="Arial" panose="020B0604020202020204" pitchFamily="34" charset="0"/>
                <a:ea typeface="Inter" panose="02000503000000020004" pitchFamily="2" charset="0"/>
                <a:cs typeface="Arial" panose="020B0604020202020204" pitchFamily="34" charset="0"/>
              </a:rPr>
              <a:t>Defloculadora</a:t>
            </a:r>
            <a:r>
              <a:rPr lang="pt-BR" sz="1400" dirty="0">
                <a:latin typeface="Arial" panose="020B0604020202020204" pitchFamily="34" charset="0"/>
                <a:ea typeface="Inter" panose="02000503000000020004" pitchFamily="2" charset="0"/>
                <a:cs typeface="Arial" panose="020B0604020202020204" pitchFamily="34" charset="0"/>
              </a:rPr>
              <a:t> de Alta Homogeneização {{</a:t>
            </a:r>
            <a:r>
              <a:rPr lang="pt-BR" sz="1400" dirty="0" err="1">
                <a:latin typeface="Arial" panose="020B0604020202020204" pitchFamily="34" charset="0"/>
                <a:ea typeface="Inter" panose="02000503000000020004" pitchFamily="2" charset="0"/>
                <a:cs typeface="Arial" panose="020B0604020202020204" pitchFamily="34" charset="0"/>
              </a:rPr>
              <a:t>diametro_corpo</a:t>
            </a:r>
            <a:r>
              <a:rPr lang="pt-BR" sz="1400" dirty="0">
                <a:latin typeface="Arial" panose="020B0604020202020204" pitchFamily="34" charset="0"/>
                <a:ea typeface="Inter" panose="02000503000000020004" pitchFamily="2" charset="0"/>
                <a:cs typeface="Arial" panose="020B0604020202020204" pitchFamily="34" charset="0"/>
              </a:rPr>
              <a:t>}} mm: (Inox {{</a:t>
            </a:r>
            <a:r>
              <a:rPr lang="pt-BR" sz="1400" dirty="0" err="1">
                <a:latin typeface="Arial" panose="020B0604020202020204" pitchFamily="34" charset="0"/>
                <a:ea typeface="Inter" panose="02000503000000020004" pitchFamily="2" charset="0"/>
                <a:cs typeface="Arial" panose="020B0604020202020204" pitchFamily="34" charset="0"/>
              </a:rPr>
              <a:t>aisi</a:t>
            </a:r>
            <a:r>
              <a:rPr lang="pt-BR" sz="1400" dirty="0">
                <a:latin typeface="Arial" panose="020B0604020202020204" pitchFamily="34" charset="0"/>
                <a:ea typeface="Inter" panose="02000503000000020004" pitchFamily="2" charset="0"/>
                <a:cs typeface="Arial" panose="020B0604020202020204" pitchFamily="34" charset="0"/>
              </a:rPr>
              <a:t>}} / Verde) R$ {{</a:t>
            </a:r>
            <a:r>
              <a:rPr lang="pt-BR" sz="1400" dirty="0" err="1">
                <a:latin typeface="Arial" panose="020B0604020202020204" pitchFamily="34" charset="0"/>
                <a:ea typeface="Inter" panose="02000503000000020004" pitchFamily="2" charset="0"/>
                <a:cs typeface="Arial" panose="020B0604020202020204" pitchFamily="34" charset="0"/>
              </a:rPr>
              <a:t>preco_unitario</a:t>
            </a:r>
            <a:r>
              <a:rPr lang="pt-BR" sz="1400" dirty="0">
                <a:latin typeface="Arial" panose="020B0604020202020204" pitchFamily="34" charset="0"/>
                <a:ea typeface="Inter" panose="02000503000000020004" pitchFamily="2" charset="0"/>
                <a:cs typeface="Arial" panose="020B0604020202020204" pitchFamily="34" charset="0"/>
              </a:rPr>
              <a:t>}} (Unitário) // R$ {{</a:t>
            </a:r>
            <a:r>
              <a:rPr lang="pt-BR" sz="1400" dirty="0" err="1">
                <a:latin typeface="Arial" panose="020B0604020202020204" pitchFamily="34" charset="0"/>
                <a:ea typeface="Inter" panose="02000503000000020004" pitchFamily="2" charset="0"/>
                <a:cs typeface="Arial" panose="020B0604020202020204" pitchFamily="34" charset="0"/>
              </a:rPr>
              <a:t>preco_lote</a:t>
            </a:r>
            <a:r>
              <a:rPr lang="pt-BR" sz="1400" dirty="0">
                <a:latin typeface="Arial" panose="020B0604020202020204" pitchFamily="34" charset="0"/>
                <a:ea typeface="Inter" panose="02000503000000020004" pitchFamily="2" charset="0"/>
                <a:cs typeface="Arial" panose="020B0604020202020204" pitchFamily="34" charset="0"/>
              </a:rPr>
              <a:t>}} (Lote)</a:t>
            </a:r>
          </a:p>
        </p:txBody>
      </p:sp>
      <p:sp>
        <p:nvSpPr>
          <p:cNvPr id="7" name="CaixaDeTexto 6">
            <a:extLst>
              <a:ext uri="{FF2B5EF4-FFF2-40B4-BE49-F238E27FC236}">
                <a16:creationId xmlns:a16="http://schemas.microsoft.com/office/drawing/2014/main" id="{C7D46D8F-E44C-F399-B8B9-0F277FFF5FCC}"/>
              </a:ext>
            </a:extLst>
          </p:cNvPr>
          <p:cNvSpPr txBox="1"/>
          <p:nvPr/>
        </p:nvSpPr>
        <p:spPr>
          <a:xfrm>
            <a:off x="245395" y="3719807"/>
            <a:ext cx="6680617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2000" b="1" dirty="0">
                <a:latin typeface="Arial" panose="020B0604020202020204" pitchFamily="34" charset="0"/>
                <a:ea typeface="Inter" panose="02000503000000020004" pitchFamily="2" charset="0"/>
                <a:cs typeface="Arial" panose="020B0604020202020204" pitchFamily="34" charset="0"/>
              </a:rPr>
              <a:t>Equipamento Acompanha:</a:t>
            </a:r>
          </a:p>
          <a:p>
            <a:endParaRPr lang="pt-BR" sz="2000" b="1" dirty="0">
              <a:latin typeface="Arial" panose="020B0604020202020204" pitchFamily="34" charset="0"/>
              <a:ea typeface="Inter" panose="02000503000000020004" pitchFamily="2" charset="0"/>
              <a:cs typeface="Arial" panose="020B0604020202020204" pitchFamily="34" charset="0"/>
            </a:endParaRPr>
          </a:p>
          <a:p>
            <a:r>
              <a:rPr lang="pt-BR" sz="1400" dirty="0">
                <a:latin typeface="Arial" panose="020B0604020202020204" pitchFamily="34" charset="0"/>
                <a:ea typeface="Inter" panose="02000503000000020004" pitchFamily="2" charset="0"/>
                <a:cs typeface="Arial" panose="020B0604020202020204" pitchFamily="34" charset="0"/>
              </a:rPr>
              <a:t>Vetor em Aço Inox + Consultoria Técnica Full Time</a:t>
            </a:r>
          </a:p>
        </p:txBody>
      </p:sp>
      <p:sp>
        <p:nvSpPr>
          <p:cNvPr id="8" name="CaixaDeTexto 7">
            <a:extLst>
              <a:ext uri="{FF2B5EF4-FFF2-40B4-BE49-F238E27FC236}">
                <a16:creationId xmlns:a16="http://schemas.microsoft.com/office/drawing/2014/main" id="{04E4F6F1-4ABA-1D0B-6126-31DE2E71021B}"/>
              </a:ext>
            </a:extLst>
          </p:cNvPr>
          <p:cNvSpPr txBox="1"/>
          <p:nvPr/>
        </p:nvSpPr>
        <p:spPr>
          <a:xfrm>
            <a:off x="245395" y="5052654"/>
            <a:ext cx="6680617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2000" b="1" dirty="0">
                <a:latin typeface="Arial" panose="020B0604020202020204" pitchFamily="34" charset="0"/>
                <a:ea typeface="Inter" panose="02000503000000020004" pitchFamily="2" charset="0"/>
                <a:cs typeface="Arial" panose="020B0604020202020204" pitchFamily="34" charset="0"/>
              </a:rPr>
              <a:t>Escolha sua Forma de Pagamento:</a:t>
            </a:r>
          </a:p>
          <a:p>
            <a:endParaRPr lang="pt-BR" sz="2000" b="1" dirty="0">
              <a:latin typeface="Arial" panose="020B0604020202020204" pitchFamily="34" charset="0"/>
              <a:ea typeface="Inter" panose="02000503000000020004" pitchFamily="2" charset="0"/>
              <a:cs typeface="Arial" panose="020B0604020202020204" pitchFamily="34" charset="0"/>
            </a:endParaRPr>
          </a:p>
          <a:p>
            <a:r>
              <a:rPr lang="pt-BR" sz="1400" dirty="0">
                <a:latin typeface="Arial" panose="020B0604020202020204" pitchFamily="34" charset="0"/>
                <a:ea typeface="Inter" panose="02000503000000020004" pitchFamily="2" charset="0"/>
                <a:cs typeface="Arial" panose="020B0604020202020204" pitchFamily="34" charset="0"/>
              </a:rPr>
              <a:t>- À vista  </a:t>
            </a:r>
          </a:p>
          <a:p>
            <a:r>
              <a:rPr lang="pt-BR" sz="1400" dirty="0">
                <a:latin typeface="Arial" panose="020B0604020202020204" pitchFamily="34" charset="0"/>
                <a:ea typeface="Inter" panose="02000503000000020004" pitchFamily="2" charset="0"/>
                <a:cs typeface="Arial" panose="020B0604020202020204" pitchFamily="34" charset="0"/>
              </a:rPr>
              <a:t>- 50% de entrada + 50% em 30 dias </a:t>
            </a:r>
          </a:p>
          <a:p>
            <a:r>
              <a:rPr lang="pt-BR" sz="1400" dirty="0">
                <a:latin typeface="Arial" panose="020B0604020202020204" pitchFamily="34" charset="0"/>
                <a:ea typeface="Inter" panose="02000503000000020004" pitchFamily="2" charset="0"/>
                <a:cs typeface="Arial" panose="020B0604020202020204" pitchFamily="34" charset="0"/>
              </a:rPr>
              <a:t>- Faturado mediante aprovação cadastral </a:t>
            </a:r>
          </a:p>
          <a:p>
            <a:r>
              <a:rPr lang="pt-BR" sz="1400" dirty="0">
                <a:latin typeface="Arial" panose="020B0604020202020204" pitchFamily="34" charset="0"/>
                <a:ea typeface="Inter" panose="02000503000000020004" pitchFamily="2" charset="0"/>
                <a:cs typeface="Arial" panose="020B0604020202020204" pitchFamily="34" charset="0"/>
              </a:rPr>
              <a:t>- Cartão de crédito </a:t>
            </a:r>
          </a:p>
        </p:txBody>
      </p:sp>
      <p:sp>
        <p:nvSpPr>
          <p:cNvPr id="9" name="CaixaDeTexto 8">
            <a:extLst>
              <a:ext uri="{FF2B5EF4-FFF2-40B4-BE49-F238E27FC236}">
                <a16:creationId xmlns:a16="http://schemas.microsoft.com/office/drawing/2014/main" id="{E32B3B0E-B1FB-44E3-8C44-A28C78AD2945}"/>
              </a:ext>
            </a:extLst>
          </p:cNvPr>
          <p:cNvSpPr txBox="1"/>
          <p:nvPr/>
        </p:nvSpPr>
        <p:spPr>
          <a:xfrm>
            <a:off x="245396" y="7155511"/>
            <a:ext cx="6680617" cy="113877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2000" b="1" dirty="0">
                <a:latin typeface="Arial" panose="020B0604020202020204" pitchFamily="34" charset="0"/>
                <a:ea typeface="Inter" panose="02000503000000020004" pitchFamily="2" charset="0"/>
                <a:cs typeface="Arial" panose="020B0604020202020204" pitchFamily="34" charset="0"/>
              </a:rPr>
              <a:t>Escolha sua forma de Envio:</a:t>
            </a:r>
          </a:p>
          <a:p>
            <a:endParaRPr lang="pt-BR" sz="2000" b="1" dirty="0">
              <a:latin typeface="Arial" panose="020B0604020202020204" pitchFamily="34" charset="0"/>
              <a:ea typeface="Inter" panose="02000503000000020004" pitchFamily="2" charset="0"/>
              <a:cs typeface="Arial" panose="020B0604020202020204" pitchFamily="34" charset="0"/>
            </a:endParaRPr>
          </a:p>
          <a:p>
            <a:r>
              <a:rPr lang="pt-BR" sz="1400" dirty="0">
                <a:latin typeface="Arial" panose="020B0604020202020204" pitchFamily="34" charset="0"/>
                <a:ea typeface="Inter" panose="02000503000000020004" pitchFamily="2" charset="0"/>
                <a:cs typeface="Arial" panose="020B0604020202020204" pitchFamily="34" charset="0"/>
              </a:rPr>
              <a:t>- Via PAC – R$ {{</a:t>
            </a:r>
            <a:r>
              <a:rPr lang="pt-BR" sz="1400" dirty="0" err="1">
                <a:latin typeface="Arial" panose="020B0604020202020204" pitchFamily="34" charset="0"/>
                <a:ea typeface="Inter" panose="02000503000000020004" pitchFamily="2" charset="0"/>
                <a:cs typeface="Arial" panose="020B0604020202020204" pitchFamily="34" charset="0"/>
              </a:rPr>
              <a:t>frete_pac</a:t>
            </a:r>
            <a:r>
              <a:rPr lang="pt-BR" sz="1400" dirty="0">
                <a:latin typeface="Arial" panose="020B0604020202020204" pitchFamily="34" charset="0"/>
                <a:ea typeface="Inter" panose="02000503000000020004" pitchFamily="2" charset="0"/>
                <a:cs typeface="Arial" panose="020B0604020202020204" pitchFamily="34" charset="0"/>
              </a:rPr>
              <a:t>}} </a:t>
            </a:r>
          </a:p>
          <a:p>
            <a:r>
              <a:rPr lang="pt-BR" sz="1400" dirty="0">
                <a:latin typeface="Arial" panose="020B0604020202020204" pitchFamily="34" charset="0"/>
                <a:ea typeface="Inter" panose="02000503000000020004" pitchFamily="2" charset="0"/>
                <a:cs typeface="Arial" panose="020B0604020202020204" pitchFamily="34" charset="0"/>
              </a:rPr>
              <a:t>- Via SEDEX -  R$ {{</a:t>
            </a:r>
            <a:r>
              <a:rPr lang="pt-BR" sz="1400" dirty="0" err="1">
                <a:latin typeface="Arial" panose="020B0604020202020204" pitchFamily="34" charset="0"/>
                <a:ea typeface="Inter" panose="02000503000000020004" pitchFamily="2" charset="0"/>
                <a:cs typeface="Arial" panose="020B0604020202020204" pitchFamily="34" charset="0"/>
              </a:rPr>
              <a:t>frete_sedex</a:t>
            </a:r>
            <a:r>
              <a:rPr lang="pt-BR" sz="1400" dirty="0">
                <a:latin typeface="Arial" panose="020B0604020202020204" pitchFamily="34" charset="0"/>
                <a:ea typeface="Inter" panose="02000503000000020004" pitchFamily="2" charset="0"/>
                <a:cs typeface="Arial" panose="020B0604020202020204" pitchFamily="34" charset="0"/>
              </a:rPr>
              <a:t>}}</a:t>
            </a:r>
          </a:p>
        </p:txBody>
      </p:sp>
      <p:sp>
        <p:nvSpPr>
          <p:cNvPr id="10" name="CaixaDeTexto 9">
            <a:extLst>
              <a:ext uri="{FF2B5EF4-FFF2-40B4-BE49-F238E27FC236}">
                <a16:creationId xmlns:a16="http://schemas.microsoft.com/office/drawing/2014/main" id="{9FF1F0D0-67BE-9938-A38E-68B114009BCE}"/>
              </a:ext>
            </a:extLst>
          </p:cNvPr>
          <p:cNvSpPr txBox="1"/>
          <p:nvPr/>
        </p:nvSpPr>
        <p:spPr>
          <a:xfrm>
            <a:off x="245395" y="8783475"/>
            <a:ext cx="6680617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2000" b="1" dirty="0">
                <a:latin typeface="Arial" panose="020B0604020202020204" pitchFamily="34" charset="0"/>
                <a:ea typeface="Inter" panose="02000503000000020004" pitchFamily="2" charset="0"/>
                <a:cs typeface="Arial" panose="020B0604020202020204" pitchFamily="34" charset="0"/>
              </a:rPr>
              <a:t>Envio:</a:t>
            </a:r>
          </a:p>
          <a:p>
            <a:endParaRPr lang="pt-BR" sz="2000" b="1" dirty="0">
              <a:latin typeface="Arial" panose="020B0604020202020204" pitchFamily="34" charset="0"/>
              <a:ea typeface="Inter" panose="02000503000000020004" pitchFamily="2" charset="0"/>
              <a:cs typeface="Arial" panose="020B0604020202020204" pitchFamily="34" charset="0"/>
            </a:endParaRPr>
          </a:p>
          <a:p>
            <a:r>
              <a:rPr lang="pt-BR" sz="1400" dirty="0">
                <a:latin typeface="Arial" panose="020B0604020202020204" pitchFamily="34" charset="0"/>
                <a:ea typeface="Inter" panose="02000503000000020004" pitchFamily="2" charset="0"/>
                <a:cs typeface="Arial" panose="020B0604020202020204" pitchFamily="34" charset="0"/>
              </a:rPr>
              <a:t>{{</a:t>
            </a:r>
            <a:r>
              <a:rPr lang="pt-BR" sz="1400" dirty="0" err="1">
                <a:latin typeface="Arial" panose="020B0604020202020204" pitchFamily="34" charset="0"/>
                <a:ea typeface="Inter" panose="02000503000000020004" pitchFamily="2" charset="0"/>
                <a:cs typeface="Arial" panose="020B0604020202020204" pitchFamily="34" charset="0"/>
              </a:rPr>
              <a:t>condiçao_envio</a:t>
            </a:r>
            <a:r>
              <a:rPr lang="pt-BR" sz="1400" dirty="0">
                <a:latin typeface="Arial" panose="020B0604020202020204" pitchFamily="34" charset="0"/>
                <a:ea typeface="Inter" panose="02000503000000020004" pitchFamily="2" charset="0"/>
                <a:cs typeface="Arial" panose="020B0604020202020204" pitchFamily="34" charset="0"/>
              </a:rPr>
              <a:t>}}</a:t>
            </a:r>
          </a:p>
        </p:txBody>
      </p:sp>
      <p:pic>
        <p:nvPicPr>
          <p:cNvPr id="11" name="Imagem 10">
            <a:extLst>
              <a:ext uri="{FF2B5EF4-FFF2-40B4-BE49-F238E27FC236}">
                <a16:creationId xmlns:a16="http://schemas.microsoft.com/office/drawing/2014/main" id="{C0F997C1-CDD9-B71B-4FBD-4ADFA8F459E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10855" y="10150411"/>
            <a:ext cx="795338" cy="2746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125598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tângulo 1">
            <a:extLst>
              <a:ext uri="{FF2B5EF4-FFF2-40B4-BE49-F238E27FC236}">
                <a16:creationId xmlns:a16="http://schemas.microsoft.com/office/drawing/2014/main" id="{C00599EE-FD6D-B2D1-C7D1-4E799D7D874E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-171449" y="-1"/>
            <a:ext cx="679449" cy="10691813"/>
          </a:xfrm>
          <a:prstGeom prst="rect">
            <a:avLst/>
          </a:prstGeom>
          <a:solidFill>
            <a:srgbClr val="F4F0E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pic>
        <p:nvPicPr>
          <p:cNvPr id="11" name="Imagem 10">
            <a:extLst>
              <a:ext uri="{FF2B5EF4-FFF2-40B4-BE49-F238E27FC236}">
                <a16:creationId xmlns:a16="http://schemas.microsoft.com/office/drawing/2014/main" id="{E98E0F27-3B3F-063A-1085-6DF67A1021AA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94981" y="0"/>
            <a:ext cx="7558636" cy="10691813"/>
          </a:xfrm>
          <a:prstGeom prst="rect">
            <a:avLst/>
          </a:prstGeom>
        </p:spPr>
      </p:pic>
      <p:sp>
        <p:nvSpPr>
          <p:cNvPr id="4" name="CaixaDeTexto 3">
            <a:extLst>
              <a:ext uri="{FF2B5EF4-FFF2-40B4-BE49-F238E27FC236}">
                <a16:creationId xmlns:a16="http://schemas.microsoft.com/office/drawing/2014/main" id="{307D2093-2261-F9A9-C92B-6752AF3E3C27}"/>
              </a:ext>
            </a:extLst>
          </p:cNvPr>
          <p:cNvSpPr txBox="1"/>
          <p:nvPr/>
        </p:nvSpPr>
        <p:spPr>
          <a:xfrm>
            <a:off x="216368" y="741884"/>
            <a:ext cx="6680617" cy="113877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2000" b="1" dirty="0">
                <a:latin typeface="Arial" panose="020B0604020202020204" pitchFamily="34" charset="0"/>
                <a:ea typeface="Inter" panose="02000503000000020004" pitchFamily="2" charset="0"/>
                <a:cs typeface="Arial" panose="020B0604020202020204" pitchFamily="34" charset="0"/>
              </a:rPr>
              <a:t>Impostos e Classificação Fiscal:</a:t>
            </a:r>
          </a:p>
          <a:p>
            <a:endParaRPr lang="pt-BR" sz="2000" b="1" dirty="0">
              <a:latin typeface="Arial" panose="020B0604020202020204" pitchFamily="34" charset="0"/>
              <a:ea typeface="Inter" panose="02000503000000020004" pitchFamily="2" charset="0"/>
              <a:cs typeface="Arial" panose="020B0604020202020204" pitchFamily="34" charset="0"/>
            </a:endParaRPr>
          </a:p>
          <a:p>
            <a:r>
              <a:rPr lang="pt-BR" sz="1400" b="1" dirty="0">
                <a:latin typeface="Arial" panose="020B0604020202020204" pitchFamily="34" charset="0"/>
                <a:ea typeface="Inter" panose="02000503000000020004" pitchFamily="2" charset="0"/>
                <a:cs typeface="Arial" panose="020B0604020202020204" pitchFamily="34" charset="0"/>
              </a:rPr>
              <a:t>IPI: </a:t>
            </a:r>
            <a:r>
              <a:rPr lang="pt-BR" sz="1400" dirty="0">
                <a:latin typeface="Arial" panose="020B0604020202020204" pitchFamily="34" charset="0"/>
                <a:ea typeface="Inter" panose="02000503000000020004" pitchFamily="2" charset="0"/>
                <a:cs typeface="Arial" panose="020B0604020202020204" pitchFamily="34" charset="0"/>
              </a:rPr>
              <a:t>0% | </a:t>
            </a:r>
            <a:r>
              <a:rPr lang="pt-BR" sz="1400" b="1" dirty="0">
                <a:latin typeface="Arial" panose="020B0604020202020204" pitchFamily="34" charset="0"/>
                <a:ea typeface="Inter" panose="02000503000000020004" pitchFamily="2" charset="0"/>
                <a:cs typeface="Arial" panose="020B0604020202020204" pitchFamily="34" charset="0"/>
              </a:rPr>
              <a:t>ICMS: </a:t>
            </a:r>
            <a:r>
              <a:rPr lang="pt-BR" sz="1400" dirty="0">
                <a:latin typeface="Arial" panose="020B0604020202020204" pitchFamily="34" charset="0"/>
                <a:ea typeface="Inter" panose="02000503000000020004" pitchFamily="2" charset="0"/>
                <a:cs typeface="Arial" panose="020B0604020202020204" pitchFamily="34" charset="0"/>
              </a:rPr>
              <a:t>8.8% (incluso) | </a:t>
            </a:r>
            <a:r>
              <a:rPr lang="pt-BR" sz="1400" b="1" dirty="0">
                <a:latin typeface="Arial" panose="020B0604020202020204" pitchFamily="34" charset="0"/>
                <a:ea typeface="Inter" panose="02000503000000020004" pitchFamily="2" charset="0"/>
                <a:cs typeface="Arial" panose="020B0604020202020204" pitchFamily="34" charset="0"/>
              </a:rPr>
              <a:t>IMPOSTOS: </a:t>
            </a:r>
            <a:r>
              <a:rPr lang="pt-BR" sz="1400" dirty="0">
                <a:latin typeface="Arial" panose="020B0604020202020204" pitchFamily="34" charset="0"/>
                <a:ea typeface="Inter" panose="02000503000000020004" pitchFamily="2" charset="0"/>
                <a:cs typeface="Arial" panose="020B0604020202020204" pitchFamily="34" charset="0"/>
              </a:rPr>
              <a:t>Inclusos - Optante Simples</a:t>
            </a:r>
          </a:p>
          <a:p>
            <a:endParaRPr lang="pt-BR" sz="1400" dirty="0">
              <a:latin typeface="Arial" panose="020B0604020202020204" pitchFamily="34" charset="0"/>
              <a:ea typeface="Inter" panose="02000503000000020004" pitchFamily="2" charset="0"/>
              <a:cs typeface="Arial" panose="020B0604020202020204" pitchFamily="34" charset="0"/>
            </a:endParaRPr>
          </a:p>
        </p:txBody>
      </p:sp>
      <p:sp>
        <p:nvSpPr>
          <p:cNvPr id="5" name="CaixaDeTexto 4">
            <a:extLst>
              <a:ext uri="{FF2B5EF4-FFF2-40B4-BE49-F238E27FC236}">
                <a16:creationId xmlns:a16="http://schemas.microsoft.com/office/drawing/2014/main" id="{DCD9471C-41E9-84AE-D3D1-62ACA4C1A695}"/>
              </a:ext>
            </a:extLst>
          </p:cNvPr>
          <p:cNvSpPr txBox="1"/>
          <p:nvPr/>
        </p:nvSpPr>
        <p:spPr>
          <a:xfrm>
            <a:off x="201856" y="2458071"/>
            <a:ext cx="6985438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2000" b="1" dirty="0">
                <a:latin typeface="Arial" panose="020B0604020202020204" pitchFamily="34" charset="0"/>
                <a:ea typeface="Inter" panose="02000503000000020004" pitchFamily="2" charset="0"/>
                <a:cs typeface="Arial" panose="020B0604020202020204" pitchFamily="34" charset="0"/>
              </a:rPr>
              <a:t>Dados Bancários:</a:t>
            </a:r>
          </a:p>
          <a:p>
            <a:endParaRPr lang="pt-BR" sz="2000" b="1" dirty="0">
              <a:latin typeface="Arial" panose="020B0604020202020204" pitchFamily="34" charset="0"/>
              <a:ea typeface="Inter" panose="02000503000000020004" pitchFamily="2" charset="0"/>
              <a:cs typeface="Arial" panose="020B0604020202020204" pitchFamily="34" charset="0"/>
            </a:endParaRPr>
          </a:p>
          <a:p>
            <a:r>
              <a:rPr lang="pt-BR" sz="1400" b="1" dirty="0">
                <a:latin typeface="Arial" panose="020B0604020202020204" pitchFamily="34" charset="0"/>
                <a:ea typeface="Inter" panose="02000503000000020004" pitchFamily="2" charset="0"/>
                <a:cs typeface="Arial" panose="020B0604020202020204" pitchFamily="34" charset="0"/>
              </a:rPr>
              <a:t>Banco: </a:t>
            </a:r>
            <a:r>
              <a:rPr lang="pt-BR" sz="1400" dirty="0">
                <a:latin typeface="Arial" panose="020B0604020202020204" pitchFamily="34" charset="0"/>
                <a:ea typeface="Inter" panose="02000503000000020004" pitchFamily="2" charset="0"/>
                <a:cs typeface="Arial" panose="020B0604020202020204" pitchFamily="34" charset="0"/>
              </a:rPr>
              <a:t>Bradesco |</a:t>
            </a:r>
            <a:r>
              <a:rPr lang="pt-BR" sz="1400" b="1" dirty="0">
                <a:latin typeface="Arial" panose="020B0604020202020204" pitchFamily="34" charset="0"/>
                <a:ea typeface="Inter" panose="02000503000000020004" pitchFamily="2" charset="0"/>
                <a:cs typeface="Arial" panose="020B0604020202020204" pitchFamily="34" charset="0"/>
              </a:rPr>
              <a:t> Agência</a:t>
            </a:r>
            <a:r>
              <a:rPr lang="pt-BR" sz="1400" dirty="0">
                <a:latin typeface="Arial" panose="020B0604020202020204" pitchFamily="34" charset="0"/>
                <a:ea typeface="Inter" panose="02000503000000020004" pitchFamily="2" charset="0"/>
                <a:cs typeface="Arial" panose="020B0604020202020204" pitchFamily="34" charset="0"/>
              </a:rPr>
              <a:t>: 0516 | </a:t>
            </a:r>
            <a:r>
              <a:rPr lang="pt-BR" sz="1400" b="1" dirty="0">
                <a:latin typeface="Arial" panose="020B0604020202020204" pitchFamily="34" charset="0"/>
                <a:ea typeface="Inter" panose="02000503000000020004" pitchFamily="2" charset="0"/>
                <a:cs typeface="Arial" panose="020B0604020202020204" pitchFamily="34" charset="0"/>
              </a:rPr>
              <a:t>Conta Corrente: </a:t>
            </a:r>
            <a:r>
              <a:rPr lang="pt-BR" sz="1400" dirty="0">
                <a:latin typeface="Arial" panose="020B0604020202020204" pitchFamily="34" charset="0"/>
                <a:ea typeface="Inter" panose="02000503000000020004" pitchFamily="2" charset="0"/>
                <a:cs typeface="Arial" panose="020B0604020202020204" pitchFamily="34" charset="0"/>
              </a:rPr>
              <a:t>0293863-4 </a:t>
            </a:r>
          </a:p>
          <a:p>
            <a:r>
              <a:rPr lang="pt-BR" sz="1400" b="1" dirty="0">
                <a:latin typeface="Arial" panose="020B0604020202020204" pitchFamily="34" charset="0"/>
                <a:ea typeface="Inter" panose="02000503000000020004" pitchFamily="2" charset="0"/>
                <a:cs typeface="Arial" panose="020B0604020202020204" pitchFamily="34" charset="0"/>
              </a:rPr>
              <a:t>Razão social: </a:t>
            </a:r>
            <a:r>
              <a:rPr lang="pt-BR" sz="1400" dirty="0">
                <a:latin typeface="Arial" panose="020B0604020202020204" pitchFamily="34" charset="0"/>
                <a:ea typeface="Inter" panose="02000503000000020004" pitchFamily="2" charset="0"/>
                <a:cs typeface="Arial" panose="020B0604020202020204" pitchFamily="34" charset="0"/>
              </a:rPr>
              <a:t>Só Comércio de Equipamentos para Inteligência e Mistura LTDA. | </a:t>
            </a:r>
            <a:r>
              <a:rPr lang="pt-BR" sz="1400" b="1" dirty="0">
                <a:latin typeface="Arial" panose="020B0604020202020204" pitchFamily="34" charset="0"/>
                <a:ea typeface="Inter" panose="02000503000000020004" pitchFamily="2" charset="0"/>
                <a:cs typeface="Arial" panose="020B0604020202020204" pitchFamily="34" charset="0"/>
              </a:rPr>
              <a:t>CNPJ: </a:t>
            </a:r>
            <a:r>
              <a:rPr lang="pt-BR" sz="1400" dirty="0">
                <a:latin typeface="Arial" panose="020B0604020202020204" pitchFamily="34" charset="0"/>
                <a:ea typeface="Inter" panose="02000503000000020004" pitchFamily="2" charset="0"/>
                <a:cs typeface="Arial" panose="020B0604020202020204" pitchFamily="34" charset="0"/>
              </a:rPr>
              <a:t>26.863.716/0001-06 (Pix) </a:t>
            </a:r>
          </a:p>
          <a:p>
            <a:endParaRPr lang="pt-BR" sz="1400" dirty="0">
              <a:latin typeface="Arial" panose="020B0604020202020204" pitchFamily="34" charset="0"/>
              <a:ea typeface="Inter" panose="02000503000000020004" pitchFamily="2" charset="0"/>
              <a:cs typeface="Arial" panose="020B0604020202020204" pitchFamily="34" charset="0"/>
            </a:endParaRPr>
          </a:p>
        </p:txBody>
      </p:sp>
      <p:sp>
        <p:nvSpPr>
          <p:cNvPr id="6" name="CaixaDeTexto 5">
            <a:extLst>
              <a:ext uri="{FF2B5EF4-FFF2-40B4-BE49-F238E27FC236}">
                <a16:creationId xmlns:a16="http://schemas.microsoft.com/office/drawing/2014/main" id="{45411E17-D183-EB4B-94DD-D917AB304952}"/>
              </a:ext>
            </a:extLst>
          </p:cNvPr>
          <p:cNvSpPr txBox="1"/>
          <p:nvPr/>
        </p:nvSpPr>
        <p:spPr>
          <a:xfrm>
            <a:off x="201855" y="4581713"/>
            <a:ext cx="6680617" cy="221599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2000" b="1" dirty="0">
                <a:latin typeface="Arial" panose="020B0604020202020204" pitchFamily="34" charset="0"/>
                <a:ea typeface="Inter" panose="02000503000000020004" pitchFamily="2" charset="0"/>
                <a:cs typeface="Arial" panose="020B0604020202020204" pitchFamily="34" charset="0"/>
              </a:rPr>
              <a:t>Objetivo da Oferta:</a:t>
            </a:r>
          </a:p>
          <a:p>
            <a:endParaRPr lang="pt-BR" sz="2000" b="1" dirty="0">
              <a:latin typeface="Arial" panose="020B0604020202020204" pitchFamily="34" charset="0"/>
              <a:ea typeface="Inter" panose="02000503000000020004" pitchFamily="2" charset="0"/>
              <a:cs typeface="Arial" panose="020B0604020202020204" pitchFamily="34" charset="0"/>
            </a:endParaRPr>
          </a:p>
          <a:p>
            <a:r>
              <a:rPr lang="pt-BR" sz="1400" dirty="0">
                <a:latin typeface="Arial" panose="020B0604020202020204" pitchFamily="34" charset="0"/>
                <a:ea typeface="Inter" panose="02000503000000020004" pitchFamily="2" charset="0"/>
                <a:cs typeface="Arial" panose="020B0604020202020204" pitchFamily="34" charset="0"/>
              </a:rPr>
              <a:t>3.1: Número de NCM: 84.8790.00. </a:t>
            </a:r>
          </a:p>
          <a:p>
            <a:r>
              <a:rPr lang="pt-BR" sz="1400" dirty="0">
                <a:latin typeface="Arial" panose="020B0604020202020204" pitchFamily="34" charset="0"/>
                <a:ea typeface="Inter" panose="02000503000000020004" pitchFamily="2" charset="0"/>
                <a:cs typeface="Arial" panose="020B0604020202020204" pitchFamily="34" charset="0"/>
              </a:rPr>
              <a:t>3.2: Validade da Proposta: 10 dias (Referente ao valor ofertado)</a:t>
            </a:r>
          </a:p>
          <a:p>
            <a:r>
              <a:rPr lang="pt-BR" sz="1400" dirty="0">
                <a:latin typeface="Arial" panose="020B0604020202020204" pitchFamily="34" charset="0"/>
                <a:ea typeface="Inter" panose="02000503000000020004" pitchFamily="2" charset="0"/>
                <a:cs typeface="Arial" panose="020B0604020202020204" pitchFamily="34" charset="0"/>
              </a:rPr>
              <a:t>3.3: O pedido será aceito após confirmação via e-mail. </a:t>
            </a:r>
          </a:p>
          <a:p>
            <a:r>
              <a:rPr lang="pt-BR" sz="1400" dirty="0">
                <a:latin typeface="Arial" panose="020B0604020202020204" pitchFamily="34" charset="0"/>
                <a:ea typeface="Inter" panose="02000503000000020004" pitchFamily="2" charset="0"/>
                <a:cs typeface="Arial" panose="020B0604020202020204" pitchFamily="34" charset="0"/>
              </a:rPr>
              <a:t>3.4: Consulte disponibilidade das peças no ato da compra.</a:t>
            </a:r>
          </a:p>
          <a:p>
            <a:r>
              <a:rPr lang="pt-BR" sz="1400" dirty="0">
                <a:latin typeface="Arial" panose="020B0604020202020204" pitchFamily="34" charset="0"/>
                <a:ea typeface="Inter" panose="02000503000000020004" pitchFamily="2" charset="0"/>
                <a:cs typeface="Arial" panose="020B0604020202020204" pitchFamily="34" charset="0"/>
              </a:rPr>
              <a:t>3.5: O relatório de instalação será enviado em até 7 dias úteis a partir da confirmação da compra.</a:t>
            </a:r>
          </a:p>
          <a:p>
            <a:endParaRPr lang="pt-BR" sz="1400" dirty="0">
              <a:latin typeface="Arial" panose="020B0604020202020204" pitchFamily="34" charset="0"/>
              <a:ea typeface="Inter" panose="02000503000000020004" pitchFamily="2" charset="0"/>
              <a:cs typeface="Arial" panose="020B0604020202020204" pitchFamily="34" charset="0"/>
            </a:endParaRPr>
          </a:p>
        </p:txBody>
      </p:sp>
      <p:pic>
        <p:nvPicPr>
          <p:cNvPr id="9" name="Imagem 8">
            <a:extLst>
              <a:ext uri="{FF2B5EF4-FFF2-40B4-BE49-F238E27FC236}">
                <a16:creationId xmlns:a16="http://schemas.microsoft.com/office/drawing/2014/main" id="{D70232F8-B1DA-19DB-BBD1-A50CCC6DB60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10855" y="10150411"/>
            <a:ext cx="795338" cy="274618"/>
          </a:xfrm>
          <a:prstGeom prst="rect">
            <a:avLst/>
          </a:prstGeom>
        </p:spPr>
      </p:pic>
      <p:pic>
        <p:nvPicPr>
          <p:cNvPr id="7" name="Imagem 6">
            <a:extLst>
              <a:ext uri="{FF2B5EF4-FFF2-40B4-BE49-F238E27FC236}">
                <a16:creationId xmlns:a16="http://schemas.microsoft.com/office/drawing/2014/main" id="{57928164-A633-B422-BD83-54F2879FA882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89035" y="6424181"/>
            <a:ext cx="4370527" cy="43705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4542199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" name="Imagem 18">
            <a:extLst>
              <a:ext uri="{FF2B5EF4-FFF2-40B4-BE49-F238E27FC236}">
                <a16:creationId xmlns:a16="http://schemas.microsoft.com/office/drawing/2014/main" id="{961345F8-0608-871A-DB85-C88B2DA327F4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13" y="0"/>
            <a:ext cx="7558636" cy="10691813"/>
          </a:xfrm>
          <a:prstGeom prst="rect">
            <a:avLst/>
          </a:prstGeom>
        </p:spPr>
      </p:pic>
      <p:sp>
        <p:nvSpPr>
          <p:cNvPr id="4" name="CaixaDeTexto 3">
            <a:extLst>
              <a:ext uri="{FF2B5EF4-FFF2-40B4-BE49-F238E27FC236}">
                <a16:creationId xmlns:a16="http://schemas.microsoft.com/office/drawing/2014/main" id="{48700D33-762A-742B-32A0-8AFB038793E7}"/>
              </a:ext>
            </a:extLst>
          </p:cNvPr>
          <p:cNvSpPr txBox="1"/>
          <p:nvPr/>
        </p:nvSpPr>
        <p:spPr>
          <a:xfrm>
            <a:off x="245398" y="703309"/>
            <a:ext cx="6680618" cy="137204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ts val="5100"/>
              </a:lnSpc>
            </a:pPr>
            <a:r>
              <a:rPr lang="pt-BR" sz="4000" b="1" dirty="0">
                <a:solidFill>
                  <a:srgbClr val="E01684"/>
                </a:solidFill>
                <a:latin typeface="Arial Black" panose="020B0A04020102020204" pitchFamily="34" charset="0"/>
                <a:ea typeface="Inter" panose="02000503000000020004" pitchFamily="2" charset="0"/>
              </a:rPr>
              <a:t>Consulte nossa Reputação</a:t>
            </a:r>
          </a:p>
        </p:txBody>
      </p:sp>
      <p:sp>
        <p:nvSpPr>
          <p:cNvPr id="5" name="CaixaDeTexto 4">
            <a:extLst>
              <a:ext uri="{FF2B5EF4-FFF2-40B4-BE49-F238E27FC236}">
                <a16:creationId xmlns:a16="http://schemas.microsoft.com/office/drawing/2014/main" id="{FF6A4E49-8109-AFAC-721A-A6D995DBE37F}"/>
              </a:ext>
            </a:extLst>
          </p:cNvPr>
          <p:cNvSpPr txBox="1"/>
          <p:nvPr/>
        </p:nvSpPr>
        <p:spPr>
          <a:xfrm>
            <a:off x="245398" y="2443696"/>
            <a:ext cx="597552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2400" b="1" dirty="0">
                <a:latin typeface="Arial" panose="020B0604020202020204" pitchFamily="34" charset="0"/>
                <a:ea typeface="Inter" panose="02000503000000020004" pitchFamily="2" charset="0"/>
                <a:cs typeface="Arial" panose="020B0604020202020204" pitchFamily="34" charset="0"/>
              </a:rPr>
              <a:t>Desde Novembro de 2020, trabalhamos com índice zero de reclamações em mais de 10.000 atendimentos. </a:t>
            </a:r>
          </a:p>
        </p:txBody>
      </p:sp>
      <p:pic>
        <p:nvPicPr>
          <p:cNvPr id="1026" name="Picture 2" descr="Internet - ícones de sinais grátis">
            <a:extLst>
              <a:ext uri="{FF2B5EF4-FFF2-40B4-BE49-F238E27FC236}">
                <a16:creationId xmlns:a16="http://schemas.microsoft.com/office/drawing/2014/main" id="{C97C1AFD-2FDC-5E98-F84C-C292F8F0200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5376201" y="5371305"/>
            <a:ext cx="52045" cy="5204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0" name="Picture 6" descr="logotipo do facebook png, ícone do facebook transparente png 18930538 PNG">
            <a:extLst>
              <a:ext uri="{FF2B5EF4-FFF2-40B4-BE49-F238E27FC236}">
                <a16:creationId xmlns:a16="http://schemas.microsoft.com/office/drawing/2014/main" id="{E2782CCE-AE41-0487-81E9-CC6D4A3CF889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0414" r="53895"/>
          <a:stretch>
            <a:fillRect/>
          </a:stretch>
        </p:blipFill>
        <p:spPr bwMode="auto">
          <a:xfrm>
            <a:off x="338352" y="4669548"/>
            <a:ext cx="423648" cy="64294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2" name="Picture 8" descr="Instagram logotipo png, Instagram logotipo transparente png, Instagram  ícone transparente livre png 23986547 PNG">
            <a:extLst>
              <a:ext uri="{FF2B5EF4-FFF2-40B4-BE49-F238E27FC236}">
                <a16:creationId xmlns:a16="http://schemas.microsoft.com/office/drawing/2014/main" id="{460FD1FB-2864-C944-AADE-9B81A0E9762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77018" y="4006020"/>
            <a:ext cx="549072" cy="54907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4" name="Picture 10" descr="Internet - ícones de sinais grátis">
            <a:extLst>
              <a:ext uri="{FF2B5EF4-FFF2-40B4-BE49-F238E27FC236}">
                <a16:creationId xmlns:a16="http://schemas.microsoft.com/office/drawing/2014/main" id="{9B72D5DC-E972-D41F-1CB8-C3BECAA2213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2263" y="6088063"/>
            <a:ext cx="433387" cy="43338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CaixaDeTexto 5">
            <a:extLst>
              <a:ext uri="{FF2B5EF4-FFF2-40B4-BE49-F238E27FC236}">
                <a16:creationId xmlns:a16="http://schemas.microsoft.com/office/drawing/2014/main" id="{8DA6310F-6F56-F15B-5731-AED7A9520B15}"/>
              </a:ext>
            </a:extLst>
          </p:cNvPr>
          <p:cNvSpPr txBox="1"/>
          <p:nvPr/>
        </p:nvSpPr>
        <p:spPr>
          <a:xfrm>
            <a:off x="894471" y="4112167"/>
            <a:ext cx="1963029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400" b="1" dirty="0">
                <a:latin typeface="Arial" panose="020B0604020202020204" pitchFamily="34" charset="0"/>
                <a:ea typeface="Inter" panose="02000503000000020004" pitchFamily="2" charset="0"/>
                <a:cs typeface="Arial" panose="020B0604020202020204" pitchFamily="34" charset="0"/>
              </a:rPr>
              <a:t>@sohelices</a:t>
            </a:r>
          </a:p>
        </p:txBody>
      </p:sp>
      <p:sp>
        <p:nvSpPr>
          <p:cNvPr id="7" name="CaixaDeTexto 6">
            <a:extLst>
              <a:ext uri="{FF2B5EF4-FFF2-40B4-BE49-F238E27FC236}">
                <a16:creationId xmlns:a16="http://schemas.microsoft.com/office/drawing/2014/main" id="{04769437-C7D9-0FC8-69F6-845D06DA9D39}"/>
              </a:ext>
            </a:extLst>
          </p:cNvPr>
          <p:cNvSpPr txBox="1"/>
          <p:nvPr/>
        </p:nvSpPr>
        <p:spPr>
          <a:xfrm>
            <a:off x="894471" y="4822161"/>
            <a:ext cx="1963029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400" b="1" dirty="0">
                <a:latin typeface="Arial" panose="020B0604020202020204" pitchFamily="34" charset="0"/>
                <a:ea typeface="Inter" panose="02000503000000020004" pitchFamily="2" charset="0"/>
                <a:cs typeface="Arial" panose="020B0604020202020204" pitchFamily="34" charset="0"/>
              </a:rPr>
              <a:t>Só Hélices</a:t>
            </a:r>
          </a:p>
        </p:txBody>
      </p:sp>
      <p:sp>
        <p:nvSpPr>
          <p:cNvPr id="8" name="CaixaDeTexto 7">
            <a:extLst>
              <a:ext uri="{FF2B5EF4-FFF2-40B4-BE49-F238E27FC236}">
                <a16:creationId xmlns:a16="http://schemas.microsoft.com/office/drawing/2014/main" id="{31B95116-79F8-E465-F5E4-6E5A86FA7099}"/>
              </a:ext>
            </a:extLst>
          </p:cNvPr>
          <p:cNvSpPr txBox="1"/>
          <p:nvPr/>
        </p:nvSpPr>
        <p:spPr>
          <a:xfrm>
            <a:off x="894471" y="5442809"/>
            <a:ext cx="1963029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400" b="1" dirty="0">
                <a:latin typeface="Arial" panose="020B0604020202020204" pitchFamily="34" charset="0"/>
                <a:ea typeface="Inter" panose="02000503000000020004" pitchFamily="2" charset="0"/>
                <a:cs typeface="Arial" panose="020B0604020202020204" pitchFamily="34" charset="0"/>
              </a:rPr>
              <a:t>Só Hélices</a:t>
            </a:r>
          </a:p>
        </p:txBody>
      </p:sp>
      <p:sp>
        <p:nvSpPr>
          <p:cNvPr id="9" name="CaixaDeTexto 8">
            <a:extLst>
              <a:ext uri="{FF2B5EF4-FFF2-40B4-BE49-F238E27FC236}">
                <a16:creationId xmlns:a16="http://schemas.microsoft.com/office/drawing/2014/main" id="{47ADF7ED-4A67-2BEB-873B-8518333ED7D5}"/>
              </a:ext>
            </a:extLst>
          </p:cNvPr>
          <p:cNvSpPr txBox="1"/>
          <p:nvPr/>
        </p:nvSpPr>
        <p:spPr>
          <a:xfrm>
            <a:off x="894471" y="6160359"/>
            <a:ext cx="2128129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400" b="1" dirty="0">
                <a:latin typeface="Arial" panose="020B0604020202020204" pitchFamily="34" charset="0"/>
                <a:ea typeface="Inter" panose="02000503000000020004" pitchFamily="2" charset="0"/>
                <a:cs typeface="Arial" panose="020B0604020202020204" pitchFamily="34" charset="0"/>
              </a:rPr>
              <a:t>www.sohelices.com.br</a:t>
            </a:r>
          </a:p>
        </p:txBody>
      </p:sp>
      <p:pic>
        <p:nvPicPr>
          <p:cNvPr id="11" name="Imagem 10">
            <a:extLst>
              <a:ext uri="{FF2B5EF4-FFF2-40B4-BE49-F238E27FC236}">
                <a16:creationId xmlns:a16="http://schemas.microsoft.com/office/drawing/2014/main" id="{BB836953-59EA-955D-2AD4-178509DA4B13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8414" y="8790867"/>
            <a:ext cx="1228286" cy="1228286"/>
          </a:xfrm>
          <a:prstGeom prst="rect">
            <a:avLst/>
          </a:prstGeom>
        </p:spPr>
      </p:pic>
      <p:cxnSp>
        <p:nvCxnSpPr>
          <p:cNvPr id="13" name="Conector reto 12">
            <a:extLst>
              <a:ext uri="{FF2B5EF4-FFF2-40B4-BE49-F238E27FC236}">
                <a16:creationId xmlns:a16="http://schemas.microsoft.com/office/drawing/2014/main" id="{B9E7B11F-61A3-DF0F-105B-7FB2647EC07E}"/>
              </a:ext>
            </a:extLst>
          </p:cNvPr>
          <p:cNvCxnSpPr/>
          <p:nvPr/>
        </p:nvCxnSpPr>
        <p:spPr>
          <a:xfrm>
            <a:off x="1739900" y="8790867"/>
            <a:ext cx="0" cy="1228286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4" name="CaixaDeTexto 13">
            <a:extLst>
              <a:ext uri="{FF2B5EF4-FFF2-40B4-BE49-F238E27FC236}">
                <a16:creationId xmlns:a16="http://schemas.microsoft.com/office/drawing/2014/main" id="{04856DBE-1BEC-E4C9-DC6B-0DCE8D47C873}"/>
              </a:ext>
            </a:extLst>
          </p:cNvPr>
          <p:cNvSpPr txBox="1"/>
          <p:nvPr/>
        </p:nvSpPr>
        <p:spPr>
          <a:xfrm>
            <a:off x="1845115" y="8866401"/>
            <a:ext cx="4526540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600" dirty="0">
                <a:latin typeface="Arial" panose="020B0604020202020204" pitchFamily="34" charset="0"/>
                <a:ea typeface="Inter" panose="02000503000000020004" pitchFamily="2" charset="0"/>
                <a:cs typeface="Arial" panose="020B0604020202020204" pitchFamily="34" charset="0"/>
              </a:rPr>
              <a:t>São Paulo,  {{data}}. </a:t>
            </a:r>
          </a:p>
          <a:p>
            <a:r>
              <a:rPr lang="pt-BR" sz="1600" dirty="0">
                <a:latin typeface="Arial" panose="020B0604020202020204" pitchFamily="34" charset="0"/>
                <a:ea typeface="Inter" panose="02000503000000020004" pitchFamily="2" charset="0"/>
                <a:cs typeface="Arial" panose="020B0604020202020204" pitchFamily="34" charset="0"/>
              </a:rPr>
              <a:t>{{</a:t>
            </a:r>
            <a:r>
              <a:rPr lang="pt-BR" sz="1600" dirty="0" err="1">
                <a:latin typeface="Arial" panose="020B0604020202020204" pitchFamily="34" charset="0"/>
                <a:ea typeface="Inter" panose="02000503000000020004" pitchFamily="2" charset="0"/>
                <a:cs typeface="Arial" panose="020B0604020202020204" pitchFamily="34" charset="0"/>
              </a:rPr>
              <a:t>nome_vendedor</a:t>
            </a:r>
            <a:r>
              <a:rPr lang="pt-BR" sz="1600" dirty="0">
                <a:latin typeface="Arial" panose="020B0604020202020204" pitchFamily="34" charset="0"/>
                <a:ea typeface="Inter" panose="02000503000000020004" pitchFamily="2" charset="0"/>
                <a:cs typeface="Arial" panose="020B0604020202020204" pitchFamily="34" charset="0"/>
              </a:rPr>
              <a:t>}} [Atendimento/Vendas] </a:t>
            </a:r>
          </a:p>
          <a:p>
            <a:r>
              <a:rPr lang="pt-BR" sz="1600" dirty="0">
                <a:latin typeface="Arial" panose="020B0604020202020204" pitchFamily="34" charset="0"/>
                <a:ea typeface="Inter" panose="02000503000000020004" pitchFamily="2" charset="0"/>
                <a:cs typeface="Arial" panose="020B0604020202020204" pitchFamily="34" charset="0"/>
              </a:rPr>
              <a:t>WhatsApp: (11) 94984-2894 </a:t>
            </a:r>
          </a:p>
          <a:p>
            <a:r>
              <a:rPr lang="pt-BR" sz="1600" dirty="0">
                <a:latin typeface="Arial" panose="020B0604020202020204" pitchFamily="34" charset="0"/>
                <a:ea typeface="Inter" panose="02000503000000020004" pitchFamily="2" charset="0"/>
                <a:cs typeface="Arial" panose="020B0604020202020204" pitchFamily="34" charset="0"/>
              </a:rPr>
              <a:t>E-mail: {{</a:t>
            </a:r>
            <a:r>
              <a:rPr lang="pt-BR" sz="1600" dirty="0" err="1">
                <a:latin typeface="Arial" panose="020B0604020202020204" pitchFamily="34" charset="0"/>
                <a:ea typeface="Inter" panose="02000503000000020004" pitchFamily="2" charset="0"/>
                <a:cs typeface="Arial" panose="020B0604020202020204" pitchFamily="34" charset="0"/>
              </a:rPr>
              <a:t>email_vendedor</a:t>
            </a:r>
            <a:r>
              <a:rPr lang="pt-BR" sz="1600">
                <a:latin typeface="Arial" panose="020B0604020202020204" pitchFamily="34" charset="0"/>
                <a:ea typeface="Inter" panose="02000503000000020004" pitchFamily="2" charset="0"/>
                <a:cs typeface="Arial" panose="020B0604020202020204" pitchFamily="34" charset="0"/>
              </a:rPr>
              <a:t>}}</a:t>
            </a:r>
            <a:endParaRPr lang="pt-BR" sz="1600" dirty="0">
              <a:latin typeface="Arial" panose="020B0604020202020204" pitchFamily="34" charset="0"/>
              <a:ea typeface="Inter" panose="02000503000000020004" pitchFamily="2" charset="0"/>
              <a:cs typeface="Arial" panose="020B0604020202020204" pitchFamily="34" charset="0"/>
            </a:endParaRPr>
          </a:p>
        </p:txBody>
      </p:sp>
      <p:pic>
        <p:nvPicPr>
          <p:cNvPr id="17" name="Imagem 16">
            <a:extLst>
              <a:ext uri="{FF2B5EF4-FFF2-40B4-BE49-F238E27FC236}">
                <a16:creationId xmlns:a16="http://schemas.microsoft.com/office/drawing/2014/main" id="{9B50589B-B756-1E37-C729-F8675BDE6A4C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10855" y="10150411"/>
            <a:ext cx="795338" cy="274618"/>
          </a:xfrm>
          <a:prstGeom prst="rect">
            <a:avLst/>
          </a:prstGeom>
        </p:spPr>
      </p:pic>
      <p:pic>
        <p:nvPicPr>
          <p:cNvPr id="1036" name="Picture 12" descr="youtube logo | Figma">
            <a:extLst>
              <a:ext uri="{FF2B5EF4-FFF2-40B4-BE49-F238E27FC236}">
                <a16:creationId xmlns:a16="http://schemas.microsoft.com/office/drawing/2014/main" id="{72C8EA68-EFB8-3009-0579-8F477FA03CD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2940" y="5379317"/>
            <a:ext cx="894471" cy="44732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" name="Imagem 9">
            <a:extLst>
              <a:ext uri="{FF2B5EF4-FFF2-40B4-BE49-F238E27FC236}">
                <a16:creationId xmlns:a16="http://schemas.microsoft.com/office/drawing/2014/main" id="{655D7B8B-4BBE-E06A-943B-637F08EBC7B7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9564" r="23346" b="3820"/>
          <a:stretch>
            <a:fillRect/>
          </a:stretch>
        </p:blipFill>
        <p:spPr>
          <a:xfrm rot="1304239">
            <a:off x="2346782" y="1809952"/>
            <a:ext cx="6160259" cy="69607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8061930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m 2">
            <a:extLst>
              <a:ext uri="{FF2B5EF4-FFF2-40B4-BE49-F238E27FC236}">
                <a16:creationId xmlns:a16="http://schemas.microsoft.com/office/drawing/2014/main" id="{3092B84F-C2B6-E55E-6396-16A2F8E8E90C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13" y="0"/>
            <a:ext cx="7558636" cy="10691813"/>
          </a:xfrm>
          <a:prstGeom prst="rect">
            <a:avLst/>
          </a:prstGeom>
        </p:spPr>
      </p:pic>
      <p:sp>
        <p:nvSpPr>
          <p:cNvPr id="6" name="Google Shape;147;p7">
            <a:extLst>
              <a:ext uri="{FF2B5EF4-FFF2-40B4-BE49-F238E27FC236}">
                <a16:creationId xmlns:a16="http://schemas.microsoft.com/office/drawing/2014/main" id="{D4CF83FD-7A2B-6CA5-A391-C7BA490B06F9}"/>
              </a:ext>
            </a:extLst>
          </p:cNvPr>
          <p:cNvSpPr txBox="1"/>
          <p:nvPr/>
        </p:nvSpPr>
        <p:spPr>
          <a:xfrm>
            <a:off x="1817328" y="9520438"/>
            <a:ext cx="3926604" cy="8340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ctr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lang="pt-BR" sz="1400" dirty="0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Rua Américo Brasiliense, 1490, sala 75, Chácara Santo Antônio, São Paulo, SP</a:t>
            </a:r>
            <a:endParaRPr sz="1400" i="0" u="none" strike="noStrike" cap="none" dirty="0">
              <a:solidFill>
                <a:srgbClr val="000000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pic>
        <p:nvPicPr>
          <p:cNvPr id="8" name="Imagem 7">
            <a:extLst>
              <a:ext uri="{FF2B5EF4-FFF2-40B4-BE49-F238E27FC236}">
                <a16:creationId xmlns:a16="http://schemas.microsoft.com/office/drawing/2014/main" id="{2176E031-90C1-4B7C-2EB7-ABEA48BA9BC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73427" y="3426993"/>
            <a:ext cx="3414406" cy="2416849"/>
          </a:xfrm>
          <a:prstGeom prst="rect">
            <a:avLst/>
          </a:prstGeom>
        </p:spPr>
      </p:pic>
      <p:sp>
        <p:nvSpPr>
          <p:cNvPr id="10" name="CaixaDeTexto 9">
            <a:extLst>
              <a:ext uri="{FF2B5EF4-FFF2-40B4-BE49-F238E27FC236}">
                <a16:creationId xmlns:a16="http://schemas.microsoft.com/office/drawing/2014/main" id="{13CAE41B-063C-6834-F260-2F4FA9FEF712}"/>
              </a:ext>
            </a:extLst>
          </p:cNvPr>
          <p:cNvSpPr txBox="1"/>
          <p:nvPr/>
        </p:nvSpPr>
        <p:spPr>
          <a:xfrm>
            <a:off x="2617964" y="5345906"/>
            <a:ext cx="2325333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1600" dirty="0">
                <a:latin typeface="Arial" panose="020B0604020202020204" pitchFamily="34" charset="0"/>
                <a:ea typeface="Inter" panose="02000503000000020004" pitchFamily="2" charset="0"/>
                <a:cs typeface="Arial" panose="020B0604020202020204" pitchFamily="34" charset="0"/>
              </a:rPr>
              <a:t>www.sohelices.com.br</a:t>
            </a:r>
          </a:p>
        </p:txBody>
      </p:sp>
    </p:spTree>
    <p:extLst>
      <p:ext uri="{BB962C8B-B14F-4D97-AF65-F5344CB8AC3E}">
        <p14:creationId xmlns:p14="http://schemas.microsoft.com/office/powerpoint/2010/main" val="3739314271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o Office">
  <a:themeElements>
    <a:clrScheme name="Tema do 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Tema do 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Tema do 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Orçamento Rushton Converter</Template>
  <TotalTime>16</TotalTime>
  <Words>539</Words>
  <Application>Microsoft Office PowerPoint</Application>
  <PresentationFormat>Personalizar</PresentationFormat>
  <Paragraphs>79</Paragraphs>
  <Slides>7</Slides>
  <Notes>1</Notes>
  <HiddenSlides>0</HiddenSlides>
  <MMClips>0</MMClips>
  <ScaleCrop>false</ScaleCrop>
  <HeadingPairs>
    <vt:vector size="6" baseType="variant">
      <vt:variant>
        <vt:lpstr>Fontes usadas</vt:lpstr>
      </vt:variant>
      <vt:variant>
        <vt:i4>5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7</vt:i4>
      </vt:variant>
    </vt:vector>
  </HeadingPairs>
  <TitlesOfParts>
    <vt:vector size="13" baseType="lpstr">
      <vt:lpstr>Aptos</vt:lpstr>
      <vt:lpstr>Aptos Display</vt:lpstr>
      <vt:lpstr>Arial</vt:lpstr>
      <vt:lpstr>Arial Black</vt:lpstr>
      <vt:lpstr>Inter</vt:lpstr>
      <vt:lpstr>Tema do Office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G3 MISTURADORES DO BRASIL LTDA</dc:creator>
  <cp:lastModifiedBy>G3 MISTURADORES DO BRASIL LTDA</cp:lastModifiedBy>
  <cp:revision>2</cp:revision>
  <dcterms:created xsi:type="dcterms:W3CDTF">2026-04-02T12:05:19Z</dcterms:created>
  <dcterms:modified xsi:type="dcterms:W3CDTF">2026-04-02T12:22:40Z</dcterms:modified>
</cp:coreProperties>
</file>