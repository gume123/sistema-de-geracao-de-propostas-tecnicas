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9"/>
  </p:notesMasterIdLst>
  <p:sldIdLst>
    <p:sldId id="266" r:id="rId2"/>
    <p:sldId id="263" r:id="rId3"/>
    <p:sldId id="258" r:id="rId4"/>
    <p:sldId id="264" r:id="rId5"/>
    <p:sldId id="265" r:id="rId6"/>
    <p:sldId id="261" r:id="rId7"/>
    <p:sldId id="262" r:id="rId8"/>
  </p:sldIdLst>
  <p:sldSz cx="7561263" cy="1069181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4F0EF"/>
    <a:srgbClr val="E0168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6247" autoAdjust="0"/>
  </p:normalViewPr>
  <p:slideViewPr>
    <p:cSldViewPr snapToGrid="0">
      <p:cViewPr varScale="1">
        <p:scale>
          <a:sx n="69" d="100"/>
          <a:sy n="69" d="100"/>
        </p:scale>
        <p:origin x="3114" y="48"/>
      </p:cViewPr>
      <p:guideLst/>
    </p:cSldViewPr>
  </p:slideViewPr>
  <p:notesTextViewPr>
    <p:cViewPr>
      <p:scale>
        <a:sx n="150" d="100"/>
        <a:sy n="15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BCAEED2-BC16-4826-88B5-7A60AAAA0FBF}" type="datetimeFigureOut">
              <a:rPr lang="pt-BR" smtClean="0"/>
              <a:t>28/04/2026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2338388" y="1143000"/>
            <a:ext cx="218122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9097D3D-285D-4500-AB96-F7BD5CB94F5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000081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A85676-3050-B7A4-0D80-6DCE23B101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FBD63050-3B23-FA3E-8344-DC41D5810C5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00A5C84F-7862-965D-F9A8-BB66EEEB1AD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CDB0E24A-3BB8-EAF3-2B5B-8DD9420A450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9097D3D-285D-4500-AB96-F7BD5CB94F5C}" type="slidenum">
              <a:rPr lang="pt-BR" smtClean="0"/>
              <a:t>2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2090740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67095" y="1749795"/>
            <a:ext cx="6427074" cy="3722335"/>
          </a:xfrm>
        </p:spPr>
        <p:txBody>
          <a:bodyPr anchor="b"/>
          <a:lstStyle>
            <a:lvl1pPr algn="ctr">
              <a:defRPr sz="4961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45158" y="5615678"/>
            <a:ext cx="5670947" cy="2581379"/>
          </a:xfrm>
        </p:spPr>
        <p:txBody>
          <a:bodyPr/>
          <a:lstStyle>
            <a:lvl1pPr marL="0" indent="0" algn="ctr">
              <a:buNone/>
              <a:defRPr sz="1985"/>
            </a:lvl1pPr>
            <a:lvl2pPr marL="378059" indent="0" algn="ctr">
              <a:buNone/>
              <a:defRPr sz="1654"/>
            </a:lvl2pPr>
            <a:lvl3pPr marL="756117" indent="0" algn="ctr">
              <a:buNone/>
              <a:defRPr sz="1488"/>
            </a:lvl3pPr>
            <a:lvl4pPr marL="1134176" indent="0" algn="ctr">
              <a:buNone/>
              <a:defRPr sz="1323"/>
            </a:lvl4pPr>
            <a:lvl5pPr marL="1512235" indent="0" algn="ctr">
              <a:buNone/>
              <a:defRPr sz="1323"/>
            </a:lvl5pPr>
            <a:lvl6pPr marL="1890293" indent="0" algn="ctr">
              <a:buNone/>
              <a:defRPr sz="1323"/>
            </a:lvl6pPr>
            <a:lvl7pPr marL="2268352" indent="0" algn="ctr">
              <a:buNone/>
              <a:defRPr sz="1323"/>
            </a:lvl7pPr>
            <a:lvl8pPr marL="2646411" indent="0" algn="ctr">
              <a:buNone/>
              <a:defRPr sz="1323"/>
            </a:lvl8pPr>
            <a:lvl9pPr marL="3024469" indent="0" algn="ctr">
              <a:buNone/>
              <a:defRPr sz="1323"/>
            </a:lvl9pPr>
          </a:lstStyle>
          <a:p>
            <a:r>
              <a:rPr lang="pt-BR"/>
              <a:t>Clique para editar o estilo do subtítulo Mestre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57E78B-50A5-4041-B8E5-C741E639875A}" type="datetimeFigureOut">
              <a:rPr lang="pt-BR" smtClean="0"/>
              <a:t>28/04/2026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90920B-204E-400E-81BC-E838173BE79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848623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57E78B-50A5-4041-B8E5-C741E639875A}" type="datetimeFigureOut">
              <a:rPr lang="pt-BR" smtClean="0"/>
              <a:t>28/04/2026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90920B-204E-400E-81BC-E838173BE79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824714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5899" y="2665532"/>
            <a:ext cx="6521589" cy="4447496"/>
          </a:xfrm>
        </p:spPr>
        <p:txBody>
          <a:bodyPr anchor="b"/>
          <a:lstStyle>
            <a:lvl1pPr>
              <a:defRPr sz="4961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5899" y="7155103"/>
            <a:ext cx="6521589" cy="2338833"/>
          </a:xfrm>
        </p:spPr>
        <p:txBody>
          <a:bodyPr/>
          <a:lstStyle>
            <a:lvl1pPr marL="0" indent="0">
              <a:buNone/>
              <a:defRPr sz="1985">
                <a:solidFill>
                  <a:schemeClr val="tx1">
                    <a:tint val="82000"/>
                  </a:schemeClr>
                </a:solidFill>
              </a:defRPr>
            </a:lvl1pPr>
            <a:lvl2pPr marL="378059" indent="0">
              <a:buNone/>
              <a:defRPr sz="1654">
                <a:solidFill>
                  <a:schemeClr val="tx1">
                    <a:tint val="82000"/>
                  </a:schemeClr>
                </a:solidFill>
              </a:defRPr>
            </a:lvl2pPr>
            <a:lvl3pPr marL="756117" indent="0">
              <a:buNone/>
              <a:defRPr sz="1488">
                <a:solidFill>
                  <a:schemeClr val="tx1">
                    <a:tint val="82000"/>
                  </a:schemeClr>
                </a:solidFill>
              </a:defRPr>
            </a:lvl3pPr>
            <a:lvl4pPr marL="1134176" indent="0">
              <a:buNone/>
              <a:defRPr sz="1323">
                <a:solidFill>
                  <a:schemeClr val="tx1">
                    <a:tint val="82000"/>
                  </a:schemeClr>
                </a:solidFill>
              </a:defRPr>
            </a:lvl4pPr>
            <a:lvl5pPr marL="1512235" indent="0">
              <a:buNone/>
              <a:defRPr sz="1323">
                <a:solidFill>
                  <a:schemeClr val="tx1">
                    <a:tint val="82000"/>
                  </a:schemeClr>
                </a:solidFill>
              </a:defRPr>
            </a:lvl5pPr>
            <a:lvl6pPr marL="1890293" indent="0">
              <a:buNone/>
              <a:defRPr sz="1323">
                <a:solidFill>
                  <a:schemeClr val="tx1">
                    <a:tint val="82000"/>
                  </a:schemeClr>
                </a:solidFill>
              </a:defRPr>
            </a:lvl6pPr>
            <a:lvl7pPr marL="2268352" indent="0">
              <a:buNone/>
              <a:defRPr sz="1323">
                <a:solidFill>
                  <a:schemeClr val="tx1">
                    <a:tint val="82000"/>
                  </a:schemeClr>
                </a:solidFill>
              </a:defRPr>
            </a:lvl7pPr>
            <a:lvl8pPr marL="2646411" indent="0">
              <a:buNone/>
              <a:defRPr sz="1323">
                <a:solidFill>
                  <a:schemeClr val="tx1">
                    <a:tint val="82000"/>
                  </a:schemeClr>
                </a:solidFill>
              </a:defRPr>
            </a:lvl8pPr>
            <a:lvl9pPr marL="3024469" indent="0">
              <a:buNone/>
              <a:defRPr sz="1323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57E78B-50A5-4041-B8E5-C741E639875A}" type="datetimeFigureOut">
              <a:rPr lang="pt-BR" smtClean="0"/>
              <a:t>28/04/2026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90920B-204E-400E-81BC-E838173BE79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0340847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19837" y="2846200"/>
            <a:ext cx="3213537" cy="6783857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827889" y="2846200"/>
            <a:ext cx="3213537" cy="6783857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57E78B-50A5-4041-B8E5-C741E639875A}" type="datetimeFigureOut">
              <a:rPr lang="pt-BR" smtClean="0"/>
              <a:t>28/04/2026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90920B-204E-400E-81BC-E838173BE79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319463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0822" y="569242"/>
            <a:ext cx="6521589" cy="2066590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20823" y="2620980"/>
            <a:ext cx="3198768" cy="1284502"/>
          </a:xfrm>
        </p:spPr>
        <p:txBody>
          <a:bodyPr anchor="b"/>
          <a:lstStyle>
            <a:lvl1pPr marL="0" indent="0">
              <a:buNone/>
              <a:defRPr sz="1985" b="1"/>
            </a:lvl1pPr>
            <a:lvl2pPr marL="378059" indent="0">
              <a:buNone/>
              <a:defRPr sz="1654" b="1"/>
            </a:lvl2pPr>
            <a:lvl3pPr marL="756117" indent="0">
              <a:buNone/>
              <a:defRPr sz="1488" b="1"/>
            </a:lvl3pPr>
            <a:lvl4pPr marL="1134176" indent="0">
              <a:buNone/>
              <a:defRPr sz="1323" b="1"/>
            </a:lvl4pPr>
            <a:lvl5pPr marL="1512235" indent="0">
              <a:buNone/>
              <a:defRPr sz="1323" b="1"/>
            </a:lvl5pPr>
            <a:lvl6pPr marL="1890293" indent="0">
              <a:buNone/>
              <a:defRPr sz="1323" b="1"/>
            </a:lvl6pPr>
            <a:lvl7pPr marL="2268352" indent="0">
              <a:buNone/>
              <a:defRPr sz="1323" b="1"/>
            </a:lvl7pPr>
            <a:lvl8pPr marL="2646411" indent="0">
              <a:buNone/>
              <a:defRPr sz="1323" b="1"/>
            </a:lvl8pPr>
            <a:lvl9pPr marL="3024469" indent="0">
              <a:buNone/>
              <a:defRPr sz="1323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20823" y="3905482"/>
            <a:ext cx="3198768" cy="5744375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27890" y="2620980"/>
            <a:ext cx="3214522" cy="1284502"/>
          </a:xfrm>
        </p:spPr>
        <p:txBody>
          <a:bodyPr anchor="b"/>
          <a:lstStyle>
            <a:lvl1pPr marL="0" indent="0">
              <a:buNone/>
              <a:defRPr sz="1985" b="1"/>
            </a:lvl1pPr>
            <a:lvl2pPr marL="378059" indent="0">
              <a:buNone/>
              <a:defRPr sz="1654" b="1"/>
            </a:lvl2pPr>
            <a:lvl3pPr marL="756117" indent="0">
              <a:buNone/>
              <a:defRPr sz="1488" b="1"/>
            </a:lvl3pPr>
            <a:lvl4pPr marL="1134176" indent="0">
              <a:buNone/>
              <a:defRPr sz="1323" b="1"/>
            </a:lvl4pPr>
            <a:lvl5pPr marL="1512235" indent="0">
              <a:buNone/>
              <a:defRPr sz="1323" b="1"/>
            </a:lvl5pPr>
            <a:lvl6pPr marL="1890293" indent="0">
              <a:buNone/>
              <a:defRPr sz="1323" b="1"/>
            </a:lvl6pPr>
            <a:lvl7pPr marL="2268352" indent="0">
              <a:buNone/>
              <a:defRPr sz="1323" b="1"/>
            </a:lvl7pPr>
            <a:lvl8pPr marL="2646411" indent="0">
              <a:buNone/>
              <a:defRPr sz="1323" b="1"/>
            </a:lvl8pPr>
            <a:lvl9pPr marL="3024469" indent="0">
              <a:buNone/>
              <a:defRPr sz="1323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827890" y="3905482"/>
            <a:ext cx="3214522" cy="5744375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57E78B-50A5-4041-B8E5-C741E639875A}" type="datetimeFigureOut">
              <a:rPr lang="pt-BR" smtClean="0"/>
              <a:t>28/04/2026</a:t>
            </a:fld>
            <a:endParaRPr lang="pt-B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90920B-204E-400E-81BC-E838173BE79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826929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57E78B-50A5-4041-B8E5-C741E639875A}" type="datetimeFigureOut">
              <a:rPr lang="pt-BR" smtClean="0"/>
              <a:t>28/04/2026</a:t>
            </a:fld>
            <a:endParaRPr lang="pt-B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90920B-204E-400E-81BC-E838173BE79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869598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57E78B-50A5-4041-B8E5-C741E639875A}" type="datetimeFigureOut">
              <a:rPr lang="pt-BR" smtClean="0"/>
              <a:t>28/04/2026</a:t>
            </a:fld>
            <a:endParaRPr lang="pt-B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90920B-204E-400E-81BC-E838173BE79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482774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0822" y="712788"/>
            <a:ext cx="2438704" cy="2494756"/>
          </a:xfrm>
        </p:spPr>
        <p:txBody>
          <a:bodyPr anchor="b"/>
          <a:lstStyle>
            <a:lvl1pPr>
              <a:defRPr sz="2646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214522" y="1539425"/>
            <a:ext cx="3827889" cy="7598117"/>
          </a:xfrm>
        </p:spPr>
        <p:txBody>
          <a:bodyPr/>
          <a:lstStyle>
            <a:lvl1pPr>
              <a:defRPr sz="2646"/>
            </a:lvl1pPr>
            <a:lvl2pPr>
              <a:defRPr sz="2315"/>
            </a:lvl2pPr>
            <a:lvl3pPr>
              <a:defRPr sz="1985"/>
            </a:lvl3pPr>
            <a:lvl4pPr>
              <a:defRPr sz="1654"/>
            </a:lvl4pPr>
            <a:lvl5pPr>
              <a:defRPr sz="1654"/>
            </a:lvl5pPr>
            <a:lvl6pPr>
              <a:defRPr sz="1654"/>
            </a:lvl6pPr>
            <a:lvl7pPr>
              <a:defRPr sz="1654"/>
            </a:lvl7pPr>
            <a:lvl8pPr>
              <a:defRPr sz="1654"/>
            </a:lvl8pPr>
            <a:lvl9pPr>
              <a:defRPr sz="1654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20822" y="3207544"/>
            <a:ext cx="2438704" cy="5942372"/>
          </a:xfrm>
        </p:spPr>
        <p:txBody>
          <a:bodyPr/>
          <a:lstStyle>
            <a:lvl1pPr marL="0" indent="0">
              <a:buNone/>
              <a:defRPr sz="1323"/>
            </a:lvl1pPr>
            <a:lvl2pPr marL="378059" indent="0">
              <a:buNone/>
              <a:defRPr sz="1158"/>
            </a:lvl2pPr>
            <a:lvl3pPr marL="756117" indent="0">
              <a:buNone/>
              <a:defRPr sz="992"/>
            </a:lvl3pPr>
            <a:lvl4pPr marL="1134176" indent="0">
              <a:buNone/>
              <a:defRPr sz="827"/>
            </a:lvl4pPr>
            <a:lvl5pPr marL="1512235" indent="0">
              <a:buNone/>
              <a:defRPr sz="827"/>
            </a:lvl5pPr>
            <a:lvl6pPr marL="1890293" indent="0">
              <a:buNone/>
              <a:defRPr sz="827"/>
            </a:lvl6pPr>
            <a:lvl7pPr marL="2268352" indent="0">
              <a:buNone/>
              <a:defRPr sz="827"/>
            </a:lvl7pPr>
            <a:lvl8pPr marL="2646411" indent="0">
              <a:buNone/>
              <a:defRPr sz="827"/>
            </a:lvl8pPr>
            <a:lvl9pPr marL="3024469" indent="0">
              <a:buNone/>
              <a:defRPr sz="827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57E78B-50A5-4041-B8E5-C741E639875A}" type="datetimeFigureOut">
              <a:rPr lang="pt-BR" smtClean="0"/>
              <a:t>28/04/2026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90920B-204E-400E-81BC-E838173BE79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391206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0822" y="712788"/>
            <a:ext cx="2438704" cy="2494756"/>
          </a:xfrm>
        </p:spPr>
        <p:txBody>
          <a:bodyPr anchor="b"/>
          <a:lstStyle>
            <a:lvl1pPr>
              <a:defRPr sz="2646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214522" y="1539425"/>
            <a:ext cx="3827889" cy="7598117"/>
          </a:xfrm>
        </p:spPr>
        <p:txBody>
          <a:bodyPr anchor="t"/>
          <a:lstStyle>
            <a:lvl1pPr marL="0" indent="0">
              <a:buNone/>
              <a:defRPr sz="2646"/>
            </a:lvl1pPr>
            <a:lvl2pPr marL="378059" indent="0">
              <a:buNone/>
              <a:defRPr sz="2315"/>
            </a:lvl2pPr>
            <a:lvl3pPr marL="756117" indent="0">
              <a:buNone/>
              <a:defRPr sz="1985"/>
            </a:lvl3pPr>
            <a:lvl4pPr marL="1134176" indent="0">
              <a:buNone/>
              <a:defRPr sz="1654"/>
            </a:lvl4pPr>
            <a:lvl5pPr marL="1512235" indent="0">
              <a:buNone/>
              <a:defRPr sz="1654"/>
            </a:lvl5pPr>
            <a:lvl6pPr marL="1890293" indent="0">
              <a:buNone/>
              <a:defRPr sz="1654"/>
            </a:lvl6pPr>
            <a:lvl7pPr marL="2268352" indent="0">
              <a:buNone/>
              <a:defRPr sz="1654"/>
            </a:lvl7pPr>
            <a:lvl8pPr marL="2646411" indent="0">
              <a:buNone/>
              <a:defRPr sz="1654"/>
            </a:lvl8pPr>
            <a:lvl9pPr marL="3024469" indent="0">
              <a:buNone/>
              <a:defRPr sz="1654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20822" y="3207544"/>
            <a:ext cx="2438704" cy="5942372"/>
          </a:xfrm>
        </p:spPr>
        <p:txBody>
          <a:bodyPr/>
          <a:lstStyle>
            <a:lvl1pPr marL="0" indent="0">
              <a:buNone/>
              <a:defRPr sz="1323"/>
            </a:lvl1pPr>
            <a:lvl2pPr marL="378059" indent="0">
              <a:buNone/>
              <a:defRPr sz="1158"/>
            </a:lvl2pPr>
            <a:lvl3pPr marL="756117" indent="0">
              <a:buNone/>
              <a:defRPr sz="992"/>
            </a:lvl3pPr>
            <a:lvl4pPr marL="1134176" indent="0">
              <a:buNone/>
              <a:defRPr sz="827"/>
            </a:lvl4pPr>
            <a:lvl5pPr marL="1512235" indent="0">
              <a:buNone/>
              <a:defRPr sz="827"/>
            </a:lvl5pPr>
            <a:lvl6pPr marL="1890293" indent="0">
              <a:buNone/>
              <a:defRPr sz="827"/>
            </a:lvl6pPr>
            <a:lvl7pPr marL="2268352" indent="0">
              <a:buNone/>
              <a:defRPr sz="827"/>
            </a:lvl7pPr>
            <a:lvl8pPr marL="2646411" indent="0">
              <a:buNone/>
              <a:defRPr sz="827"/>
            </a:lvl8pPr>
            <a:lvl9pPr marL="3024469" indent="0">
              <a:buNone/>
              <a:defRPr sz="827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57E78B-50A5-4041-B8E5-C741E639875A}" type="datetimeFigureOut">
              <a:rPr lang="pt-BR" smtClean="0"/>
              <a:t>28/04/2026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90920B-204E-400E-81BC-E838173BE79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634887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57E78B-50A5-4041-B8E5-C741E639875A}" type="datetimeFigureOut">
              <a:rPr lang="pt-BR" smtClean="0"/>
              <a:t>28/04/2026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90920B-204E-400E-81BC-E838173BE79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761849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411029" y="569240"/>
            <a:ext cx="1630397" cy="9060817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19837" y="569240"/>
            <a:ext cx="4796676" cy="9060817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57E78B-50A5-4041-B8E5-C741E639875A}" type="datetimeFigureOut">
              <a:rPr lang="pt-BR" smtClean="0"/>
              <a:t>28/04/2026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90920B-204E-400E-81BC-E838173BE79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95912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19837" y="569242"/>
            <a:ext cx="6521589" cy="206659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9837" y="2846200"/>
            <a:ext cx="6521589" cy="678385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19837" y="9909729"/>
            <a:ext cx="1701284" cy="5692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92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157E78B-50A5-4041-B8E5-C741E639875A}" type="datetimeFigureOut">
              <a:rPr lang="pt-BR" smtClean="0"/>
              <a:t>28/04/2026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04669" y="9909729"/>
            <a:ext cx="2551926" cy="5692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92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340142" y="9909729"/>
            <a:ext cx="1701284" cy="5692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92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390920B-204E-400E-81BC-E838173BE79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732661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756117" rtl="0" eaLnBrk="1" latinLnBrk="0" hangingPunct="1">
        <a:lnSpc>
          <a:spcPct val="90000"/>
        </a:lnSpc>
        <a:spcBef>
          <a:spcPct val="0"/>
        </a:spcBef>
        <a:buNone/>
        <a:defRPr sz="3638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89029" indent="-189029" algn="l" defTabSz="756117" rtl="0" eaLnBrk="1" latinLnBrk="0" hangingPunct="1">
        <a:lnSpc>
          <a:spcPct val="90000"/>
        </a:lnSpc>
        <a:spcBef>
          <a:spcPts val="827"/>
        </a:spcBef>
        <a:buFont typeface="Arial" panose="020B0604020202020204" pitchFamily="34" charset="0"/>
        <a:buChar char="•"/>
        <a:defRPr sz="2315" kern="1200">
          <a:solidFill>
            <a:schemeClr val="tx1"/>
          </a:solidFill>
          <a:latin typeface="+mn-lt"/>
          <a:ea typeface="+mn-ea"/>
          <a:cs typeface="+mn-cs"/>
        </a:defRPr>
      </a:lvl1pPr>
      <a:lvl2pPr marL="567088" indent="-189029" algn="l" defTabSz="756117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985" kern="1200">
          <a:solidFill>
            <a:schemeClr val="tx1"/>
          </a:solidFill>
          <a:latin typeface="+mn-lt"/>
          <a:ea typeface="+mn-ea"/>
          <a:cs typeface="+mn-cs"/>
        </a:defRPr>
      </a:lvl2pPr>
      <a:lvl3pPr marL="945147" indent="-189029" algn="l" defTabSz="756117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654" kern="1200">
          <a:solidFill>
            <a:schemeClr val="tx1"/>
          </a:solidFill>
          <a:latin typeface="+mn-lt"/>
          <a:ea typeface="+mn-ea"/>
          <a:cs typeface="+mn-cs"/>
        </a:defRPr>
      </a:lvl3pPr>
      <a:lvl4pPr marL="1323205" indent="-189029" algn="l" defTabSz="756117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488" kern="1200">
          <a:solidFill>
            <a:schemeClr val="tx1"/>
          </a:solidFill>
          <a:latin typeface="+mn-lt"/>
          <a:ea typeface="+mn-ea"/>
          <a:cs typeface="+mn-cs"/>
        </a:defRPr>
      </a:lvl4pPr>
      <a:lvl5pPr marL="1701264" indent="-189029" algn="l" defTabSz="756117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488" kern="1200">
          <a:solidFill>
            <a:schemeClr val="tx1"/>
          </a:solidFill>
          <a:latin typeface="+mn-lt"/>
          <a:ea typeface="+mn-ea"/>
          <a:cs typeface="+mn-cs"/>
        </a:defRPr>
      </a:lvl5pPr>
      <a:lvl6pPr marL="2079323" indent="-189029" algn="l" defTabSz="756117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488" kern="1200">
          <a:solidFill>
            <a:schemeClr val="tx1"/>
          </a:solidFill>
          <a:latin typeface="+mn-lt"/>
          <a:ea typeface="+mn-ea"/>
          <a:cs typeface="+mn-cs"/>
        </a:defRPr>
      </a:lvl6pPr>
      <a:lvl7pPr marL="2457381" indent="-189029" algn="l" defTabSz="756117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488" kern="1200">
          <a:solidFill>
            <a:schemeClr val="tx1"/>
          </a:solidFill>
          <a:latin typeface="+mn-lt"/>
          <a:ea typeface="+mn-ea"/>
          <a:cs typeface="+mn-cs"/>
        </a:defRPr>
      </a:lvl7pPr>
      <a:lvl8pPr marL="2835440" indent="-189029" algn="l" defTabSz="756117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488" kern="1200">
          <a:solidFill>
            <a:schemeClr val="tx1"/>
          </a:solidFill>
          <a:latin typeface="+mn-lt"/>
          <a:ea typeface="+mn-ea"/>
          <a:cs typeface="+mn-cs"/>
        </a:defRPr>
      </a:lvl8pPr>
      <a:lvl9pPr marL="3213499" indent="-189029" algn="l" defTabSz="756117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488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756117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1pPr>
      <a:lvl2pPr marL="378059" algn="l" defTabSz="756117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2pPr>
      <a:lvl3pPr marL="756117" algn="l" defTabSz="756117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3pPr>
      <a:lvl4pPr marL="1134176" algn="l" defTabSz="756117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4pPr>
      <a:lvl5pPr marL="1512235" algn="l" defTabSz="756117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5pPr>
      <a:lvl6pPr marL="1890293" algn="l" defTabSz="756117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6pPr>
      <a:lvl7pPr marL="2268352" algn="l" defTabSz="756117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7pPr>
      <a:lvl8pPr marL="2646411" algn="l" defTabSz="756117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8pPr>
      <a:lvl9pPr marL="3024469" algn="l" defTabSz="756117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11.png"/><Relationship Id="rId7" Type="http://schemas.openxmlformats.org/officeDocument/2006/relationships/image" Target="../media/image2.png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Relationship Id="rId9" Type="http://schemas.openxmlformats.org/officeDocument/2006/relationships/image" Target="../media/image1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AA9565-0DDF-F6EC-0128-90409CE049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" name="Imagem 28">
            <a:extLst>
              <a:ext uri="{FF2B5EF4-FFF2-40B4-BE49-F238E27FC236}">
                <a16:creationId xmlns:a16="http://schemas.microsoft.com/office/drawing/2014/main" id="{B913DA94-6BE7-7D04-D3F9-9EB3D958568E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13" y="0"/>
            <a:ext cx="7558636" cy="10691813"/>
          </a:xfrm>
          <a:prstGeom prst="rect">
            <a:avLst/>
          </a:prstGeom>
        </p:spPr>
      </p:pic>
      <p:sp>
        <p:nvSpPr>
          <p:cNvPr id="6" name="CaixaDeTexto 5">
            <a:extLst>
              <a:ext uri="{FF2B5EF4-FFF2-40B4-BE49-F238E27FC236}">
                <a16:creationId xmlns:a16="http://schemas.microsoft.com/office/drawing/2014/main" id="{5EA4E235-B7A1-E127-0B17-BE3B01779BF3}"/>
              </a:ext>
            </a:extLst>
          </p:cNvPr>
          <p:cNvSpPr txBox="1"/>
          <p:nvPr/>
        </p:nvSpPr>
        <p:spPr>
          <a:xfrm>
            <a:off x="628517" y="758648"/>
            <a:ext cx="6565430" cy="15515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5900"/>
              </a:lnSpc>
            </a:pPr>
            <a:r>
              <a:rPr lang="pt-BR" sz="4800" b="1" dirty="0">
                <a:solidFill>
                  <a:srgbClr val="E01684"/>
                </a:solidFill>
                <a:latin typeface="Arial Black" panose="020B0A04020102020204" pitchFamily="34" charset="0"/>
                <a:ea typeface="Inter" panose="02000503000000020004" pitchFamily="2" charset="0"/>
              </a:rPr>
              <a:t>Kit </a:t>
            </a:r>
            <a:r>
              <a:rPr lang="pt-BR" sz="4800" b="1" dirty="0" err="1">
                <a:solidFill>
                  <a:srgbClr val="E01684"/>
                </a:solidFill>
                <a:latin typeface="Arial Black" panose="020B0A04020102020204" pitchFamily="34" charset="0"/>
                <a:ea typeface="Inter" panose="02000503000000020004" pitchFamily="2" charset="0"/>
              </a:rPr>
              <a:t>Nanolote</a:t>
            </a:r>
            <a:endParaRPr lang="pt-BR" sz="4800" b="1" dirty="0">
              <a:solidFill>
                <a:srgbClr val="E01684"/>
              </a:solidFill>
              <a:latin typeface="Arial Black" panose="020B0A04020102020204" pitchFamily="34" charset="0"/>
              <a:ea typeface="Inter" panose="02000503000000020004" pitchFamily="2" charset="0"/>
            </a:endParaRPr>
          </a:p>
          <a:p>
            <a:pPr algn="ctr">
              <a:lnSpc>
                <a:spcPts val="5900"/>
              </a:lnSpc>
            </a:pPr>
            <a:r>
              <a:rPr lang="pt-BR" sz="4400" b="1" dirty="0">
                <a:solidFill>
                  <a:srgbClr val="E01684"/>
                </a:solidFill>
                <a:latin typeface="Arial Black" panose="020B0A04020102020204" pitchFamily="34" charset="0"/>
                <a:ea typeface="Inter" panose="02000503000000020004" pitchFamily="2" charset="0"/>
              </a:rPr>
              <a:t>COWLES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C1B3622A-F185-A494-BE94-3FCA5A8B3D30}"/>
              </a:ext>
            </a:extLst>
          </p:cNvPr>
          <p:cNvSpPr txBox="1"/>
          <p:nvPr/>
        </p:nvSpPr>
        <p:spPr>
          <a:xfrm>
            <a:off x="3521356" y="8618436"/>
            <a:ext cx="370572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pt-BR" sz="1600" b="1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Proposta</a:t>
            </a:r>
            <a:r>
              <a:rPr lang="pt-BR" sz="1600" b="1" dirty="0">
                <a:latin typeface="Arial" panose="020B0604020202020204" pitchFamily="34" charset="0"/>
                <a:cs typeface="Arial" panose="020B0604020202020204" pitchFamily="34" charset="0"/>
              </a:rPr>
              <a:t> Técnica Nº {{proposta}}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B15D254C-420D-4360-EC81-BCFD717CDC61}"/>
              </a:ext>
            </a:extLst>
          </p:cNvPr>
          <p:cNvSpPr txBox="1"/>
          <p:nvPr/>
        </p:nvSpPr>
        <p:spPr>
          <a:xfrm>
            <a:off x="3819673" y="8931807"/>
            <a:ext cx="337427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pt-BR" sz="1600" b="1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Aplicação: </a:t>
            </a:r>
            <a:r>
              <a:rPr lang="pt-BR" sz="16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Alta Dispersão e Homogeneização</a:t>
            </a:r>
          </a:p>
        </p:txBody>
      </p:sp>
      <p:pic>
        <p:nvPicPr>
          <p:cNvPr id="27" name="Imagem 26">
            <a:extLst>
              <a:ext uri="{FF2B5EF4-FFF2-40B4-BE49-F238E27FC236}">
                <a16:creationId xmlns:a16="http://schemas.microsoft.com/office/drawing/2014/main" id="{834385E1-32D4-D2F0-CA4A-D78CE7AC9F7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82962" y="10125011"/>
            <a:ext cx="795338" cy="274618"/>
          </a:xfrm>
          <a:prstGeom prst="rect">
            <a:avLst/>
          </a:prstGeom>
        </p:spPr>
      </p:pic>
      <p:sp>
        <p:nvSpPr>
          <p:cNvPr id="12" name="Retângulo: Cantos Arredondados 11">
            <a:extLst>
              <a:ext uri="{FF2B5EF4-FFF2-40B4-BE49-F238E27FC236}">
                <a16:creationId xmlns:a16="http://schemas.microsoft.com/office/drawing/2014/main" id="{B6F4201B-2685-E8C9-8A22-2118BE96BFBC}"/>
              </a:ext>
            </a:extLst>
          </p:cNvPr>
          <p:cNvSpPr/>
          <p:nvPr/>
        </p:nvSpPr>
        <p:spPr>
          <a:xfrm>
            <a:off x="642937" y="8223749"/>
            <a:ext cx="1776413" cy="1578574"/>
          </a:xfrm>
          <a:prstGeom prst="roundRect">
            <a:avLst/>
          </a:prstGeom>
          <a:solidFill>
            <a:srgbClr val="E0168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41110BBE-8AFB-1821-7905-4C3EC40D085A}"/>
              </a:ext>
            </a:extLst>
          </p:cNvPr>
          <p:cNvSpPr txBox="1"/>
          <p:nvPr/>
        </p:nvSpPr>
        <p:spPr>
          <a:xfrm>
            <a:off x="559806" y="8366350"/>
            <a:ext cx="190630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600" b="1" dirty="0">
                <a:solidFill>
                  <a:schemeClr val="bg1"/>
                </a:solidFill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Tecnologia:</a:t>
            </a:r>
            <a:br>
              <a:rPr lang="pt-BR" sz="1600" b="1" dirty="0">
                <a:solidFill>
                  <a:schemeClr val="bg1"/>
                </a:solidFill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</a:br>
            <a:r>
              <a:rPr lang="pt-BR" sz="1400" b="1" dirty="0" err="1">
                <a:solidFill>
                  <a:schemeClr val="bg1"/>
                </a:solidFill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Nanolote</a:t>
            </a:r>
            <a:r>
              <a:rPr lang="pt-BR" sz="1400" b="1" dirty="0">
                <a:solidFill>
                  <a:schemeClr val="bg1"/>
                </a:solidFill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 </a:t>
            </a:r>
            <a:r>
              <a:rPr lang="pt-BR" sz="1400" b="1" dirty="0" err="1">
                <a:solidFill>
                  <a:schemeClr val="bg1"/>
                </a:solidFill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Cowles</a:t>
            </a:r>
            <a:endParaRPr lang="pt-BR" sz="1600" dirty="0">
              <a:solidFill>
                <a:schemeClr val="bg1"/>
              </a:solidFill>
              <a:latin typeface="Arial" panose="020B0604020202020204" pitchFamily="34" charset="0"/>
              <a:ea typeface="Inter" panose="02000503000000020004" pitchFamily="2" charset="0"/>
              <a:cs typeface="Arial" panose="020B0604020202020204" pitchFamily="34" charset="0"/>
            </a:endParaRPr>
          </a:p>
        </p:txBody>
      </p:sp>
      <p:sp>
        <p:nvSpPr>
          <p:cNvPr id="14" name="CaixaDeTexto 13">
            <a:extLst>
              <a:ext uri="{FF2B5EF4-FFF2-40B4-BE49-F238E27FC236}">
                <a16:creationId xmlns:a16="http://schemas.microsoft.com/office/drawing/2014/main" id="{20C2C3AC-5EC0-B4D9-3AE4-820CA8A08892}"/>
              </a:ext>
            </a:extLst>
          </p:cNvPr>
          <p:cNvSpPr txBox="1"/>
          <p:nvPr/>
        </p:nvSpPr>
        <p:spPr>
          <a:xfrm>
            <a:off x="642938" y="9013036"/>
            <a:ext cx="177641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600" b="1" dirty="0">
                <a:solidFill>
                  <a:schemeClr val="bg1"/>
                </a:solidFill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Diâmetro:</a:t>
            </a:r>
          </a:p>
          <a:p>
            <a:pPr algn="ctr"/>
            <a:r>
              <a:rPr lang="pt-BR" sz="1600" dirty="0">
                <a:solidFill>
                  <a:schemeClr val="bg1"/>
                </a:solidFill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{{</a:t>
            </a:r>
            <a:r>
              <a:rPr lang="pt-BR" sz="1600" dirty="0" err="1">
                <a:solidFill>
                  <a:schemeClr val="bg1"/>
                </a:solidFill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diametro_corpo</a:t>
            </a:r>
            <a:r>
              <a:rPr lang="pt-BR" sz="1600" dirty="0">
                <a:solidFill>
                  <a:schemeClr val="bg1"/>
                </a:solidFill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}} mm</a:t>
            </a:r>
          </a:p>
        </p:txBody>
      </p:sp>
      <p:cxnSp>
        <p:nvCxnSpPr>
          <p:cNvPr id="16" name="Conector reto 15">
            <a:extLst>
              <a:ext uri="{FF2B5EF4-FFF2-40B4-BE49-F238E27FC236}">
                <a16:creationId xmlns:a16="http://schemas.microsoft.com/office/drawing/2014/main" id="{ABB1D457-FE9B-9A44-60ED-5647F25E9BFD}"/>
              </a:ext>
            </a:extLst>
          </p:cNvPr>
          <p:cNvCxnSpPr>
            <a:cxnSpLocks/>
            <a:stCxn id="12" idx="1"/>
            <a:endCxn id="12" idx="3"/>
          </p:cNvCxnSpPr>
          <p:nvPr/>
        </p:nvCxnSpPr>
        <p:spPr>
          <a:xfrm>
            <a:off x="642937" y="9013036"/>
            <a:ext cx="1776413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4" name="Imagem 3">
            <a:extLst>
              <a:ext uri="{FF2B5EF4-FFF2-40B4-BE49-F238E27FC236}">
                <a16:creationId xmlns:a16="http://schemas.microsoft.com/office/drawing/2014/main" id="{485D872B-459F-194C-D7E2-52159D21A43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3597028">
            <a:off x="2310175" y="846348"/>
            <a:ext cx="6940019" cy="69400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827207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B3DA2B-66A4-6132-B1DB-35EA12B7C2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3" name="Imagem 52">
            <a:extLst>
              <a:ext uri="{FF2B5EF4-FFF2-40B4-BE49-F238E27FC236}">
                <a16:creationId xmlns:a16="http://schemas.microsoft.com/office/drawing/2014/main" id="{2DA6CAA3-6C7E-DF1D-C489-75B8DC67F738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13" y="0"/>
            <a:ext cx="7558636" cy="10691813"/>
          </a:xfrm>
          <a:prstGeom prst="rect">
            <a:avLst/>
          </a:prstGeom>
        </p:spPr>
      </p:pic>
      <p:sp>
        <p:nvSpPr>
          <p:cNvPr id="16" name="CaixaDeTexto 15">
            <a:extLst>
              <a:ext uri="{FF2B5EF4-FFF2-40B4-BE49-F238E27FC236}">
                <a16:creationId xmlns:a16="http://schemas.microsoft.com/office/drawing/2014/main" id="{0169B29F-5158-B93F-9B80-AC854030C197}"/>
              </a:ext>
            </a:extLst>
          </p:cNvPr>
          <p:cNvSpPr txBox="1"/>
          <p:nvPr/>
        </p:nvSpPr>
        <p:spPr>
          <a:xfrm>
            <a:off x="195744" y="684011"/>
            <a:ext cx="6680618" cy="1371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5100"/>
              </a:lnSpc>
            </a:pPr>
            <a:r>
              <a:rPr lang="pt-BR" sz="4000" b="1" dirty="0">
                <a:solidFill>
                  <a:srgbClr val="E01684"/>
                </a:solidFill>
                <a:latin typeface="Arial Black" panose="020B0A04020102020204" pitchFamily="34" charset="0"/>
                <a:ea typeface="Inter" panose="02000503000000020004" pitchFamily="2" charset="0"/>
              </a:rPr>
              <a:t>Especificidades Técnicas</a:t>
            </a:r>
          </a:p>
        </p:txBody>
      </p:sp>
      <p:sp>
        <p:nvSpPr>
          <p:cNvPr id="17" name="Retângulo: Cantos Arredondados 16">
            <a:extLst>
              <a:ext uri="{FF2B5EF4-FFF2-40B4-BE49-F238E27FC236}">
                <a16:creationId xmlns:a16="http://schemas.microsoft.com/office/drawing/2014/main" id="{1469791A-466E-1030-D63A-518310E66409}"/>
              </a:ext>
            </a:extLst>
          </p:cNvPr>
          <p:cNvSpPr/>
          <p:nvPr/>
        </p:nvSpPr>
        <p:spPr>
          <a:xfrm>
            <a:off x="855720" y="2705196"/>
            <a:ext cx="97631" cy="100335"/>
          </a:xfrm>
          <a:prstGeom prst="roundRect">
            <a:avLst/>
          </a:prstGeom>
          <a:solidFill>
            <a:srgbClr val="E0168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37" name="Imagem 36">
            <a:extLst>
              <a:ext uri="{FF2B5EF4-FFF2-40B4-BE49-F238E27FC236}">
                <a16:creationId xmlns:a16="http://schemas.microsoft.com/office/drawing/2014/main" id="{13CA9346-23F1-71E1-6B40-3B6F77FDF30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10855" y="10150411"/>
            <a:ext cx="795338" cy="274618"/>
          </a:xfrm>
          <a:prstGeom prst="rect">
            <a:avLst/>
          </a:prstGeom>
        </p:spPr>
      </p:pic>
      <p:sp>
        <p:nvSpPr>
          <p:cNvPr id="38" name="CaixaDeTexto 37">
            <a:extLst>
              <a:ext uri="{FF2B5EF4-FFF2-40B4-BE49-F238E27FC236}">
                <a16:creationId xmlns:a16="http://schemas.microsoft.com/office/drawing/2014/main" id="{719ACBEC-2335-D3C6-C787-EB10395C81E0}"/>
              </a:ext>
            </a:extLst>
          </p:cNvPr>
          <p:cNvSpPr txBox="1"/>
          <p:nvPr/>
        </p:nvSpPr>
        <p:spPr>
          <a:xfrm>
            <a:off x="1139584" y="2451964"/>
            <a:ext cx="248803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b="1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Vetor</a:t>
            </a:r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: </a:t>
            </a:r>
            <a:r>
              <a:rPr lang="pt-BR" sz="1400" dirty="0" err="1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Nanolote</a:t>
            </a:r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 </a:t>
            </a:r>
            <a:r>
              <a:rPr lang="pt-BR" sz="1400" dirty="0" err="1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Cowles</a:t>
            </a:r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 com  Aleta Dedicada.</a:t>
            </a:r>
          </a:p>
        </p:txBody>
      </p:sp>
      <p:sp>
        <p:nvSpPr>
          <p:cNvPr id="39" name="CaixaDeTexto 38">
            <a:extLst>
              <a:ext uri="{FF2B5EF4-FFF2-40B4-BE49-F238E27FC236}">
                <a16:creationId xmlns:a16="http://schemas.microsoft.com/office/drawing/2014/main" id="{52B88C26-6B53-FF6B-EE27-501547791EBA}"/>
              </a:ext>
            </a:extLst>
          </p:cNvPr>
          <p:cNvSpPr txBox="1"/>
          <p:nvPr/>
        </p:nvSpPr>
        <p:spPr>
          <a:xfrm>
            <a:off x="1110556" y="3226129"/>
            <a:ext cx="237904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b="1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Diâmetro da Aleta:</a:t>
            </a:r>
          </a:p>
          <a:p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{{</a:t>
            </a:r>
            <a:r>
              <a:rPr lang="pt-BR" sz="1400" dirty="0" err="1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diametro_aleta</a:t>
            </a:r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}} mm</a:t>
            </a:r>
          </a:p>
        </p:txBody>
      </p:sp>
      <p:sp>
        <p:nvSpPr>
          <p:cNvPr id="40" name="CaixaDeTexto 39">
            <a:extLst>
              <a:ext uri="{FF2B5EF4-FFF2-40B4-BE49-F238E27FC236}">
                <a16:creationId xmlns:a16="http://schemas.microsoft.com/office/drawing/2014/main" id="{D91DAD4F-21E4-96B1-3E5B-3249BD815BF2}"/>
              </a:ext>
            </a:extLst>
          </p:cNvPr>
          <p:cNvSpPr txBox="1"/>
          <p:nvPr/>
        </p:nvSpPr>
        <p:spPr>
          <a:xfrm>
            <a:off x="1110556" y="3917899"/>
            <a:ext cx="202712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b="1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Espaçamento: </a:t>
            </a:r>
          </a:p>
          <a:p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{{</a:t>
            </a:r>
            <a:r>
              <a:rPr lang="pt-BR" sz="1400" dirty="0" err="1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espacamento</a:t>
            </a:r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}} mm</a:t>
            </a:r>
          </a:p>
        </p:txBody>
      </p:sp>
      <p:sp>
        <p:nvSpPr>
          <p:cNvPr id="41" name="CaixaDeTexto 40">
            <a:extLst>
              <a:ext uri="{FF2B5EF4-FFF2-40B4-BE49-F238E27FC236}">
                <a16:creationId xmlns:a16="http://schemas.microsoft.com/office/drawing/2014/main" id="{EC0B93EA-4AD6-5850-7896-4F4EB64BAE1B}"/>
              </a:ext>
            </a:extLst>
          </p:cNvPr>
          <p:cNvSpPr txBox="1"/>
          <p:nvPr/>
        </p:nvSpPr>
        <p:spPr>
          <a:xfrm>
            <a:off x="1110556" y="4627554"/>
            <a:ext cx="202712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b="1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Diâmetro do Corpo: </a:t>
            </a:r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{{</a:t>
            </a:r>
            <a:r>
              <a:rPr lang="pt-BR" sz="1400" dirty="0" err="1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diametro_corpo</a:t>
            </a:r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}} mm</a:t>
            </a:r>
          </a:p>
        </p:txBody>
      </p:sp>
      <p:sp>
        <p:nvSpPr>
          <p:cNvPr id="42" name="CaixaDeTexto 41">
            <a:extLst>
              <a:ext uri="{FF2B5EF4-FFF2-40B4-BE49-F238E27FC236}">
                <a16:creationId xmlns:a16="http://schemas.microsoft.com/office/drawing/2014/main" id="{F543EE72-E33A-F4BC-4C69-C8B3D101DB3C}"/>
              </a:ext>
            </a:extLst>
          </p:cNvPr>
          <p:cNvSpPr txBox="1"/>
          <p:nvPr/>
        </p:nvSpPr>
        <p:spPr>
          <a:xfrm>
            <a:off x="1110555" y="5363177"/>
            <a:ext cx="202712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b="1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Material: </a:t>
            </a:r>
          </a:p>
          <a:p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Aço Inox {{</a:t>
            </a:r>
            <a:r>
              <a:rPr lang="pt-BR" sz="1400" dirty="0" err="1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aisi</a:t>
            </a:r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}}</a:t>
            </a:r>
          </a:p>
        </p:txBody>
      </p:sp>
      <p:sp>
        <p:nvSpPr>
          <p:cNvPr id="43" name="CaixaDeTexto 42">
            <a:extLst>
              <a:ext uri="{FF2B5EF4-FFF2-40B4-BE49-F238E27FC236}">
                <a16:creationId xmlns:a16="http://schemas.microsoft.com/office/drawing/2014/main" id="{64D41006-D99B-522E-1243-D17F001C5071}"/>
              </a:ext>
            </a:extLst>
          </p:cNvPr>
          <p:cNvSpPr txBox="1"/>
          <p:nvPr/>
        </p:nvSpPr>
        <p:spPr>
          <a:xfrm>
            <a:off x="4432093" y="2451964"/>
            <a:ext cx="202712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b="1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Acabamento: </a:t>
            </a:r>
          </a:p>
          <a:p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Semi escovado</a:t>
            </a:r>
          </a:p>
        </p:txBody>
      </p:sp>
      <p:sp>
        <p:nvSpPr>
          <p:cNvPr id="44" name="CaixaDeTexto 43">
            <a:extLst>
              <a:ext uri="{FF2B5EF4-FFF2-40B4-BE49-F238E27FC236}">
                <a16:creationId xmlns:a16="http://schemas.microsoft.com/office/drawing/2014/main" id="{EF884DB6-CE01-4400-DE4D-46A8B3ECDC8A}"/>
              </a:ext>
            </a:extLst>
          </p:cNvPr>
          <p:cNvSpPr txBox="1"/>
          <p:nvPr/>
        </p:nvSpPr>
        <p:spPr>
          <a:xfrm>
            <a:off x="4403064" y="3187710"/>
            <a:ext cx="202712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b="1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Espessura: </a:t>
            </a:r>
          </a:p>
          <a:p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{{espessura}} mm</a:t>
            </a:r>
          </a:p>
        </p:txBody>
      </p:sp>
      <p:sp>
        <p:nvSpPr>
          <p:cNvPr id="45" name="CaixaDeTexto 44">
            <a:extLst>
              <a:ext uri="{FF2B5EF4-FFF2-40B4-BE49-F238E27FC236}">
                <a16:creationId xmlns:a16="http://schemas.microsoft.com/office/drawing/2014/main" id="{82254A3C-DDF4-1E8E-4E2A-B86BBD3C0ABB}"/>
              </a:ext>
            </a:extLst>
          </p:cNvPr>
          <p:cNvSpPr txBox="1"/>
          <p:nvPr/>
        </p:nvSpPr>
        <p:spPr>
          <a:xfrm>
            <a:off x="4459361" y="3917899"/>
            <a:ext cx="224331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b="1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Furo central: </a:t>
            </a:r>
          </a:p>
          <a:p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Padrão com {{furo}} mm</a:t>
            </a:r>
          </a:p>
        </p:txBody>
      </p:sp>
      <p:sp>
        <p:nvSpPr>
          <p:cNvPr id="46" name="CaixaDeTexto 45">
            <a:extLst>
              <a:ext uri="{FF2B5EF4-FFF2-40B4-BE49-F238E27FC236}">
                <a16:creationId xmlns:a16="http://schemas.microsoft.com/office/drawing/2014/main" id="{97B69787-EADC-6806-5E33-9033CAE74E02}"/>
              </a:ext>
            </a:extLst>
          </p:cNvPr>
          <p:cNvSpPr txBox="1"/>
          <p:nvPr/>
        </p:nvSpPr>
        <p:spPr>
          <a:xfrm>
            <a:off x="4403064" y="4648088"/>
            <a:ext cx="202712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b="1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Eixo/Haste: </a:t>
            </a:r>
          </a:p>
          <a:p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{{haste}}</a:t>
            </a:r>
          </a:p>
        </p:txBody>
      </p:sp>
      <p:sp>
        <p:nvSpPr>
          <p:cNvPr id="47" name="CaixaDeTexto 46">
            <a:extLst>
              <a:ext uri="{FF2B5EF4-FFF2-40B4-BE49-F238E27FC236}">
                <a16:creationId xmlns:a16="http://schemas.microsoft.com/office/drawing/2014/main" id="{3C8949B0-39FD-C15C-A438-282037409479}"/>
              </a:ext>
            </a:extLst>
          </p:cNvPr>
          <p:cNvSpPr txBox="1"/>
          <p:nvPr/>
        </p:nvSpPr>
        <p:spPr>
          <a:xfrm>
            <a:off x="4432091" y="5413239"/>
            <a:ext cx="2376433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b="1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RPM: </a:t>
            </a:r>
          </a:p>
          <a:p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Balanceada para altas e baixas rotações</a:t>
            </a:r>
          </a:p>
        </p:txBody>
      </p:sp>
      <p:sp>
        <p:nvSpPr>
          <p:cNvPr id="4" name="Retângulo: Cantos Arredondados 3">
            <a:extLst>
              <a:ext uri="{FF2B5EF4-FFF2-40B4-BE49-F238E27FC236}">
                <a16:creationId xmlns:a16="http://schemas.microsoft.com/office/drawing/2014/main" id="{99B116E9-B084-A371-0EB6-A8E6BA8BD2A2}"/>
              </a:ext>
            </a:extLst>
          </p:cNvPr>
          <p:cNvSpPr/>
          <p:nvPr/>
        </p:nvSpPr>
        <p:spPr>
          <a:xfrm>
            <a:off x="854426" y="3440714"/>
            <a:ext cx="97631" cy="100335"/>
          </a:xfrm>
          <a:prstGeom prst="roundRect">
            <a:avLst/>
          </a:prstGeom>
          <a:solidFill>
            <a:srgbClr val="E0168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" name="Retângulo: Cantos Arredondados 4">
            <a:extLst>
              <a:ext uri="{FF2B5EF4-FFF2-40B4-BE49-F238E27FC236}">
                <a16:creationId xmlns:a16="http://schemas.microsoft.com/office/drawing/2014/main" id="{D7B61333-9915-7B82-EB10-76D67765DF93}"/>
              </a:ext>
            </a:extLst>
          </p:cNvPr>
          <p:cNvSpPr/>
          <p:nvPr/>
        </p:nvSpPr>
        <p:spPr>
          <a:xfrm>
            <a:off x="855720" y="4164939"/>
            <a:ext cx="97631" cy="100335"/>
          </a:xfrm>
          <a:prstGeom prst="roundRect">
            <a:avLst/>
          </a:prstGeom>
          <a:solidFill>
            <a:srgbClr val="E0168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" name="Retângulo: Cantos Arredondados 5">
            <a:extLst>
              <a:ext uri="{FF2B5EF4-FFF2-40B4-BE49-F238E27FC236}">
                <a16:creationId xmlns:a16="http://schemas.microsoft.com/office/drawing/2014/main" id="{3E62B453-109C-45A1-ED54-D010B379A2DE}"/>
              </a:ext>
            </a:extLst>
          </p:cNvPr>
          <p:cNvSpPr/>
          <p:nvPr/>
        </p:nvSpPr>
        <p:spPr>
          <a:xfrm>
            <a:off x="855720" y="4889164"/>
            <a:ext cx="97631" cy="100335"/>
          </a:xfrm>
          <a:prstGeom prst="roundRect">
            <a:avLst/>
          </a:prstGeom>
          <a:solidFill>
            <a:srgbClr val="E0168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8" name="Retângulo: Cantos Arredondados 7">
            <a:extLst>
              <a:ext uri="{FF2B5EF4-FFF2-40B4-BE49-F238E27FC236}">
                <a16:creationId xmlns:a16="http://schemas.microsoft.com/office/drawing/2014/main" id="{51E068BF-39E1-4211-0D13-6D4EEDC442E7}"/>
              </a:ext>
            </a:extLst>
          </p:cNvPr>
          <p:cNvSpPr/>
          <p:nvPr/>
        </p:nvSpPr>
        <p:spPr>
          <a:xfrm>
            <a:off x="855720" y="5624682"/>
            <a:ext cx="97631" cy="100335"/>
          </a:xfrm>
          <a:prstGeom prst="roundRect">
            <a:avLst/>
          </a:prstGeom>
          <a:solidFill>
            <a:srgbClr val="E0168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" name="Retângulo: Cantos Arredondados 9">
            <a:extLst>
              <a:ext uri="{FF2B5EF4-FFF2-40B4-BE49-F238E27FC236}">
                <a16:creationId xmlns:a16="http://schemas.microsoft.com/office/drawing/2014/main" id="{52DA3D67-F633-6C75-2F1F-8B82A582B33C}"/>
              </a:ext>
            </a:extLst>
          </p:cNvPr>
          <p:cNvSpPr/>
          <p:nvPr/>
        </p:nvSpPr>
        <p:spPr>
          <a:xfrm>
            <a:off x="4056192" y="2705196"/>
            <a:ext cx="97631" cy="100335"/>
          </a:xfrm>
          <a:prstGeom prst="roundRect">
            <a:avLst/>
          </a:prstGeom>
          <a:solidFill>
            <a:srgbClr val="E0168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1" name="Retângulo: Cantos Arredondados 10">
            <a:extLst>
              <a:ext uri="{FF2B5EF4-FFF2-40B4-BE49-F238E27FC236}">
                <a16:creationId xmlns:a16="http://schemas.microsoft.com/office/drawing/2014/main" id="{00B3CAA0-4C67-D4F4-E885-50EB94228462}"/>
              </a:ext>
            </a:extLst>
          </p:cNvPr>
          <p:cNvSpPr/>
          <p:nvPr/>
        </p:nvSpPr>
        <p:spPr>
          <a:xfrm>
            <a:off x="4056191" y="3432564"/>
            <a:ext cx="97631" cy="100335"/>
          </a:xfrm>
          <a:prstGeom prst="roundRect">
            <a:avLst/>
          </a:prstGeom>
          <a:solidFill>
            <a:srgbClr val="E0168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2" name="Retângulo: Cantos Arredondados 11">
            <a:extLst>
              <a:ext uri="{FF2B5EF4-FFF2-40B4-BE49-F238E27FC236}">
                <a16:creationId xmlns:a16="http://schemas.microsoft.com/office/drawing/2014/main" id="{9ECDD673-043B-4136-1A4B-D05120723685}"/>
              </a:ext>
            </a:extLst>
          </p:cNvPr>
          <p:cNvSpPr/>
          <p:nvPr/>
        </p:nvSpPr>
        <p:spPr>
          <a:xfrm>
            <a:off x="4056190" y="4159932"/>
            <a:ext cx="97631" cy="100335"/>
          </a:xfrm>
          <a:prstGeom prst="roundRect">
            <a:avLst/>
          </a:prstGeom>
          <a:solidFill>
            <a:srgbClr val="E0168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3" name="Retângulo: Cantos Arredondados 12">
            <a:extLst>
              <a:ext uri="{FF2B5EF4-FFF2-40B4-BE49-F238E27FC236}">
                <a16:creationId xmlns:a16="http://schemas.microsoft.com/office/drawing/2014/main" id="{2892B26B-0554-C840-BE40-07ACB9B07758}"/>
              </a:ext>
            </a:extLst>
          </p:cNvPr>
          <p:cNvSpPr/>
          <p:nvPr/>
        </p:nvSpPr>
        <p:spPr>
          <a:xfrm>
            <a:off x="4056189" y="4887300"/>
            <a:ext cx="97631" cy="100335"/>
          </a:xfrm>
          <a:prstGeom prst="roundRect">
            <a:avLst/>
          </a:prstGeom>
          <a:solidFill>
            <a:srgbClr val="E0168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4" name="Retângulo: Cantos Arredondados 13">
            <a:extLst>
              <a:ext uri="{FF2B5EF4-FFF2-40B4-BE49-F238E27FC236}">
                <a16:creationId xmlns:a16="http://schemas.microsoft.com/office/drawing/2014/main" id="{A2A29CA7-384C-10DE-0216-54047510EF09}"/>
              </a:ext>
            </a:extLst>
          </p:cNvPr>
          <p:cNvSpPr/>
          <p:nvPr/>
        </p:nvSpPr>
        <p:spPr>
          <a:xfrm>
            <a:off x="4056189" y="5624682"/>
            <a:ext cx="97631" cy="100335"/>
          </a:xfrm>
          <a:prstGeom prst="roundRect">
            <a:avLst/>
          </a:prstGeom>
          <a:solidFill>
            <a:srgbClr val="E0168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D22B56B5-8595-A32C-F339-E88E54E0840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60153" y="6371823"/>
            <a:ext cx="4440956" cy="44409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750210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Imagem 24">
            <a:extLst>
              <a:ext uri="{FF2B5EF4-FFF2-40B4-BE49-F238E27FC236}">
                <a16:creationId xmlns:a16="http://schemas.microsoft.com/office/drawing/2014/main" id="{58B0150A-607A-439B-2AE7-91C0733BC6E1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13" y="0"/>
            <a:ext cx="7558636" cy="10691813"/>
          </a:xfrm>
          <a:prstGeom prst="rect">
            <a:avLst/>
          </a:prstGeom>
        </p:spPr>
      </p:pic>
      <p:sp>
        <p:nvSpPr>
          <p:cNvPr id="4" name="CaixaDeTexto 3">
            <a:extLst>
              <a:ext uri="{FF2B5EF4-FFF2-40B4-BE49-F238E27FC236}">
                <a16:creationId xmlns:a16="http://schemas.microsoft.com/office/drawing/2014/main" id="{4E268EB4-6172-811B-4097-FA9D7F73D484}"/>
              </a:ext>
            </a:extLst>
          </p:cNvPr>
          <p:cNvSpPr txBox="1"/>
          <p:nvPr/>
        </p:nvSpPr>
        <p:spPr>
          <a:xfrm>
            <a:off x="245398" y="703309"/>
            <a:ext cx="6680618" cy="7179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5100"/>
              </a:lnSpc>
            </a:pPr>
            <a:r>
              <a:rPr lang="pt-BR" sz="4000" b="1" dirty="0">
                <a:solidFill>
                  <a:srgbClr val="E01684"/>
                </a:solidFill>
                <a:latin typeface="Arial Black" panose="020B0A04020102020204" pitchFamily="34" charset="0"/>
                <a:ea typeface="Inter" panose="02000503000000020004" pitchFamily="2" charset="0"/>
              </a:rPr>
              <a:t>Objetivo da Oferta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994CF1CA-1A58-61AB-93F7-35A2D59D7DF6}"/>
              </a:ext>
            </a:extLst>
          </p:cNvPr>
          <p:cNvSpPr txBox="1"/>
          <p:nvPr/>
        </p:nvSpPr>
        <p:spPr>
          <a:xfrm>
            <a:off x="245397" y="1608980"/>
            <a:ext cx="6680617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O objetivo desta proposta é definir o escopo e condições comerciais ideais para o fornecimento do vetor de mistura.  Obedece aos critérios de concorrência (</a:t>
            </a:r>
            <a:r>
              <a:rPr lang="pt-BR" sz="1400" dirty="0" err="1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Farplay</a:t>
            </a:r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) pré-estabelecidos pelo cliente como: segurança, economia de custos, garantia de procedência, balanceamento e baixíssima manutenção. 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459F7859-24E6-43C4-5EA1-85280CEE9A45}"/>
              </a:ext>
            </a:extLst>
          </p:cNvPr>
          <p:cNvSpPr txBox="1"/>
          <p:nvPr/>
        </p:nvSpPr>
        <p:spPr>
          <a:xfrm>
            <a:off x="440322" y="3183779"/>
            <a:ext cx="2230307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dirty="0">
                <a:solidFill>
                  <a:srgbClr val="E01684"/>
                </a:solidFill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Aletas dedicadas para melhor usabilidade em qualquer carga de sólido.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4C16CD1B-2E57-1686-AB08-456399A1B284}"/>
              </a:ext>
            </a:extLst>
          </p:cNvPr>
          <p:cNvSpPr txBox="1"/>
          <p:nvPr/>
        </p:nvSpPr>
        <p:spPr>
          <a:xfrm>
            <a:off x="4462126" y="3183779"/>
            <a:ext cx="2557214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pt-BR" sz="1400" dirty="0">
                <a:solidFill>
                  <a:srgbClr val="E01684"/>
                </a:solidFill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Acabamento recomendado para cosméticos, alimentos, antissépticos, medicamentos, entre outros.</a:t>
            </a: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B4726EC4-31A0-A97C-4811-375E688922B5}"/>
              </a:ext>
            </a:extLst>
          </p:cNvPr>
          <p:cNvSpPr txBox="1"/>
          <p:nvPr/>
        </p:nvSpPr>
        <p:spPr>
          <a:xfrm>
            <a:off x="353770" y="8084889"/>
            <a:ext cx="2230307" cy="9541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dirty="0">
                <a:solidFill>
                  <a:srgbClr val="E01684"/>
                </a:solidFill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Aço Inox {{</a:t>
            </a:r>
            <a:r>
              <a:rPr lang="pt-BR" sz="1400" dirty="0" err="1">
                <a:solidFill>
                  <a:srgbClr val="E01684"/>
                </a:solidFill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aisi</a:t>
            </a:r>
            <a:r>
              <a:rPr lang="pt-BR" sz="1400" dirty="0">
                <a:solidFill>
                  <a:srgbClr val="E01684"/>
                </a:solidFill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}} com validação ambiental para evitar contaminação cruzada. </a:t>
            </a:r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6CBE7250-DEF4-1096-DD4E-0580BD140C9B}"/>
              </a:ext>
            </a:extLst>
          </p:cNvPr>
          <p:cNvSpPr txBox="1"/>
          <p:nvPr/>
        </p:nvSpPr>
        <p:spPr>
          <a:xfrm>
            <a:off x="4101389" y="8504931"/>
            <a:ext cx="2822269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pt-BR" sz="1400" dirty="0">
                <a:solidFill>
                  <a:srgbClr val="E01684"/>
                </a:solidFill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Estabilizador de frequência garante máxima segurança em ciclos de até 1.750rpm.</a:t>
            </a:r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12D37954-1F2C-F347-A5F0-85679B43405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852" y="2222658"/>
            <a:ext cx="7517558" cy="7517558"/>
          </a:xfrm>
          <a:prstGeom prst="rect">
            <a:avLst/>
          </a:prstGeom>
        </p:spPr>
      </p:pic>
      <p:cxnSp>
        <p:nvCxnSpPr>
          <p:cNvPr id="13" name="Conector de Seta Reta 12">
            <a:extLst>
              <a:ext uri="{FF2B5EF4-FFF2-40B4-BE49-F238E27FC236}">
                <a16:creationId xmlns:a16="http://schemas.microsoft.com/office/drawing/2014/main" id="{86225594-C4EC-23AE-7EA7-D4CDD0F3FABD}"/>
              </a:ext>
            </a:extLst>
          </p:cNvPr>
          <p:cNvCxnSpPr>
            <a:cxnSpLocks/>
          </p:cNvCxnSpPr>
          <p:nvPr/>
        </p:nvCxnSpPr>
        <p:spPr>
          <a:xfrm>
            <a:off x="1607836" y="3968354"/>
            <a:ext cx="1176928" cy="574781"/>
          </a:xfrm>
          <a:prstGeom prst="straightConnector1">
            <a:avLst/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7" name="Conector de Seta Reta 16">
            <a:extLst>
              <a:ext uri="{FF2B5EF4-FFF2-40B4-BE49-F238E27FC236}">
                <a16:creationId xmlns:a16="http://schemas.microsoft.com/office/drawing/2014/main" id="{BBCF6FA9-48C4-1094-BD65-65857BD3C526}"/>
              </a:ext>
            </a:extLst>
          </p:cNvPr>
          <p:cNvCxnSpPr>
            <a:cxnSpLocks/>
          </p:cNvCxnSpPr>
          <p:nvPr/>
        </p:nvCxnSpPr>
        <p:spPr>
          <a:xfrm flipH="1">
            <a:off x="4370748" y="4137886"/>
            <a:ext cx="955995" cy="961121"/>
          </a:xfrm>
          <a:prstGeom prst="straightConnector1">
            <a:avLst/>
          </a:prstGeom>
          <a:ln>
            <a:headEnd type="none" w="med" len="med"/>
            <a:tailEnd type="arrow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1" name="Conector de Seta Reta 20">
            <a:extLst>
              <a:ext uri="{FF2B5EF4-FFF2-40B4-BE49-F238E27FC236}">
                <a16:creationId xmlns:a16="http://schemas.microsoft.com/office/drawing/2014/main" id="{B72907E6-1D93-9670-3B15-8A2EA62E334A}"/>
              </a:ext>
            </a:extLst>
          </p:cNvPr>
          <p:cNvCxnSpPr>
            <a:cxnSpLocks/>
          </p:cNvCxnSpPr>
          <p:nvPr/>
        </p:nvCxnSpPr>
        <p:spPr>
          <a:xfrm flipH="1" flipV="1">
            <a:off x="4024268" y="6553927"/>
            <a:ext cx="1302475" cy="1915228"/>
          </a:xfrm>
          <a:prstGeom prst="straightConnector1">
            <a:avLst/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9" name="Conector de Seta Reta 18">
            <a:extLst>
              <a:ext uri="{FF2B5EF4-FFF2-40B4-BE49-F238E27FC236}">
                <a16:creationId xmlns:a16="http://schemas.microsoft.com/office/drawing/2014/main" id="{EC5AA1ED-2518-1686-0FBF-CAAAFFBAA793}"/>
              </a:ext>
            </a:extLst>
          </p:cNvPr>
          <p:cNvCxnSpPr>
            <a:cxnSpLocks/>
          </p:cNvCxnSpPr>
          <p:nvPr/>
        </p:nvCxnSpPr>
        <p:spPr>
          <a:xfrm flipV="1">
            <a:off x="1468923" y="6765793"/>
            <a:ext cx="1468241" cy="1119033"/>
          </a:xfrm>
          <a:prstGeom prst="straightConnector1">
            <a:avLst/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pic>
        <p:nvPicPr>
          <p:cNvPr id="23" name="Imagem 22">
            <a:extLst>
              <a:ext uri="{FF2B5EF4-FFF2-40B4-BE49-F238E27FC236}">
                <a16:creationId xmlns:a16="http://schemas.microsoft.com/office/drawing/2014/main" id="{5571CB0F-9649-7B4C-8396-DC7F4BBE069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10855" y="10150411"/>
            <a:ext cx="795338" cy="2746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521780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Imagem 12">
            <a:extLst>
              <a:ext uri="{FF2B5EF4-FFF2-40B4-BE49-F238E27FC236}">
                <a16:creationId xmlns:a16="http://schemas.microsoft.com/office/drawing/2014/main" id="{53B017D2-BCED-17B2-B63A-4B702D2D6A25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13" y="0"/>
            <a:ext cx="7558636" cy="10691813"/>
          </a:xfrm>
          <a:prstGeom prst="rect">
            <a:avLst/>
          </a:prstGeom>
        </p:spPr>
      </p:pic>
      <p:sp>
        <p:nvSpPr>
          <p:cNvPr id="5" name="CaixaDeTexto 4">
            <a:extLst>
              <a:ext uri="{FF2B5EF4-FFF2-40B4-BE49-F238E27FC236}">
                <a16:creationId xmlns:a16="http://schemas.microsoft.com/office/drawing/2014/main" id="{A9111E26-1C29-2DCB-0179-FE1CA9867733}"/>
              </a:ext>
            </a:extLst>
          </p:cNvPr>
          <p:cNvSpPr txBox="1"/>
          <p:nvPr/>
        </p:nvSpPr>
        <p:spPr>
          <a:xfrm>
            <a:off x="193576" y="728135"/>
            <a:ext cx="6680618" cy="7179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5100"/>
              </a:lnSpc>
            </a:pPr>
            <a:r>
              <a:rPr lang="pt-BR" sz="4000" b="1" dirty="0">
                <a:solidFill>
                  <a:srgbClr val="E01684"/>
                </a:solidFill>
                <a:latin typeface="Arial Black" panose="020B0A04020102020204" pitchFamily="34" charset="0"/>
                <a:ea typeface="Inter" panose="02000503000000020004" pitchFamily="2" charset="0"/>
              </a:rPr>
              <a:t>Sugestão de Valores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61C05CDD-B802-2921-6793-2BEF6ADCAADE}"/>
              </a:ext>
            </a:extLst>
          </p:cNvPr>
          <p:cNvSpPr txBox="1"/>
          <p:nvPr/>
        </p:nvSpPr>
        <p:spPr>
          <a:xfrm>
            <a:off x="245395" y="2014435"/>
            <a:ext cx="6680617" cy="11387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000" b="1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Aquisição:</a:t>
            </a:r>
          </a:p>
          <a:p>
            <a:endParaRPr lang="pt-BR" sz="2000" b="1" dirty="0">
              <a:latin typeface="Arial" panose="020B0604020202020204" pitchFamily="34" charset="0"/>
              <a:ea typeface="Inter" panose="02000503000000020004" pitchFamily="2" charset="0"/>
              <a:cs typeface="Arial" panose="020B0604020202020204" pitchFamily="34" charset="0"/>
            </a:endParaRPr>
          </a:p>
          <a:p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- Vetor </a:t>
            </a:r>
            <a:r>
              <a:rPr lang="pt-BR" sz="1400" dirty="0" err="1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Nanolote</a:t>
            </a:r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 </a:t>
            </a:r>
            <a:r>
              <a:rPr lang="pt-BR" sz="1400" dirty="0" err="1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Cowles</a:t>
            </a:r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 de Alta Homogeneização {{</a:t>
            </a:r>
            <a:r>
              <a:rPr lang="pt-BR" sz="1400" dirty="0" err="1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diametro_corpo</a:t>
            </a:r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}} mm: (Inox {{</a:t>
            </a:r>
            <a:r>
              <a:rPr lang="pt-BR" sz="1400" dirty="0" err="1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aisi</a:t>
            </a:r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}} / Verde) R$ {{</a:t>
            </a:r>
            <a:r>
              <a:rPr lang="pt-BR" sz="1400" dirty="0" err="1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preco_unitario</a:t>
            </a:r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}} (Unitário) // R$ {{</a:t>
            </a:r>
            <a:r>
              <a:rPr lang="pt-BR" sz="1400" dirty="0" err="1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preco_lote</a:t>
            </a:r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}} (Lote)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C7D46D8F-E44C-F399-B8B9-0F277FFF5FCC}"/>
              </a:ext>
            </a:extLst>
          </p:cNvPr>
          <p:cNvSpPr txBox="1"/>
          <p:nvPr/>
        </p:nvSpPr>
        <p:spPr>
          <a:xfrm>
            <a:off x="245395" y="3719807"/>
            <a:ext cx="668061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000" b="1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Equipamento Acompanha:</a:t>
            </a:r>
          </a:p>
          <a:p>
            <a:endParaRPr lang="pt-BR" sz="2000" b="1" dirty="0">
              <a:latin typeface="Arial" panose="020B0604020202020204" pitchFamily="34" charset="0"/>
              <a:ea typeface="Inter" panose="02000503000000020004" pitchFamily="2" charset="0"/>
              <a:cs typeface="Arial" panose="020B0604020202020204" pitchFamily="34" charset="0"/>
            </a:endParaRPr>
          </a:p>
          <a:p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Vetor em Aço Inox + Consultoria Técnica Full Time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04E4F6F1-4ABA-1D0B-6126-31DE2E71021B}"/>
              </a:ext>
            </a:extLst>
          </p:cNvPr>
          <p:cNvSpPr txBox="1"/>
          <p:nvPr/>
        </p:nvSpPr>
        <p:spPr>
          <a:xfrm>
            <a:off x="245395" y="5052654"/>
            <a:ext cx="6680617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000" b="1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Escolha sua Forma de Pagamento:</a:t>
            </a:r>
          </a:p>
          <a:p>
            <a:endParaRPr lang="pt-BR" sz="2000" b="1" dirty="0">
              <a:latin typeface="Arial" panose="020B0604020202020204" pitchFamily="34" charset="0"/>
              <a:ea typeface="Inter" panose="02000503000000020004" pitchFamily="2" charset="0"/>
              <a:cs typeface="Arial" panose="020B0604020202020204" pitchFamily="34" charset="0"/>
            </a:endParaRPr>
          </a:p>
          <a:p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- À vista  </a:t>
            </a:r>
          </a:p>
          <a:p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- 50% de entrada + 50% em 30 dias </a:t>
            </a:r>
          </a:p>
          <a:p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- Faturado mediante aprovação cadastral </a:t>
            </a:r>
          </a:p>
          <a:p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- Cartão de crédito </a:t>
            </a: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E32B3B0E-B1FB-44E3-8C44-A28C78AD2945}"/>
              </a:ext>
            </a:extLst>
          </p:cNvPr>
          <p:cNvSpPr txBox="1"/>
          <p:nvPr/>
        </p:nvSpPr>
        <p:spPr>
          <a:xfrm>
            <a:off x="245396" y="7155511"/>
            <a:ext cx="6680617" cy="11387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000" b="1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Frete: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2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Inter" panose="02000503000000020004" pitchFamily="2" charset="0"/>
              <a:cs typeface="Arial" panose="020B0604020202020204" pitchFamily="34" charset="0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- Via PAC – R$ {{</a:t>
            </a:r>
            <a:r>
              <a:rPr kumimoji="0" lang="pt-BR" sz="1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frete_pac</a:t>
            </a:r>
            <a:r>
              <a:rPr kumimoji="0" lang="pt-BR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}} 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- Via SEDEX -  R$ {{</a:t>
            </a:r>
            <a:r>
              <a:rPr kumimoji="0" lang="pt-BR" sz="1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frete_sedex</a:t>
            </a:r>
            <a:r>
              <a:rPr kumimoji="0" lang="pt-BR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}}</a:t>
            </a: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9FF1F0D0-67BE-9938-A38E-68B114009BCE}"/>
              </a:ext>
            </a:extLst>
          </p:cNvPr>
          <p:cNvSpPr txBox="1"/>
          <p:nvPr/>
        </p:nvSpPr>
        <p:spPr>
          <a:xfrm>
            <a:off x="245395" y="8618375"/>
            <a:ext cx="668061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000" b="1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Envio:</a:t>
            </a:r>
          </a:p>
          <a:p>
            <a:endParaRPr lang="pt-BR" sz="2000" b="1" dirty="0">
              <a:latin typeface="Arial" panose="020B0604020202020204" pitchFamily="34" charset="0"/>
              <a:ea typeface="Inter" panose="02000503000000020004" pitchFamily="2" charset="0"/>
              <a:cs typeface="Arial" panose="020B0604020202020204" pitchFamily="34" charset="0"/>
            </a:endParaRPr>
          </a:p>
          <a:p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{{</a:t>
            </a:r>
            <a:r>
              <a:rPr lang="pt-BR" sz="1400" dirty="0" err="1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condiçao_envio</a:t>
            </a:r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}}</a:t>
            </a:r>
          </a:p>
        </p:txBody>
      </p:sp>
      <p:pic>
        <p:nvPicPr>
          <p:cNvPr id="11" name="Imagem 10">
            <a:extLst>
              <a:ext uri="{FF2B5EF4-FFF2-40B4-BE49-F238E27FC236}">
                <a16:creationId xmlns:a16="http://schemas.microsoft.com/office/drawing/2014/main" id="{C0F997C1-CDD9-B71B-4FBD-4ADFA8F459E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10855" y="10150411"/>
            <a:ext cx="795338" cy="2746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25598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C00599EE-FD6D-B2D1-C7D1-4E799D7D874E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-171449" y="-1"/>
            <a:ext cx="679449" cy="10691813"/>
          </a:xfrm>
          <a:prstGeom prst="rect">
            <a:avLst/>
          </a:prstGeom>
          <a:solidFill>
            <a:srgbClr val="F4F0E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11" name="Imagem 10">
            <a:extLst>
              <a:ext uri="{FF2B5EF4-FFF2-40B4-BE49-F238E27FC236}">
                <a16:creationId xmlns:a16="http://schemas.microsoft.com/office/drawing/2014/main" id="{E98E0F27-3B3F-063A-1085-6DF67A1021AA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4981" y="0"/>
            <a:ext cx="7558636" cy="10691813"/>
          </a:xfrm>
          <a:prstGeom prst="rect">
            <a:avLst/>
          </a:prstGeom>
        </p:spPr>
      </p:pic>
      <p:sp>
        <p:nvSpPr>
          <p:cNvPr id="4" name="CaixaDeTexto 3">
            <a:extLst>
              <a:ext uri="{FF2B5EF4-FFF2-40B4-BE49-F238E27FC236}">
                <a16:creationId xmlns:a16="http://schemas.microsoft.com/office/drawing/2014/main" id="{307D2093-2261-F9A9-C92B-6752AF3E3C27}"/>
              </a:ext>
            </a:extLst>
          </p:cNvPr>
          <p:cNvSpPr txBox="1"/>
          <p:nvPr/>
        </p:nvSpPr>
        <p:spPr>
          <a:xfrm>
            <a:off x="216368" y="741884"/>
            <a:ext cx="6680617" cy="11387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000" b="1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Impostos e Classificação Fiscal:</a:t>
            </a:r>
          </a:p>
          <a:p>
            <a:endParaRPr lang="pt-BR" sz="2000" b="1" dirty="0">
              <a:latin typeface="Arial" panose="020B0604020202020204" pitchFamily="34" charset="0"/>
              <a:ea typeface="Inter" panose="02000503000000020004" pitchFamily="2" charset="0"/>
              <a:cs typeface="Arial" panose="020B0604020202020204" pitchFamily="34" charset="0"/>
            </a:endParaRPr>
          </a:p>
          <a:p>
            <a:r>
              <a:rPr lang="pt-BR" sz="1400" b="1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IPI: </a:t>
            </a:r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0% | </a:t>
            </a:r>
            <a:r>
              <a:rPr lang="pt-BR" sz="1400" b="1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ICMS: </a:t>
            </a:r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8.8% (incluso) | </a:t>
            </a:r>
            <a:r>
              <a:rPr lang="pt-BR" sz="1400" b="1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IMPOSTOS: </a:t>
            </a:r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Inclusos - Optante Simples</a:t>
            </a:r>
          </a:p>
          <a:p>
            <a:endParaRPr lang="pt-BR" sz="1400" dirty="0">
              <a:latin typeface="Arial" panose="020B0604020202020204" pitchFamily="34" charset="0"/>
              <a:ea typeface="Inter" panose="02000503000000020004" pitchFamily="2" charset="0"/>
              <a:cs typeface="Arial" panose="020B0604020202020204" pitchFamily="34" charset="0"/>
            </a:endParaRP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DCD9471C-41E9-84AE-D3D1-62ACA4C1A695}"/>
              </a:ext>
            </a:extLst>
          </p:cNvPr>
          <p:cNvSpPr txBox="1"/>
          <p:nvPr/>
        </p:nvSpPr>
        <p:spPr>
          <a:xfrm>
            <a:off x="201856" y="2458071"/>
            <a:ext cx="6985438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000" b="1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Dados Bancários:</a:t>
            </a:r>
          </a:p>
          <a:p>
            <a:endParaRPr lang="pt-BR" sz="2000" b="1" dirty="0">
              <a:latin typeface="Arial" panose="020B0604020202020204" pitchFamily="34" charset="0"/>
              <a:ea typeface="Inter" panose="02000503000000020004" pitchFamily="2" charset="0"/>
              <a:cs typeface="Arial" panose="020B0604020202020204" pitchFamily="34" charset="0"/>
            </a:endParaRPr>
          </a:p>
          <a:p>
            <a:r>
              <a:rPr lang="pt-BR" sz="1400" b="1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Banco: </a:t>
            </a:r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Bradesco |</a:t>
            </a:r>
            <a:r>
              <a:rPr lang="pt-BR" sz="1400" b="1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 Agência</a:t>
            </a:r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: 0516 | </a:t>
            </a:r>
            <a:r>
              <a:rPr lang="pt-BR" sz="1400" b="1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Conta Corrente: </a:t>
            </a:r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0293863-4 </a:t>
            </a:r>
          </a:p>
          <a:p>
            <a:r>
              <a:rPr lang="pt-BR" sz="1400" b="1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Razão social: </a:t>
            </a:r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Só Comércio de Equipamentos para Inteligência e Mistura LTDA. | </a:t>
            </a:r>
            <a:r>
              <a:rPr lang="pt-BR" sz="1400" b="1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CNPJ: </a:t>
            </a:r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26.863.716/0001-06 (Pix) </a:t>
            </a:r>
          </a:p>
          <a:p>
            <a:endParaRPr lang="pt-BR" sz="1400" dirty="0">
              <a:latin typeface="Arial" panose="020B0604020202020204" pitchFamily="34" charset="0"/>
              <a:ea typeface="Inter" panose="02000503000000020004" pitchFamily="2" charset="0"/>
              <a:cs typeface="Arial" panose="020B0604020202020204" pitchFamily="34" charset="0"/>
            </a:endParaRP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45411E17-D183-EB4B-94DD-D917AB304952}"/>
              </a:ext>
            </a:extLst>
          </p:cNvPr>
          <p:cNvSpPr txBox="1"/>
          <p:nvPr/>
        </p:nvSpPr>
        <p:spPr>
          <a:xfrm>
            <a:off x="201855" y="4581713"/>
            <a:ext cx="6680617" cy="22159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000" b="1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Objetivo da Oferta:</a:t>
            </a:r>
          </a:p>
          <a:p>
            <a:endParaRPr lang="pt-BR" sz="2000" b="1" dirty="0">
              <a:latin typeface="Arial" panose="020B0604020202020204" pitchFamily="34" charset="0"/>
              <a:ea typeface="Inter" panose="02000503000000020004" pitchFamily="2" charset="0"/>
              <a:cs typeface="Arial" panose="020B0604020202020204" pitchFamily="34" charset="0"/>
            </a:endParaRPr>
          </a:p>
          <a:p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3.1: Número de NCM: 84.8790.00. </a:t>
            </a:r>
          </a:p>
          <a:p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3.2: Validade da Proposta: 10 dias (Referente ao valor ofertado)</a:t>
            </a:r>
          </a:p>
          <a:p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3.3: O pedido será aceito após confirmação via e-mail. </a:t>
            </a:r>
          </a:p>
          <a:p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3.4: Consulte disponibilidade das peças no ato da compra.</a:t>
            </a:r>
          </a:p>
          <a:p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3.5: O relatório de instalação será enviado em até 7 dias úteis a partir da confirmação da compra.</a:t>
            </a:r>
          </a:p>
          <a:p>
            <a:endParaRPr lang="pt-BR" sz="1400" dirty="0">
              <a:latin typeface="Arial" panose="020B0604020202020204" pitchFamily="34" charset="0"/>
              <a:ea typeface="Inter" panose="02000503000000020004" pitchFamily="2" charset="0"/>
              <a:cs typeface="Arial" panose="020B0604020202020204" pitchFamily="34" charset="0"/>
            </a:endParaRPr>
          </a:p>
        </p:txBody>
      </p:sp>
      <p:pic>
        <p:nvPicPr>
          <p:cNvPr id="9" name="Imagem 8">
            <a:extLst>
              <a:ext uri="{FF2B5EF4-FFF2-40B4-BE49-F238E27FC236}">
                <a16:creationId xmlns:a16="http://schemas.microsoft.com/office/drawing/2014/main" id="{D70232F8-B1DA-19DB-BBD1-A50CCC6DB60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10855" y="10150411"/>
            <a:ext cx="795338" cy="274618"/>
          </a:xfrm>
          <a:prstGeom prst="rect">
            <a:avLst/>
          </a:prstGeom>
        </p:spPr>
      </p:pic>
      <p:pic>
        <p:nvPicPr>
          <p:cNvPr id="7" name="Imagem 6">
            <a:extLst>
              <a:ext uri="{FF2B5EF4-FFF2-40B4-BE49-F238E27FC236}">
                <a16:creationId xmlns:a16="http://schemas.microsoft.com/office/drawing/2014/main" id="{12B00D8A-1EC4-C9F5-A3E2-A8E6EAF2A9A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8074734">
            <a:off x="-64557" y="5418176"/>
            <a:ext cx="6425371" cy="64253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542199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Imagem 18">
            <a:extLst>
              <a:ext uri="{FF2B5EF4-FFF2-40B4-BE49-F238E27FC236}">
                <a16:creationId xmlns:a16="http://schemas.microsoft.com/office/drawing/2014/main" id="{961345F8-0608-871A-DB85-C88B2DA327F4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13" y="0"/>
            <a:ext cx="7558636" cy="10691813"/>
          </a:xfrm>
          <a:prstGeom prst="rect">
            <a:avLst/>
          </a:prstGeom>
        </p:spPr>
      </p:pic>
      <p:sp>
        <p:nvSpPr>
          <p:cNvPr id="4" name="CaixaDeTexto 3">
            <a:extLst>
              <a:ext uri="{FF2B5EF4-FFF2-40B4-BE49-F238E27FC236}">
                <a16:creationId xmlns:a16="http://schemas.microsoft.com/office/drawing/2014/main" id="{48700D33-762A-742B-32A0-8AFB038793E7}"/>
              </a:ext>
            </a:extLst>
          </p:cNvPr>
          <p:cNvSpPr txBox="1"/>
          <p:nvPr/>
        </p:nvSpPr>
        <p:spPr>
          <a:xfrm>
            <a:off x="245398" y="703309"/>
            <a:ext cx="6680618" cy="13720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5100"/>
              </a:lnSpc>
            </a:pPr>
            <a:r>
              <a:rPr lang="pt-BR" sz="4000" b="1" dirty="0">
                <a:solidFill>
                  <a:srgbClr val="E01684"/>
                </a:solidFill>
                <a:latin typeface="Arial Black" panose="020B0A04020102020204" pitchFamily="34" charset="0"/>
                <a:ea typeface="Inter" panose="02000503000000020004" pitchFamily="2" charset="0"/>
              </a:rPr>
              <a:t>Consulte nossa Reputação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FF6A4E49-8109-AFAC-721A-A6D995DBE37F}"/>
              </a:ext>
            </a:extLst>
          </p:cNvPr>
          <p:cNvSpPr txBox="1"/>
          <p:nvPr/>
        </p:nvSpPr>
        <p:spPr>
          <a:xfrm>
            <a:off x="245398" y="2443696"/>
            <a:ext cx="597552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b="1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Desde Novembro de 2020, trabalhamos com índice zero de reclamações em mais de 10.000 atendimentos. </a:t>
            </a:r>
          </a:p>
        </p:txBody>
      </p:sp>
      <p:pic>
        <p:nvPicPr>
          <p:cNvPr id="1030" name="Picture 6" descr="logotipo do facebook png, ícone do facebook transparente png 18930538 PNG">
            <a:extLst>
              <a:ext uri="{FF2B5EF4-FFF2-40B4-BE49-F238E27FC236}">
                <a16:creationId xmlns:a16="http://schemas.microsoft.com/office/drawing/2014/main" id="{E2782CCE-AE41-0487-81E9-CC6D4A3CF88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414" r="53895"/>
          <a:stretch>
            <a:fillRect/>
          </a:stretch>
        </p:blipFill>
        <p:spPr bwMode="auto">
          <a:xfrm>
            <a:off x="338352" y="4669548"/>
            <a:ext cx="423648" cy="6429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Instagram logotipo png, Instagram logotipo transparente png, Instagram  ícone transparente livre png 23986547 PNG">
            <a:extLst>
              <a:ext uri="{FF2B5EF4-FFF2-40B4-BE49-F238E27FC236}">
                <a16:creationId xmlns:a16="http://schemas.microsoft.com/office/drawing/2014/main" id="{460FD1FB-2864-C944-AADE-9B81A0E9762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7018" y="4006020"/>
            <a:ext cx="549072" cy="5490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4" name="Picture 10" descr="Internet - ícones de sinais grátis">
            <a:extLst>
              <a:ext uri="{FF2B5EF4-FFF2-40B4-BE49-F238E27FC236}">
                <a16:creationId xmlns:a16="http://schemas.microsoft.com/office/drawing/2014/main" id="{9B72D5DC-E972-D41F-1CB8-C3BECAA2213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2263" y="6088063"/>
            <a:ext cx="433387" cy="4333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CaixaDeTexto 5">
            <a:extLst>
              <a:ext uri="{FF2B5EF4-FFF2-40B4-BE49-F238E27FC236}">
                <a16:creationId xmlns:a16="http://schemas.microsoft.com/office/drawing/2014/main" id="{8DA6310F-6F56-F15B-5731-AED7A9520B15}"/>
              </a:ext>
            </a:extLst>
          </p:cNvPr>
          <p:cNvSpPr txBox="1"/>
          <p:nvPr/>
        </p:nvSpPr>
        <p:spPr>
          <a:xfrm>
            <a:off x="894471" y="4112167"/>
            <a:ext cx="196302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b="1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@sohelices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04769437-C7D9-0FC8-69F6-845D06DA9D39}"/>
              </a:ext>
            </a:extLst>
          </p:cNvPr>
          <p:cNvSpPr txBox="1"/>
          <p:nvPr/>
        </p:nvSpPr>
        <p:spPr>
          <a:xfrm>
            <a:off x="894471" y="4822161"/>
            <a:ext cx="196302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b="1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Só Hélices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31B95116-79F8-E465-F5E4-6E5A86FA7099}"/>
              </a:ext>
            </a:extLst>
          </p:cNvPr>
          <p:cNvSpPr txBox="1"/>
          <p:nvPr/>
        </p:nvSpPr>
        <p:spPr>
          <a:xfrm>
            <a:off x="894471" y="5442809"/>
            <a:ext cx="196302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b="1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Só Hélices</a:t>
            </a: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47ADF7ED-4A67-2BEB-873B-8518333ED7D5}"/>
              </a:ext>
            </a:extLst>
          </p:cNvPr>
          <p:cNvSpPr txBox="1"/>
          <p:nvPr/>
        </p:nvSpPr>
        <p:spPr>
          <a:xfrm>
            <a:off x="894471" y="6160359"/>
            <a:ext cx="212812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b="1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www.sohelices.com.br</a:t>
            </a:r>
          </a:p>
        </p:txBody>
      </p:sp>
      <p:pic>
        <p:nvPicPr>
          <p:cNvPr id="11" name="Imagem 10">
            <a:extLst>
              <a:ext uri="{FF2B5EF4-FFF2-40B4-BE49-F238E27FC236}">
                <a16:creationId xmlns:a16="http://schemas.microsoft.com/office/drawing/2014/main" id="{BB836953-59EA-955D-2AD4-178509DA4B13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8414" y="8790867"/>
            <a:ext cx="1228286" cy="1228286"/>
          </a:xfrm>
          <a:prstGeom prst="rect">
            <a:avLst/>
          </a:prstGeom>
        </p:spPr>
      </p:pic>
      <p:cxnSp>
        <p:nvCxnSpPr>
          <p:cNvPr id="13" name="Conector reto 12">
            <a:extLst>
              <a:ext uri="{FF2B5EF4-FFF2-40B4-BE49-F238E27FC236}">
                <a16:creationId xmlns:a16="http://schemas.microsoft.com/office/drawing/2014/main" id="{B9E7B11F-61A3-DF0F-105B-7FB2647EC07E}"/>
              </a:ext>
            </a:extLst>
          </p:cNvPr>
          <p:cNvCxnSpPr/>
          <p:nvPr/>
        </p:nvCxnSpPr>
        <p:spPr>
          <a:xfrm>
            <a:off x="1739900" y="8790867"/>
            <a:ext cx="0" cy="122828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4" name="CaixaDeTexto 13">
            <a:extLst>
              <a:ext uri="{FF2B5EF4-FFF2-40B4-BE49-F238E27FC236}">
                <a16:creationId xmlns:a16="http://schemas.microsoft.com/office/drawing/2014/main" id="{04856DBE-1BEC-E4C9-DC6B-0DCE8D47C873}"/>
              </a:ext>
            </a:extLst>
          </p:cNvPr>
          <p:cNvSpPr txBox="1"/>
          <p:nvPr/>
        </p:nvSpPr>
        <p:spPr>
          <a:xfrm>
            <a:off x="1845115" y="8866401"/>
            <a:ext cx="4526540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6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São Paulo,  {{data}}. </a:t>
            </a:r>
          </a:p>
          <a:p>
            <a:r>
              <a:rPr lang="pt-BR" sz="16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{{</a:t>
            </a:r>
            <a:r>
              <a:rPr lang="pt-BR" sz="1600" dirty="0" err="1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nome_vendedor</a:t>
            </a:r>
            <a:r>
              <a:rPr lang="pt-BR" sz="16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}} [Atendimento/Vendas] </a:t>
            </a:r>
          </a:p>
          <a:p>
            <a:r>
              <a:rPr lang="pt-BR" sz="16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WhatsApp: (11) 94984-2894 </a:t>
            </a:r>
          </a:p>
          <a:p>
            <a:r>
              <a:rPr lang="pt-BR" sz="16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E-mail: {{</a:t>
            </a:r>
            <a:r>
              <a:rPr lang="pt-BR" sz="1600" dirty="0" err="1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email_vendedor</a:t>
            </a:r>
            <a:r>
              <a:rPr lang="pt-BR" sz="16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}}</a:t>
            </a:r>
          </a:p>
        </p:txBody>
      </p:sp>
      <p:pic>
        <p:nvPicPr>
          <p:cNvPr id="17" name="Imagem 16">
            <a:extLst>
              <a:ext uri="{FF2B5EF4-FFF2-40B4-BE49-F238E27FC236}">
                <a16:creationId xmlns:a16="http://schemas.microsoft.com/office/drawing/2014/main" id="{9B50589B-B756-1E37-C729-F8675BDE6A4C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10855" y="10150411"/>
            <a:ext cx="795338" cy="274618"/>
          </a:xfrm>
          <a:prstGeom prst="rect">
            <a:avLst/>
          </a:prstGeom>
        </p:spPr>
      </p:pic>
      <p:pic>
        <p:nvPicPr>
          <p:cNvPr id="1036" name="Picture 12" descr="youtube logo | Figma">
            <a:extLst>
              <a:ext uri="{FF2B5EF4-FFF2-40B4-BE49-F238E27FC236}">
                <a16:creationId xmlns:a16="http://schemas.microsoft.com/office/drawing/2014/main" id="{72C8EA68-EFB8-3009-0579-8F477FA03CD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940" y="5379317"/>
            <a:ext cx="894471" cy="4473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Imagem 2">
            <a:extLst>
              <a:ext uri="{FF2B5EF4-FFF2-40B4-BE49-F238E27FC236}">
                <a16:creationId xmlns:a16="http://schemas.microsoft.com/office/drawing/2014/main" id="{2EFFE154-2BAC-C469-D745-FAFDCF277184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96355" y="3043860"/>
            <a:ext cx="9863327" cy="98633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061930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3092B84F-C2B6-E55E-6396-16A2F8E8E90C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13" y="0"/>
            <a:ext cx="7558636" cy="10691813"/>
          </a:xfrm>
          <a:prstGeom prst="rect">
            <a:avLst/>
          </a:prstGeom>
        </p:spPr>
      </p:pic>
      <p:sp>
        <p:nvSpPr>
          <p:cNvPr id="6" name="Google Shape;147;p7">
            <a:extLst>
              <a:ext uri="{FF2B5EF4-FFF2-40B4-BE49-F238E27FC236}">
                <a16:creationId xmlns:a16="http://schemas.microsoft.com/office/drawing/2014/main" id="{D4CF83FD-7A2B-6CA5-A391-C7BA490B06F9}"/>
              </a:ext>
            </a:extLst>
          </p:cNvPr>
          <p:cNvSpPr txBox="1"/>
          <p:nvPr/>
        </p:nvSpPr>
        <p:spPr>
          <a:xfrm>
            <a:off x="1817328" y="9520438"/>
            <a:ext cx="3926604" cy="8340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pt-BR" sz="1400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Rua </a:t>
            </a:r>
            <a:r>
              <a:rPr lang="pt-BR" sz="14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Américo Brasiliense, </a:t>
            </a:r>
            <a:r>
              <a:rPr lang="pt-BR" sz="1400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1490, sala 75, Chácara Santo Antônio, São Paulo, SP</a:t>
            </a:r>
            <a:endParaRPr sz="1400" i="0" u="none" strike="noStrike" cap="none" dirty="0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2176E031-90C1-4B7C-2EB7-ABEA48BA9BC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73427" y="3426993"/>
            <a:ext cx="3414406" cy="2416849"/>
          </a:xfrm>
          <a:prstGeom prst="rect">
            <a:avLst/>
          </a:prstGeom>
        </p:spPr>
      </p:pic>
      <p:sp>
        <p:nvSpPr>
          <p:cNvPr id="10" name="CaixaDeTexto 9">
            <a:extLst>
              <a:ext uri="{FF2B5EF4-FFF2-40B4-BE49-F238E27FC236}">
                <a16:creationId xmlns:a16="http://schemas.microsoft.com/office/drawing/2014/main" id="{13CAE41B-063C-6834-F260-2F4FA9FEF712}"/>
              </a:ext>
            </a:extLst>
          </p:cNvPr>
          <p:cNvSpPr txBox="1"/>
          <p:nvPr/>
        </p:nvSpPr>
        <p:spPr>
          <a:xfrm>
            <a:off x="2617964" y="5345906"/>
            <a:ext cx="232533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6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www.sohelices.com.br</a:t>
            </a:r>
          </a:p>
        </p:txBody>
      </p:sp>
    </p:spTree>
    <p:extLst>
      <p:ext uri="{BB962C8B-B14F-4D97-AF65-F5344CB8AC3E}">
        <p14:creationId xmlns:p14="http://schemas.microsoft.com/office/powerpoint/2010/main" val="3739314271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Tema do 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Tema do 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Tema do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Orçamento Kit Nanolote Estrella</Template>
  <TotalTime>3</TotalTime>
  <Words>540</Words>
  <Application>Microsoft Office PowerPoint</Application>
  <PresentationFormat>Personalizar</PresentationFormat>
  <Paragraphs>79</Paragraphs>
  <Slides>7</Slides>
  <Notes>1</Notes>
  <HiddenSlides>0</HiddenSlides>
  <MMClips>0</MMClips>
  <ScaleCrop>false</ScaleCrop>
  <HeadingPairs>
    <vt:vector size="6" baseType="variant">
      <vt:variant>
        <vt:lpstr>Fontes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7</vt:i4>
      </vt:variant>
    </vt:vector>
  </HeadingPairs>
  <TitlesOfParts>
    <vt:vector size="13" baseType="lpstr">
      <vt:lpstr>Aptos</vt:lpstr>
      <vt:lpstr>Aptos Display</vt:lpstr>
      <vt:lpstr>Arial</vt:lpstr>
      <vt:lpstr>Arial Black</vt:lpstr>
      <vt:lpstr>Inter</vt:lpstr>
      <vt:lpstr>Tema do Office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G3 MISTURADORES DO BRASIL LTDA</dc:creator>
  <cp:lastModifiedBy>G3 MISTURADORES DO BRASIL LTDA</cp:lastModifiedBy>
  <cp:revision>1</cp:revision>
  <dcterms:created xsi:type="dcterms:W3CDTF">2026-04-28T17:26:53Z</dcterms:created>
  <dcterms:modified xsi:type="dcterms:W3CDTF">2026-04-28T17:30:21Z</dcterms:modified>
</cp:coreProperties>
</file>