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Inter Medium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As32Mj7aJn1z7aWg7bbkxy3E4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A14C-1AC6-449C-A462-BD10122A09E7}">
  <a:tblStyle styleId="{F18CA14C-1AC6-449C-A462-BD10122A09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236" y="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4275" y="3969575"/>
            <a:ext cx="1559725" cy="11739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525850" y="1722475"/>
            <a:ext cx="300" cy="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833974" y="2161363"/>
            <a:ext cx="4114799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lang="pt-BR" sz="5800" b="1" i="0" u="none" strike="noStrike" cap="none" dirty="0">
                <a:solidFill>
                  <a:schemeClr val="lt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5800" b="1" i="0" u="none" strike="noStrike" cap="none" dirty="0">
                <a:solidFill>
                  <a:srgbClr val="FF008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NAVAL-N</a:t>
            </a:r>
            <a:r>
              <a:rPr lang="pt-BR" sz="5800" b="1" i="0" u="none" strike="noStrike" cap="none" dirty="0">
                <a:solidFill>
                  <a:schemeClr val="lt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5800" b="1" i="0" u="none" strike="noStrike" cap="none" dirty="0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4114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4114800" y="221750"/>
            <a:ext cx="4931125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Proposta Técnica: </a:t>
            </a:r>
            <a:r>
              <a:rPr lang="pt-BR" sz="17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Nº {{proposta}}</a:t>
            </a:r>
            <a:r>
              <a:rPr lang="pt-BR" sz="17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6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</a:t>
            </a:r>
            <a:endParaRPr sz="1600" b="1" i="0" u="none" strike="noStrike" cap="none" dirty="0">
              <a:solidFill>
                <a:srgbClr val="FF008C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5819100" y="1258238"/>
            <a:ext cx="31983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Aplicação:</a:t>
            </a:r>
            <a:r>
              <a:rPr lang="pt-BR" sz="1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Alta Dispersão e Homogeneização</a:t>
            </a:r>
            <a:endParaRPr sz="10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60" name="Google Shape;60;p1"/>
          <p:cNvGraphicFramePr/>
          <p:nvPr>
            <p:extLst>
              <p:ext uri="{D42A27DB-BD31-4B8C-83A1-F6EECF244321}">
                <p14:modId xmlns:p14="http://schemas.microsoft.com/office/powerpoint/2010/main" val="1256058137"/>
              </p:ext>
            </p:extLst>
          </p:nvPr>
        </p:nvGraphicFramePr>
        <p:xfrm>
          <a:off x="4685950" y="689450"/>
          <a:ext cx="4114800" cy="502900"/>
        </p:xfrm>
        <a:graphic>
          <a:graphicData uri="http://schemas.openxmlformats.org/drawingml/2006/table">
            <a:tbl>
              <a:tblPr>
                <a:noFill/>
                <a:tableStyleId>{F18CA14C-1AC6-449C-A462-BD10122A09E7}</a:tableStyleId>
              </a:tblPr>
              <a:tblGrid>
                <a:gridCol w="127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Tecnologia: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Naval-N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b="1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Aleta: 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{{aleta}} mm 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900" b="1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pt-BR" sz="1000" b="1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Diâmetro: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{{</a:t>
                      </a:r>
                      <a:r>
                        <a:rPr lang="pt-BR" sz="1000" u="none" strike="noStrike" cap="none" dirty="0" err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diametro_corpo</a:t>
                      </a:r>
                      <a:r>
                        <a:rPr lang="pt-BR" sz="10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 mm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0" y="0"/>
            <a:ext cx="9144000" cy="5143500"/>
          </a:xfrm>
          <a:prstGeom prst="rtTriangle">
            <a:avLst/>
          </a:prstGeom>
          <a:solidFill>
            <a:srgbClr val="EEEEEE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2"/>
          <p:cNvGraphicFramePr/>
          <p:nvPr/>
        </p:nvGraphicFramePr>
        <p:xfrm>
          <a:off x="313300" y="2718900"/>
          <a:ext cx="4258700" cy="2206300"/>
        </p:xfrm>
        <a:graphic>
          <a:graphicData uri="http://schemas.openxmlformats.org/drawingml/2006/table">
            <a:tbl>
              <a:tblPr>
                <a:noFill/>
                <a:tableStyleId>{F18CA14C-1AC6-449C-A462-BD10122A09E7}</a:tableStyleId>
              </a:tblPr>
              <a:tblGrid>
                <a:gridCol w="212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" name="Google Shape;67;p2"/>
          <p:cNvSpPr/>
          <p:nvPr/>
        </p:nvSpPr>
        <p:spPr>
          <a:xfrm>
            <a:off x="435825" y="28142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35825" y="32519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35825" y="3692313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35825" y="41313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35825" y="4570375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530825" y="28142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530825" y="32519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2530825" y="3689638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2530825" y="41273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2530825" y="45650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874950" y="2734175"/>
            <a:ext cx="170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Vetor:</a:t>
            </a: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 Naval com 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Aleta Dedicada.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874950" y="3161500"/>
            <a:ext cx="16455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Diâmetro da Aleta: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diametro_aleta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74950" y="3587625"/>
            <a:ext cx="16455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Espaçamento: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espacamento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74950" y="4040900"/>
            <a:ext cx="176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Diâmetro do Corpo: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diametro_corpo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74950" y="4476050"/>
            <a:ext cx="170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Material: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Aço Inox 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2965175" y="2707450"/>
            <a:ext cx="18606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Acabamento: </a:t>
            </a:r>
            <a:endParaRPr sz="900" b="1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Semi escovado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2965163" y="3147250"/>
            <a:ext cx="13659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Espessura:</a:t>
            </a:r>
            <a:r>
              <a:rPr lang="pt-BR" sz="900" b="0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{{espessura}}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2965174" y="3587628"/>
            <a:ext cx="1606825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Furo central: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Padrão com {{furo}} mm.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2965177" y="4040888"/>
            <a:ext cx="15306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Eixo/Haste: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{{haste}}.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2965175" y="4494175"/>
            <a:ext cx="176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RPM: </a:t>
            </a:r>
            <a:endParaRPr sz="900" b="1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Rotações até 1.750 ciclos.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7258" y="0"/>
            <a:ext cx="1476743" cy="11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 txBox="1"/>
          <p:nvPr/>
        </p:nvSpPr>
        <p:spPr>
          <a:xfrm>
            <a:off x="2015550" y="240138"/>
            <a:ext cx="51129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6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2900" b="1" i="0" u="none" strike="noStrike" cap="none">
                <a:solidFill>
                  <a:srgbClr val="FF008C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Especificidades</a:t>
            </a:r>
            <a:r>
              <a:rPr lang="pt-BR" sz="2900" b="1" i="0" u="none" strike="noStrike" cap="none">
                <a:solidFill>
                  <a:schemeClr val="lt2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2900" b="1" i="0" u="none" strike="noStrike" cap="none">
                <a:solidFill>
                  <a:srgbClr val="FF008C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técnicas:</a:t>
            </a:r>
            <a:r>
              <a:rPr lang="pt-BR" sz="29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2900" b="1" i="0" u="none" strike="noStrike" cap="none">
              <a:solidFill>
                <a:schemeClr val="lt1"/>
              </a:solidFill>
              <a:highlight>
                <a:schemeClr val="lt1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9" name="Google Shape;89;p2"/>
          <p:cNvPicPr preferRelativeResize="0"/>
          <p:nvPr/>
        </p:nvPicPr>
        <p:blipFill rotWithShape="1">
          <a:blip r:embed="rId4">
            <a:alphaModFix/>
          </a:blip>
          <a:srcRect t="2030" r="-6022" b="-2029"/>
          <a:stretch/>
        </p:blipFill>
        <p:spPr>
          <a:xfrm>
            <a:off x="6384663" y="3894225"/>
            <a:ext cx="1860726" cy="186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/>
          <p:cNvPicPr preferRelativeResize="0"/>
          <p:nvPr/>
        </p:nvPicPr>
        <p:blipFill rotWithShape="1">
          <a:blip r:embed="rId5">
            <a:alphaModFix/>
          </a:blip>
          <a:srcRect l="14434"/>
          <a:stretch/>
        </p:blipFill>
        <p:spPr>
          <a:xfrm flipH="1">
            <a:off x="4885301" y="779800"/>
            <a:ext cx="4258699" cy="447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7407400" y="125"/>
            <a:ext cx="1736400" cy="51435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7258" y="4032025"/>
            <a:ext cx="1476743" cy="11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696100" y="2937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444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chemeClr val="lt1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  OBJETIVO DA OFERTA:</a:t>
            </a:r>
            <a:r>
              <a:rPr lang="pt-BR" sz="11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  </a:t>
            </a:r>
            <a:r>
              <a:rPr lang="pt-BR" sz="1100" b="1" i="0" u="none" strike="noStrike" cap="none">
                <a:solidFill>
                  <a:schemeClr val="lt1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   </a:t>
            </a:r>
            <a:endParaRPr sz="1300" b="0" i="0" u="none" strike="noStrike" cap="none">
              <a:solidFill>
                <a:schemeClr val="lt1"/>
              </a:solidFill>
              <a:highlight>
                <a:srgbClr val="FF008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956012" y="647750"/>
            <a:ext cx="2197500" cy="12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O objetivo desta proposta é definir o escopo e condições comerciais ideais para o fornecimento do vetor de mistura.  Obedece aos critérios de concorrência (Farplay) pré-estabelecidos pelo cliente como: segurança, economia de custos, garantia de procedência, balanceamento e baixíssima manutenção. </a:t>
            </a:r>
            <a:endParaRPr sz="800" b="0" i="0" u="none" strike="noStrike" cap="none">
              <a:solidFill>
                <a:srgbClr val="8080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236775" y="2276250"/>
            <a:ext cx="15999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Aletas dedicadas para melhor usabilidade em qualquer carga de sólido.</a:t>
            </a:r>
            <a:endParaRPr sz="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5238775" y="846975"/>
            <a:ext cx="20433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Acabamento recomendado para cosméticos, alimentos, antissépticos, medicamentos, entre outros.</a:t>
            </a:r>
            <a:endParaRPr sz="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026475" y="3923925"/>
            <a:ext cx="1096200" cy="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Estabilizador de frequência garante máxima segurança em ciclos de até 1.750rpm.</a:t>
            </a:r>
            <a:endParaRPr sz="800" b="0" i="0" u="none" strike="noStrike" cap="none">
              <a:solidFill>
                <a:srgbClr val="8080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1250" y="583657"/>
            <a:ext cx="5075475" cy="455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696100" y="4065525"/>
            <a:ext cx="18696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00"/>
            </a:pPr>
            <a:r>
              <a:rPr lang="pt-BR" sz="800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Aço Inox {{</a:t>
            </a:r>
            <a:r>
              <a:rPr lang="pt-BR" sz="800" dirty="0" err="1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800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}} </a:t>
            </a:r>
            <a:r>
              <a:rPr lang="pt-BR" sz="800" b="0" i="0" u="none" strike="noStrike" cap="none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 com validação ambiental para evitar contaminação cruzada. </a:t>
            </a:r>
            <a:endParaRPr sz="800" b="0" i="0" u="none" strike="noStrike" cap="none" dirty="0">
              <a:solidFill>
                <a:srgbClr val="8080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4" name="Google Shape;104;p3"/>
          <p:cNvCxnSpPr>
            <a:stCxn id="102" idx="1"/>
          </p:cNvCxnSpPr>
          <p:nvPr/>
        </p:nvCxnSpPr>
        <p:spPr>
          <a:xfrm rot="10800000" flipH="1">
            <a:off x="1301250" y="2827282"/>
            <a:ext cx="1646400" cy="3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5" name="Google Shape;105;p3"/>
          <p:cNvCxnSpPr>
            <a:stCxn id="103" idx="0"/>
          </p:cNvCxnSpPr>
          <p:nvPr/>
        </p:nvCxnSpPr>
        <p:spPr>
          <a:xfrm flipV="1">
            <a:off x="1630900" y="3955425"/>
            <a:ext cx="2129100" cy="11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6" name="Google Shape;106;p3"/>
          <p:cNvCxnSpPr/>
          <p:nvPr/>
        </p:nvCxnSpPr>
        <p:spPr>
          <a:xfrm rot="10800000">
            <a:off x="3985575" y="2752125"/>
            <a:ext cx="2589000" cy="117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7" name="Google Shape;107;p3"/>
          <p:cNvCxnSpPr/>
          <p:nvPr/>
        </p:nvCxnSpPr>
        <p:spPr>
          <a:xfrm flipH="1">
            <a:off x="4406500" y="1503950"/>
            <a:ext cx="1804800" cy="15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108" name="Google Shape;108;p3"/>
          <p:cNvPicPr preferRelativeResize="0"/>
          <p:nvPr/>
        </p:nvPicPr>
        <p:blipFill rotWithShape="1">
          <a:blip r:embed="rId5">
            <a:alphaModFix/>
          </a:blip>
          <a:srcRect t="2030" r="-6022" b="-2029"/>
          <a:stretch/>
        </p:blipFill>
        <p:spPr>
          <a:xfrm>
            <a:off x="3352802" y="4032025"/>
            <a:ext cx="2129099" cy="186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2359725" y="184850"/>
            <a:ext cx="4841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6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2600" b="1" i="0" u="none" strike="noStrike" cap="none">
                <a:solidFill>
                  <a:srgbClr val="FF008C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Sugestão de Valores:</a:t>
            </a:r>
            <a:r>
              <a:rPr lang="pt-BR" sz="26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2600" b="1" i="0" u="none" strike="noStrike" cap="none">
              <a:solidFill>
                <a:schemeClr val="lt1"/>
              </a:solidFill>
              <a:highlight>
                <a:schemeClr val="lt1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58400" y="788100"/>
            <a:ext cx="8466000" cy="3986400"/>
          </a:xfrm>
          <a:prstGeom prst="rect">
            <a:avLst/>
          </a:prstGeom>
          <a:solidFill>
            <a:srgbClr val="FFE5F3">
              <a:alpha val="71764"/>
            </a:srgbClr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reflection stA="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E5F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292950" y="964950"/>
            <a:ext cx="8958000" cy="4078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Aquisição: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b="0" i="0" u="none" strike="noStrike" cap="none" dirty="0">
              <a:solidFill>
                <a:srgbClr val="FFFF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1200"/>
              </a:spcBef>
              <a:buSzPts val="1100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Vetor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Naval de Alta Homogeneização 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diametro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 mm: (Inox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 / Verde)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preco_unitario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}}//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preco_lote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Equipamento Acompanha: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b="0" i="1" u="none" strike="noStrike" cap="none" dirty="0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Vetores em Aço Inox + Consultoria Técnica Full Time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Formas de pagamento (de acordo com a escolha do cliente):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b="1" i="0" u="none" strike="noStrike" cap="none" dirty="0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À vista 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50% de entrada + 50% em 30 dias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Faturado mediante aprovação cadastral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Cartão de crédito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Frete: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endParaRPr sz="1100" b="1" i="0" u="none" strike="noStrike" cap="none" dirty="0">
              <a:solidFill>
                <a:srgbClr val="FF008C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lvl="0">
              <a:spcBef>
                <a:spcPts val="1200"/>
              </a:spcBef>
              <a:buSzPts val="1100"/>
            </a:pP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Via PAC –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frete_pac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 |  Via SEDEX - 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frete_sedex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 </a:t>
            </a:r>
          </a:p>
          <a:p>
            <a:pPr lvl="0">
              <a:spcBef>
                <a:spcPts val="1200"/>
              </a:spcBef>
              <a:buSzPts val="1100"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Envio: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pt-BR" sz="1100" b="1" i="0" u="none" strike="noStrike" cap="none" dirty="0">
                <a:solidFill>
                  <a:srgbClr val="FF008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condiçao_envio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7658" y="3663025"/>
            <a:ext cx="1476743" cy="111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231900" y="2842450"/>
            <a:ext cx="4853400" cy="1786200"/>
          </a:xfrm>
          <a:prstGeom prst="rect">
            <a:avLst/>
          </a:prstGeom>
          <a:solidFill>
            <a:srgbClr val="FFE5F3">
              <a:alpha val="71764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3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Objetivo da Oferta:</a:t>
            </a:r>
            <a:r>
              <a:rPr lang="pt-BR" sz="13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13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3.1: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Número de NCM: 84.8790.00.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3.2: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Validade da Proposta: 10 dias (Referente ao valor ofertado)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3.3: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 pedido será aceito após confirmação via e-mail.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3.4: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Consulte disponibilidade das peças no ato da compra.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3.5: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 relatório de instalação será enviado em até 7 dias úteis a partir da confirmação da compra.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r="8542" b="29640"/>
          <a:stretch/>
        </p:blipFill>
        <p:spPr>
          <a:xfrm>
            <a:off x="5205625" y="2421525"/>
            <a:ext cx="3938374" cy="2721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231900" y="344550"/>
            <a:ext cx="8680200" cy="2227200"/>
          </a:xfrm>
          <a:prstGeom prst="rect">
            <a:avLst/>
          </a:prstGeom>
          <a:solidFill>
            <a:srgbClr val="FFE5F3">
              <a:alpha val="71764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265650" y="495450"/>
            <a:ext cx="8612700" cy="2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4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Impostos e Classificação Fiscal:</a:t>
            </a: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14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IPI: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0%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ICMS: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8.8% (incluso)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IMPOSTOS: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Inclusos - Optante Simples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4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Dados Bancários:</a:t>
            </a: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14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Banco: 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Bradesco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Agência: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0516 </a:t>
            </a: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 Corrente: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0293863-4 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Razão social: 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Só Comércio de Equipamentos para Inteligência e Mistura LTDA.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CNPJ: 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26.863.716/0001-06 (Pix)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0150" y="127725"/>
            <a:ext cx="1348700" cy="10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0"/>
            <a:ext cx="5763900" cy="5143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1729" y="1988304"/>
            <a:ext cx="289025" cy="288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7897" y="2388981"/>
            <a:ext cx="316700" cy="316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4251" y="2716876"/>
            <a:ext cx="334200" cy="3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54975" y="1494075"/>
            <a:ext cx="382550" cy="38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536250" y="346788"/>
            <a:ext cx="36519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8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Consulte nossa Reputação:</a:t>
            </a:r>
            <a:r>
              <a:rPr lang="pt-BR" sz="18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2800" b="1" i="0" u="none" strike="noStrike" cap="none">
              <a:solidFill>
                <a:srgbClr val="FF008C"/>
              </a:solidFill>
              <a:highlight>
                <a:srgbClr val="FF008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196050" y="833688"/>
            <a:ext cx="4484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DESDE NOVEMBRO DE 2020, TRABALHAMOS COM ÍNDICE ZERO DE RECLAMAÇÕES EM MAIS DE 10.000 ATENDIMENTOS.</a:t>
            </a:r>
            <a:endParaRPr sz="11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2106175" y="3482038"/>
            <a:ext cx="3315600" cy="113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b="1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São Paulo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,  {{data}}. 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b="1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{{</a:t>
            </a:r>
            <a:r>
              <a:rPr lang="pt-BR" sz="1100" b="1" dirty="0" err="1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nome_vendedor</a:t>
            </a:r>
            <a:r>
              <a:rPr lang="pt-BR" sz="1100" b="1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}} [Atendimento/Vendas] 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b="1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WhatsApp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: (11) 94984-2894 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b="1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E-mail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: {{</a:t>
            </a:r>
            <a:r>
              <a:rPr lang="pt-BR" sz="1100" dirty="0" err="1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email_vendedor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}}</a:t>
            </a:r>
            <a:endParaRPr sz="1100" b="0" i="0" u="none" strike="noStrike" cap="none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5325" y="3355725"/>
            <a:ext cx="1303200" cy="1303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39" name="Google Shape;139;p6"/>
          <p:cNvCxnSpPr/>
          <p:nvPr/>
        </p:nvCxnSpPr>
        <p:spPr>
          <a:xfrm>
            <a:off x="2076725" y="3265500"/>
            <a:ext cx="0" cy="1488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6"/>
          <p:cNvSpPr txBox="1"/>
          <p:nvPr/>
        </p:nvSpPr>
        <p:spPr>
          <a:xfrm>
            <a:off x="1789075" y="1494125"/>
            <a:ext cx="1966800" cy="14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@sohelices</a:t>
            </a: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Só Hélices</a:t>
            </a: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Só Hélices</a:t>
            </a: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www.sohelices.com.br</a:t>
            </a: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7258" y="0"/>
            <a:ext cx="1476743" cy="111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/>
          <p:cNvPicPr preferRelativeResize="0"/>
          <p:nvPr/>
        </p:nvPicPr>
        <p:blipFill rotWithShape="1">
          <a:blip r:embed="rId9">
            <a:alphaModFix/>
          </a:blip>
          <a:srcRect l="8139" t="7650" r="12216" b="7702"/>
          <a:stretch/>
        </p:blipFill>
        <p:spPr>
          <a:xfrm>
            <a:off x="3577350" y="472364"/>
            <a:ext cx="4484700" cy="4282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2625" y="635350"/>
            <a:ext cx="3638725" cy="24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/>
        </p:nvSpPr>
        <p:spPr>
          <a:xfrm>
            <a:off x="2363025" y="3221100"/>
            <a:ext cx="49764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VENHA TOMAR UM CAFÉ EM NOSSO SHOWROOM! </a:t>
            </a:r>
            <a:endParaRPr sz="9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ESPERAMOS O SEU RETORNO.</a:t>
            </a:r>
            <a:endParaRPr sz="9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Rua Américo Brasiliense 1490, Sala 75/77 - Chácara Santo Antonio  - São Paulo-SP</a:t>
            </a:r>
            <a:endParaRPr sz="900" b="1" i="0" u="none" strike="noStrike" cap="none">
              <a:solidFill>
                <a:srgbClr val="FFFFFF"/>
              </a:solidFill>
              <a:highlight>
                <a:srgbClr val="FF008C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Microsoft Office PowerPoint</Application>
  <PresentationFormat>Apresentação na tela (16:9)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Inter</vt:lpstr>
      <vt:lpstr>Arial</vt:lpstr>
      <vt:lpstr>Inter Medium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Só Hélices</dc:creator>
  <cp:lastModifiedBy>SÓ HÉLICES</cp:lastModifiedBy>
  <cp:revision>1</cp:revision>
  <dcterms:modified xsi:type="dcterms:W3CDTF">2026-03-09T17:33:26Z</dcterms:modified>
</cp:coreProperties>
</file>