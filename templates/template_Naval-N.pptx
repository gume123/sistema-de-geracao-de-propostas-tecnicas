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embeddedFontLst>
    <p:embeddedFont>
      <p:font typeface="Inter" panose="020B0604020202020204" charset="0"/>
      <p:regular r:id="rId10"/>
      <p:bold r:id="rId11"/>
      <p:italic r:id="rId12"/>
      <p:boldItalic r:id="rId13"/>
    </p:embeddedFont>
    <p:embeddedFont>
      <p:font typeface="Inter Medium" panose="020B0604020202020204" charset="0"/>
      <p:regular r:id="rId14"/>
      <p:bold r:id="rId15"/>
      <p:italic r:id="rId16"/>
      <p:boldItalic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4" roundtripDataSignature="AMtx7miAs32Mj7aJn1z7aWg7bbkxy3E4t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18CA14C-1AC6-449C-A462-BD10122A09E7}">
  <a:tblStyle styleId="{F18CA14C-1AC6-449C-A462-BD10122A09E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6" d="100"/>
          <a:sy n="56" d="100"/>
        </p:scale>
        <p:origin x="834" y="2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3" name="Google Shape;6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3" name="Google Shape;9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1" name="Google Shape;11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9" name="Google Shape;11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9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9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12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4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4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5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6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6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6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7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8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8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8C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84275" y="3969575"/>
            <a:ext cx="1559725" cy="1173926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"/>
          <p:cNvSpPr txBox="1"/>
          <p:nvPr/>
        </p:nvSpPr>
        <p:spPr>
          <a:xfrm>
            <a:off x="4525850" y="1722475"/>
            <a:ext cx="300" cy="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1"/>
          <p:cNvSpPr txBox="1"/>
          <p:nvPr/>
        </p:nvSpPr>
        <p:spPr>
          <a:xfrm>
            <a:off x="4833974" y="2161363"/>
            <a:ext cx="4114799" cy="82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800"/>
              <a:buFont typeface="Arial"/>
              <a:buNone/>
            </a:pPr>
            <a:r>
              <a:rPr lang="pt-BR" sz="5800" b="1" i="0" u="none" strike="noStrike" cap="none" dirty="0">
                <a:solidFill>
                  <a:schemeClr val="lt1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pt-BR" sz="5800" b="1" i="0" u="none" strike="noStrike" cap="none" dirty="0">
                <a:solidFill>
                  <a:srgbClr val="FF008C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NAVAL-N</a:t>
            </a:r>
            <a:r>
              <a:rPr lang="pt-BR" sz="5800" b="1" i="0" u="none" strike="noStrike" cap="none" dirty="0">
                <a:solidFill>
                  <a:schemeClr val="lt1"/>
                </a:solidFill>
                <a:highlight>
                  <a:schemeClr val="lt1"/>
                </a:highlight>
                <a:latin typeface="Arial"/>
                <a:ea typeface="Arial"/>
                <a:cs typeface="Arial"/>
                <a:sym typeface="Arial"/>
              </a:rPr>
              <a:t>:</a:t>
            </a:r>
            <a:endParaRPr sz="5800" b="1" i="0" u="none" strike="noStrike" cap="none" dirty="0">
              <a:solidFill>
                <a:schemeClr val="lt1"/>
              </a:solidFill>
              <a:highlight>
                <a:schemeClr val="lt1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41148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"/>
          <p:cNvSpPr txBox="1"/>
          <p:nvPr/>
        </p:nvSpPr>
        <p:spPr>
          <a:xfrm>
            <a:off x="4114800" y="221750"/>
            <a:ext cx="4931125" cy="4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lang="pt-BR" sz="1700" b="1" i="0" u="none" strike="noStrike" cap="none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Proposta Técnica: </a:t>
            </a:r>
            <a:r>
              <a:rPr lang="pt-BR" sz="17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  Nº {{proposta}}</a:t>
            </a:r>
            <a:r>
              <a:rPr lang="pt-BR" sz="17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6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  </a:t>
            </a:r>
            <a:endParaRPr sz="1600" b="1" i="0" u="none" strike="noStrike" cap="none" dirty="0">
              <a:solidFill>
                <a:srgbClr val="FF008C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9" name="Google Shape;59;p1"/>
          <p:cNvSpPr txBox="1"/>
          <p:nvPr/>
        </p:nvSpPr>
        <p:spPr>
          <a:xfrm>
            <a:off x="5819100" y="1258238"/>
            <a:ext cx="31983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Aplicação:</a:t>
            </a:r>
            <a:r>
              <a:rPr lang="pt-BR" sz="1000" b="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Alta Dispersão e Homogeneização</a:t>
            </a:r>
            <a:endParaRPr sz="1000" b="0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aphicFrame>
        <p:nvGraphicFramePr>
          <p:cNvPr id="60" name="Google Shape;60;p1"/>
          <p:cNvGraphicFramePr/>
          <p:nvPr>
            <p:extLst>
              <p:ext uri="{D42A27DB-BD31-4B8C-83A1-F6EECF244321}">
                <p14:modId xmlns:p14="http://schemas.microsoft.com/office/powerpoint/2010/main" val="1256058137"/>
              </p:ext>
            </p:extLst>
          </p:nvPr>
        </p:nvGraphicFramePr>
        <p:xfrm>
          <a:off x="4685950" y="689450"/>
          <a:ext cx="4114800" cy="502900"/>
        </p:xfrm>
        <a:graphic>
          <a:graphicData uri="http://schemas.openxmlformats.org/drawingml/2006/table">
            <a:tbl>
              <a:tblPr>
                <a:noFill/>
                <a:tableStyleId>{F18CA14C-1AC6-449C-A462-BD10122A09E7}</a:tableStyleId>
              </a:tblPr>
              <a:tblGrid>
                <a:gridCol w="1270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3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0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pt-BR" sz="1100" b="1" u="none" strike="noStrike" cap="non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Tecnologia: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strike="noStrike" cap="none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Naval-N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b="1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Aleta: </a:t>
                      </a:r>
                      <a:endParaRPr sz="1000" b="1" u="none" strike="noStrike" cap="none" dirty="0">
                        <a:solidFill>
                          <a:srgbClr val="FFFFFF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{{aleta}} mm </a:t>
                      </a:r>
                      <a:endParaRPr sz="1400" u="none" strike="noStrike" cap="none" dirty="0"/>
                    </a:p>
                  </a:txBody>
                  <a:tcPr marL="91425" marR="91425" marT="91425" marB="91425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Arial"/>
                        <a:buNone/>
                      </a:pPr>
                      <a:r>
                        <a:rPr lang="pt-BR" sz="900" b="1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</a:t>
                      </a:r>
                      <a:r>
                        <a:rPr lang="pt-BR" sz="1000" b="1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Diâmetro:</a:t>
                      </a:r>
                      <a:endParaRPr sz="1000" b="1" u="none" strike="noStrike" cap="none" dirty="0">
                        <a:solidFill>
                          <a:srgbClr val="FFFFFF"/>
                        </a:solidFill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pt-BR" sz="1000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{{</a:t>
                      </a:r>
                      <a:r>
                        <a:rPr lang="pt-BR" sz="1000" u="none" strike="noStrike" cap="none" dirty="0" err="1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diametro_corpo</a:t>
                      </a:r>
                      <a:r>
                        <a:rPr lang="pt-BR" sz="1000" u="none" strike="noStrike" cap="none" dirty="0">
                          <a:solidFill>
                            <a:srgbClr val="FFFFFF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}} mm</a:t>
                      </a:r>
                      <a:endParaRPr sz="1400" u="none" strike="noStrike" cap="none" dirty="0"/>
                    </a:p>
                  </a:txBody>
                  <a:tcPr marL="91425" marR="91425" marT="91425" marB="91425">
                    <a:lnL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8C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"/>
          <p:cNvSpPr/>
          <p:nvPr/>
        </p:nvSpPr>
        <p:spPr>
          <a:xfrm>
            <a:off x="0" y="0"/>
            <a:ext cx="9144000" cy="5143500"/>
          </a:xfrm>
          <a:prstGeom prst="rtTriangle">
            <a:avLst/>
          </a:prstGeom>
          <a:solidFill>
            <a:srgbClr val="EEEEEE"/>
          </a:solidFill>
          <a:ln w="95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66" name="Google Shape;66;p2"/>
          <p:cNvGraphicFramePr/>
          <p:nvPr/>
        </p:nvGraphicFramePr>
        <p:xfrm>
          <a:off x="313300" y="2718900"/>
          <a:ext cx="4258700" cy="2206300"/>
        </p:xfrm>
        <a:graphic>
          <a:graphicData uri="http://schemas.openxmlformats.org/drawingml/2006/table">
            <a:tbl>
              <a:tblPr>
                <a:noFill/>
                <a:tableStyleId>{F18CA14C-1AC6-449C-A462-BD10122A09E7}</a:tableStyleId>
              </a:tblPr>
              <a:tblGrid>
                <a:gridCol w="2129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9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9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88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25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6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91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008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7" name="Google Shape;67;p2"/>
          <p:cNvSpPr/>
          <p:nvPr/>
        </p:nvSpPr>
        <p:spPr>
          <a:xfrm>
            <a:off x="435825" y="28142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435825" y="32519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9" name="Google Shape;69;p2"/>
          <p:cNvSpPr/>
          <p:nvPr/>
        </p:nvSpPr>
        <p:spPr>
          <a:xfrm>
            <a:off x="435825" y="3692313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435825" y="41313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1" name="Google Shape;71;p2"/>
          <p:cNvSpPr/>
          <p:nvPr/>
        </p:nvSpPr>
        <p:spPr>
          <a:xfrm>
            <a:off x="435825" y="4570375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5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2" name="Google Shape;72;p2"/>
          <p:cNvSpPr/>
          <p:nvPr/>
        </p:nvSpPr>
        <p:spPr>
          <a:xfrm>
            <a:off x="2530825" y="28142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6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3" name="Google Shape;73;p2"/>
          <p:cNvSpPr/>
          <p:nvPr/>
        </p:nvSpPr>
        <p:spPr>
          <a:xfrm>
            <a:off x="2530825" y="32519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7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4" name="Google Shape;74;p2"/>
          <p:cNvSpPr/>
          <p:nvPr/>
        </p:nvSpPr>
        <p:spPr>
          <a:xfrm>
            <a:off x="2530825" y="3689638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8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5" name="Google Shape;75;p2"/>
          <p:cNvSpPr/>
          <p:nvPr/>
        </p:nvSpPr>
        <p:spPr>
          <a:xfrm>
            <a:off x="2530825" y="41273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9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6" name="Google Shape;76;p2"/>
          <p:cNvSpPr/>
          <p:nvPr/>
        </p:nvSpPr>
        <p:spPr>
          <a:xfrm>
            <a:off x="2530825" y="4565050"/>
            <a:ext cx="391500" cy="2781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10</a:t>
            </a:r>
            <a:endParaRPr sz="10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7" name="Google Shape;77;p2"/>
          <p:cNvSpPr txBox="1"/>
          <p:nvPr/>
        </p:nvSpPr>
        <p:spPr>
          <a:xfrm>
            <a:off x="874950" y="2734175"/>
            <a:ext cx="170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Vetor:</a:t>
            </a:r>
            <a:r>
              <a:rPr lang="pt-BR" sz="900" b="0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 Naval com </a:t>
            </a:r>
            <a:endParaRPr sz="900" b="0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Aleta Dedicada.</a:t>
            </a:r>
            <a:endParaRPr sz="900" b="0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8" name="Google Shape;78;p2"/>
          <p:cNvSpPr txBox="1"/>
          <p:nvPr/>
        </p:nvSpPr>
        <p:spPr>
          <a:xfrm>
            <a:off x="874950" y="3161500"/>
            <a:ext cx="16455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Diâmetro da Aleta: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900" dirty="0" err="1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diametro_aleta</a:t>
            </a: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}} mm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9" name="Google Shape;79;p2"/>
          <p:cNvSpPr txBox="1"/>
          <p:nvPr/>
        </p:nvSpPr>
        <p:spPr>
          <a:xfrm>
            <a:off x="874950" y="3587625"/>
            <a:ext cx="16455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Espaçamento: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900" dirty="0" err="1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espacamento</a:t>
            </a: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}} mm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0" name="Google Shape;80;p2"/>
          <p:cNvSpPr txBox="1"/>
          <p:nvPr/>
        </p:nvSpPr>
        <p:spPr>
          <a:xfrm>
            <a:off x="874950" y="4040900"/>
            <a:ext cx="17634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Diâmetro do Corpo: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900" dirty="0" err="1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diametro_corpo</a:t>
            </a: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}} mm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1" name="Google Shape;81;p2"/>
          <p:cNvSpPr txBox="1"/>
          <p:nvPr/>
        </p:nvSpPr>
        <p:spPr>
          <a:xfrm>
            <a:off x="874950" y="4476050"/>
            <a:ext cx="17034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Material: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Aço Inox {{</a:t>
            </a:r>
            <a:r>
              <a:rPr lang="pt-BR" sz="900" dirty="0" err="1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aisi</a:t>
            </a: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}}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2" name="Google Shape;82;p2"/>
          <p:cNvSpPr txBox="1"/>
          <p:nvPr/>
        </p:nvSpPr>
        <p:spPr>
          <a:xfrm>
            <a:off x="2965175" y="2707450"/>
            <a:ext cx="1860600" cy="49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Acabamento: </a:t>
            </a:r>
            <a:endParaRPr sz="900" b="1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Semi escovado</a:t>
            </a:r>
            <a:endParaRPr sz="900" b="0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3" name="Google Shape;83;p2"/>
          <p:cNvSpPr txBox="1"/>
          <p:nvPr/>
        </p:nvSpPr>
        <p:spPr>
          <a:xfrm>
            <a:off x="2965163" y="3147250"/>
            <a:ext cx="13659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Espessura:</a:t>
            </a:r>
            <a:r>
              <a:rPr lang="pt-BR" sz="900" b="0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{{espessura}} mm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4" name="Google Shape;84;p2"/>
          <p:cNvSpPr txBox="1"/>
          <p:nvPr/>
        </p:nvSpPr>
        <p:spPr>
          <a:xfrm>
            <a:off x="2965174" y="3587628"/>
            <a:ext cx="1606825" cy="38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Furo central: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Padrão com {{furo}} mm.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5" name="Google Shape;85;p2"/>
          <p:cNvSpPr txBox="1"/>
          <p:nvPr/>
        </p:nvSpPr>
        <p:spPr>
          <a:xfrm>
            <a:off x="2965177" y="4040888"/>
            <a:ext cx="15306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Eixo/Haste: </a:t>
            </a:r>
            <a:endParaRPr sz="900" b="1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lvl="0">
              <a:buSzPts val="900"/>
            </a:pPr>
            <a:r>
              <a:rPr lang="pt-BR" sz="900" dirty="0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{{haste}}.</a:t>
            </a:r>
            <a:endParaRPr sz="900" b="0" i="0" u="none" strike="noStrike" cap="none" dirty="0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6" name="Google Shape;86;p2"/>
          <p:cNvSpPr txBox="1"/>
          <p:nvPr/>
        </p:nvSpPr>
        <p:spPr>
          <a:xfrm>
            <a:off x="2965175" y="4494175"/>
            <a:ext cx="1763400" cy="30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RPM: </a:t>
            </a:r>
            <a:endParaRPr sz="900" b="1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0" i="0" u="none" strike="noStrike" cap="none">
                <a:solidFill>
                  <a:srgbClr val="595959"/>
                </a:solidFill>
                <a:latin typeface="Inter"/>
                <a:ea typeface="Inter"/>
                <a:cs typeface="Inter"/>
                <a:sym typeface="Inter"/>
              </a:rPr>
              <a:t>Rotações até 1.750 ciclos.</a:t>
            </a:r>
            <a:endParaRPr sz="900" b="0" i="0" u="none" strike="noStrike" cap="none">
              <a:solidFill>
                <a:srgbClr val="59595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7" name="Google Shape;87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67258" y="0"/>
            <a:ext cx="1476743" cy="1111474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2"/>
          <p:cNvSpPr txBox="1"/>
          <p:nvPr/>
        </p:nvSpPr>
        <p:spPr>
          <a:xfrm>
            <a:off x="2015550" y="240138"/>
            <a:ext cx="5112900" cy="63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lang="pt-BR" sz="2600" b="1" i="0" u="none" strike="noStrike" cap="none">
                <a:solidFill>
                  <a:schemeClr val="lt1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2900" b="1" i="0" u="none" strike="noStrike" cap="none">
                <a:solidFill>
                  <a:srgbClr val="FF008C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Especificidades</a:t>
            </a:r>
            <a:r>
              <a:rPr lang="pt-BR" sz="2900" b="1" i="0" u="none" strike="noStrike" cap="none">
                <a:solidFill>
                  <a:schemeClr val="lt2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pt-BR" sz="2900" b="1" i="0" u="none" strike="noStrike" cap="none">
                <a:solidFill>
                  <a:srgbClr val="FF008C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técnicas:</a:t>
            </a:r>
            <a:r>
              <a:rPr lang="pt-BR" sz="2900" b="1" i="0" u="none" strike="noStrike" cap="none">
                <a:solidFill>
                  <a:schemeClr val="lt1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2900" b="1" i="0" u="none" strike="noStrike" cap="none">
              <a:solidFill>
                <a:schemeClr val="lt1"/>
              </a:solidFill>
              <a:highlight>
                <a:schemeClr val="lt1"/>
              </a:highlight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9" name="Google Shape;89;p2"/>
          <p:cNvPicPr preferRelativeResize="0"/>
          <p:nvPr/>
        </p:nvPicPr>
        <p:blipFill rotWithShape="1">
          <a:blip r:embed="rId4">
            <a:alphaModFix/>
          </a:blip>
          <a:srcRect t="2030" r="-6022" b="-2029"/>
          <a:stretch/>
        </p:blipFill>
        <p:spPr>
          <a:xfrm>
            <a:off x="6384663" y="3894225"/>
            <a:ext cx="1860726" cy="1860726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2"/>
          <p:cNvPicPr preferRelativeResize="0"/>
          <p:nvPr/>
        </p:nvPicPr>
        <p:blipFill rotWithShape="1">
          <a:blip r:embed="rId5">
            <a:alphaModFix/>
          </a:blip>
          <a:srcRect l="14434"/>
          <a:stretch/>
        </p:blipFill>
        <p:spPr>
          <a:xfrm flipH="1">
            <a:off x="4885301" y="779800"/>
            <a:ext cx="4258699" cy="4471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3"/>
          <p:cNvSpPr/>
          <p:nvPr/>
        </p:nvSpPr>
        <p:spPr>
          <a:xfrm>
            <a:off x="7407400" y="125"/>
            <a:ext cx="1736400" cy="5143500"/>
          </a:xfrm>
          <a:prstGeom prst="rect">
            <a:avLst/>
          </a:prstGeom>
          <a:solidFill>
            <a:srgbClr val="FF008C"/>
          </a:solidFill>
          <a:ln w="9525" cap="flat" cmpd="sng">
            <a:solidFill>
              <a:srgbClr val="FF008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6" name="Google Shape;96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67258" y="4032025"/>
            <a:ext cx="1476743" cy="1111474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3"/>
          <p:cNvSpPr txBox="1"/>
          <p:nvPr/>
        </p:nvSpPr>
        <p:spPr>
          <a:xfrm>
            <a:off x="696100" y="293750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44450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1" i="0" u="none" strike="noStrike" cap="none">
                <a:solidFill>
                  <a:schemeClr val="lt1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  OBJETIVO DA OFERTA:</a:t>
            </a:r>
            <a:r>
              <a:rPr lang="pt-BR" sz="1100" b="1" i="0" u="none" strike="noStrike" cap="none">
                <a:solidFill>
                  <a:srgbClr val="FF008C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:  </a:t>
            </a:r>
            <a:r>
              <a:rPr lang="pt-BR" sz="1100" b="1" i="0" u="none" strike="noStrike" cap="none">
                <a:solidFill>
                  <a:schemeClr val="lt1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   </a:t>
            </a:r>
            <a:endParaRPr sz="1300" b="0" i="0" u="none" strike="noStrike" cap="none">
              <a:solidFill>
                <a:schemeClr val="lt1"/>
              </a:solidFill>
              <a:highlight>
                <a:srgbClr val="FF008C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3"/>
          <p:cNvSpPr txBox="1"/>
          <p:nvPr/>
        </p:nvSpPr>
        <p:spPr>
          <a:xfrm>
            <a:off x="956012" y="647750"/>
            <a:ext cx="2197500" cy="129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 sz="800" b="0" i="0" u="none" strike="noStrike" cap="none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O objetivo desta proposta é definir o escopo e condições comerciais ideais para o fornecimento do vetor de mistura.  Obedece aos critérios de concorrência (Farplay) pré-estabelecidos pelo cliente como: segurança, economia de custos, garantia de procedência, balanceamento e baixíssima manutenção. </a:t>
            </a:r>
            <a:endParaRPr sz="800" b="0" i="0" u="none" strike="noStrike" cap="none">
              <a:solidFill>
                <a:srgbClr val="8080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9" name="Google Shape;99;p3"/>
          <p:cNvSpPr txBox="1"/>
          <p:nvPr/>
        </p:nvSpPr>
        <p:spPr>
          <a:xfrm>
            <a:off x="236775" y="2276250"/>
            <a:ext cx="1599900" cy="59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 sz="800" b="0" i="0" u="none" strike="noStrike" cap="none">
                <a:solidFill>
                  <a:srgbClr val="7F7F7F"/>
                </a:solidFill>
                <a:latin typeface="Inter"/>
                <a:ea typeface="Inter"/>
                <a:cs typeface="Inter"/>
                <a:sym typeface="Inter"/>
              </a:rPr>
              <a:t>Aletas dedicadas para melhor usabilidade em qualquer carga de sólido.</a:t>
            </a:r>
            <a:endParaRPr sz="800" b="0" i="0" u="none" strike="noStrike" cap="none">
              <a:solidFill>
                <a:srgbClr val="7F7F7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0" name="Google Shape;100;p3"/>
          <p:cNvSpPr txBox="1"/>
          <p:nvPr/>
        </p:nvSpPr>
        <p:spPr>
          <a:xfrm>
            <a:off x="5238775" y="846975"/>
            <a:ext cx="2043300" cy="59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800" b="0" i="0" u="none" strike="noStrike" cap="none">
                <a:solidFill>
                  <a:srgbClr val="7F7F7F"/>
                </a:solidFill>
                <a:latin typeface="Inter"/>
                <a:ea typeface="Inter"/>
                <a:cs typeface="Inter"/>
                <a:sym typeface="Inter"/>
              </a:rPr>
              <a:t>Acabamento recomendado para cosméticos, alimentos, antissépticos, medicamentos, entre outros.</a:t>
            </a:r>
            <a:endParaRPr sz="800" b="0" i="0" u="none" strike="noStrike" cap="none">
              <a:solidFill>
                <a:srgbClr val="7F7F7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1" name="Google Shape;101;p3"/>
          <p:cNvSpPr txBox="1"/>
          <p:nvPr/>
        </p:nvSpPr>
        <p:spPr>
          <a:xfrm>
            <a:off x="6026475" y="3923925"/>
            <a:ext cx="1096200" cy="8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pt-BR" sz="800" b="0" i="0" u="none" strike="noStrike" cap="none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Estabilizador de frequência garante máxima segurança em ciclos de até 1.750rpm.</a:t>
            </a:r>
            <a:endParaRPr sz="800" b="0" i="0" u="none" strike="noStrike" cap="none">
              <a:solidFill>
                <a:srgbClr val="8080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02" name="Google Shape;102;p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01250" y="583657"/>
            <a:ext cx="5075475" cy="455985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3"/>
          <p:cNvSpPr txBox="1"/>
          <p:nvPr/>
        </p:nvSpPr>
        <p:spPr>
          <a:xfrm>
            <a:off x="696100" y="4065525"/>
            <a:ext cx="1869600" cy="9171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800"/>
            </a:pPr>
            <a:r>
              <a:rPr lang="pt-BR" sz="800" dirty="0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Aço Inox {{</a:t>
            </a:r>
            <a:r>
              <a:rPr lang="pt-BR" sz="800" dirty="0" err="1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aisi</a:t>
            </a:r>
            <a:r>
              <a:rPr lang="pt-BR" sz="800" dirty="0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}} </a:t>
            </a:r>
            <a:r>
              <a:rPr lang="pt-BR" sz="800" b="0" i="0" u="none" strike="noStrike" cap="none" dirty="0">
                <a:solidFill>
                  <a:srgbClr val="808080"/>
                </a:solidFill>
                <a:latin typeface="Inter"/>
                <a:ea typeface="Inter"/>
                <a:cs typeface="Inter"/>
                <a:sym typeface="Inter"/>
              </a:rPr>
              <a:t> com validação ambiental para evitar contaminação cruzada. </a:t>
            </a:r>
            <a:endParaRPr sz="800" b="0" i="0" u="none" strike="noStrike" cap="none" dirty="0">
              <a:solidFill>
                <a:srgbClr val="80808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104" name="Google Shape;104;p3"/>
          <p:cNvCxnSpPr>
            <a:stCxn id="102" idx="1"/>
          </p:cNvCxnSpPr>
          <p:nvPr/>
        </p:nvCxnSpPr>
        <p:spPr>
          <a:xfrm rot="10800000" flipH="1">
            <a:off x="1301250" y="2827282"/>
            <a:ext cx="1646400" cy="36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cxnSp>
        <p:nvCxnSpPr>
          <p:cNvPr id="105" name="Google Shape;105;p3"/>
          <p:cNvCxnSpPr>
            <a:stCxn id="103" idx="0"/>
          </p:cNvCxnSpPr>
          <p:nvPr/>
        </p:nvCxnSpPr>
        <p:spPr>
          <a:xfrm flipV="1">
            <a:off x="1630900" y="3955425"/>
            <a:ext cx="2129100" cy="110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cxnSp>
        <p:nvCxnSpPr>
          <p:cNvPr id="106" name="Google Shape;106;p3"/>
          <p:cNvCxnSpPr/>
          <p:nvPr/>
        </p:nvCxnSpPr>
        <p:spPr>
          <a:xfrm rot="10800000">
            <a:off x="3985575" y="2752125"/>
            <a:ext cx="2589000" cy="1171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cxnSp>
        <p:nvCxnSpPr>
          <p:cNvPr id="107" name="Google Shape;107;p3"/>
          <p:cNvCxnSpPr/>
          <p:nvPr/>
        </p:nvCxnSpPr>
        <p:spPr>
          <a:xfrm flipH="1">
            <a:off x="4406500" y="1503950"/>
            <a:ext cx="1804800" cy="150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oval" w="med" len="med"/>
          </a:ln>
        </p:spPr>
      </p:cxnSp>
      <p:pic>
        <p:nvPicPr>
          <p:cNvPr id="108" name="Google Shape;108;p3"/>
          <p:cNvPicPr preferRelativeResize="0"/>
          <p:nvPr/>
        </p:nvPicPr>
        <p:blipFill rotWithShape="1">
          <a:blip r:embed="rId5">
            <a:alphaModFix/>
          </a:blip>
          <a:srcRect t="2030" r="-6022" b="-2029"/>
          <a:stretch/>
        </p:blipFill>
        <p:spPr>
          <a:xfrm>
            <a:off x="3352802" y="4032025"/>
            <a:ext cx="2129099" cy="18607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/>
        </p:nvSpPr>
        <p:spPr>
          <a:xfrm>
            <a:off x="2359725" y="184850"/>
            <a:ext cx="48411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lang="pt-BR" sz="2600" b="1" i="0" u="none" strike="noStrike" cap="none">
                <a:solidFill>
                  <a:schemeClr val="lt1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2600" b="1" i="0" u="none" strike="noStrike" cap="none">
                <a:solidFill>
                  <a:srgbClr val="FF008C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Sugestão de Valores:</a:t>
            </a:r>
            <a:r>
              <a:rPr lang="pt-BR" sz="2600" b="1" i="0" u="none" strike="noStrike" cap="none">
                <a:solidFill>
                  <a:schemeClr val="lt1"/>
                </a:solidFill>
                <a:highlight>
                  <a:schemeClr val="lt1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2600" b="1" i="0" u="none" strike="noStrike" cap="none">
              <a:solidFill>
                <a:schemeClr val="lt1"/>
              </a:solidFill>
              <a:highlight>
                <a:schemeClr val="lt1"/>
              </a:highlight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4" name="Google Shape;114;p4"/>
          <p:cNvSpPr/>
          <p:nvPr/>
        </p:nvSpPr>
        <p:spPr>
          <a:xfrm>
            <a:off x="258400" y="788100"/>
            <a:ext cx="8466000" cy="3986400"/>
          </a:xfrm>
          <a:prstGeom prst="rect">
            <a:avLst/>
          </a:prstGeom>
          <a:solidFill>
            <a:srgbClr val="FFE5F3">
              <a:alpha val="71764"/>
            </a:srgbClr>
          </a:solidFill>
          <a:ln w="2857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  <a:effectLst>
            <a:reflection stA="0" endPos="30000" dist="38100" dir="5400000" fadeDir="5400012" sy="-100000" algn="bl" rotWithShape="0"/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highlight>
                <a:srgbClr val="FFE5F3"/>
              </a:highlight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4"/>
          <p:cNvSpPr txBox="1"/>
          <p:nvPr/>
        </p:nvSpPr>
        <p:spPr>
          <a:xfrm>
            <a:off x="292950" y="964950"/>
            <a:ext cx="8958000" cy="37702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Aquisição:</a:t>
            </a: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1100" b="0" i="0" u="none" strike="noStrike" cap="none" dirty="0">
              <a:solidFill>
                <a:srgbClr val="FFFFFF"/>
              </a:solidFill>
              <a:highlight>
                <a:srgbClr val="FFFFFF"/>
              </a:highlight>
              <a:latin typeface="Arial"/>
              <a:ea typeface="Arial"/>
              <a:cs typeface="Arial"/>
              <a:sym typeface="Arial"/>
            </a:endParaRPr>
          </a:p>
          <a:p>
            <a:pPr marL="171450" lvl="0" indent="-171450">
              <a:spcBef>
                <a:spcPts val="1200"/>
              </a:spcBef>
              <a:buSzPts val="1100"/>
              <a:buFontTx/>
              <a:buChar char="-"/>
            </a:pP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Vetor</a:t>
            </a:r>
            <a:r>
              <a:rPr lang="pt-BR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Naval de Alta Homogeneização 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1100" dirty="0" err="1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diametro_corpo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}} mm: (Inox {{</a:t>
            </a:r>
            <a:r>
              <a:rPr lang="pt-BR" sz="1100" dirty="0" err="1">
                <a:latin typeface="Inter"/>
                <a:ea typeface="Inter"/>
                <a:cs typeface="Inter"/>
                <a:sym typeface="Inter"/>
              </a:rPr>
              <a:t>aisi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}} / Verde) R$ {{</a:t>
            </a:r>
            <a:r>
              <a:rPr lang="pt-BR" sz="1100" dirty="0" err="1">
                <a:latin typeface="Inter"/>
                <a:ea typeface="Inter"/>
                <a:cs typeface="Inter"/>
                <a:sym typeface="Inter"/>
              </a:rPr>
              <a:t>preco_unitario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}} (Unitário) // R$ {{</a:t>
            </a:r>
            <a:r>
              <a:rPr lang="pt-BR" sz="1100" dirty="0" err="1">
                <a:latin typeface="Inter"/>
                <a:ea typeface="Inter"/>
                <a:cs typeface="Inter"/>
                <a:sym typeface="Inter"/>
              </a:rPr>
              <a:t>preco_lote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}} (Lote) </a:t>
            </a:r>
          </a:p>
          <a:p>
            <a:pPr marL="171450" lvl="0" indent="-171450">
              <a:spcBef>
                <a:spcPts val="1200"/>
              </a:spcBef>
              <a:buSzPts val="1100"/>
              <a:buFontTx/>
              <a:buChar char="-"/>
            </a:pP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Equipamento Acompanha:</a:t>
            </a: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1100" b="0" i="1" u="none" strike="noStrike" cap="none" dirty="0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Vetores em Aço Inox + Consultoria Técnica Full Time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Formas de pagamento (de acordo com a escolha do cliente):</a:t>
            </a: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endParaRPr sz="1100" b="1" i="0" u="none" strike="noStrike" cap="none" dirty="0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À vista  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50% de entrada + 50% em 30 dias 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Faturado mediante aprovação cadastral 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Inter"/>
              <a:buChar char="●"/>
            </a:pPr>
            <a:r>
              <a:rPr lang="pt-BR" sz="1100" b="0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Cartão de crédito 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Frete:</a:t>
            </a: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 </a:t>
            </a:r>
            <a:endParaRPr sz="1100" b="1" i="0" u="none" strike="noStrike" cap="none" dirty="0">
              <a:solidFill>
                <a:srgbClr val="FF008C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lvl="0">
              <a:spcBef>
                <a:spcPts val="1200"/>
              </a:spcBef>
              <a:buSzPts val="1100"/>
            </a:pP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Via PAC – R$ {{</a:t>
            </a:r>
            <a:r>
              <a:rPr lang="pt-BR" sz="1100" dirty="0" err="1">
                <a:latin typeface="Inter"/>
                <a:ea typeface="Inter"/>
                <a:cs typeface="Inter"/>
                <a:sym typeface="Inter"/>
              </a:rPr>
              <a:t>frete_pac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}} |  Via SEDEX -  R$ {{</a:t>
            </a:r>
            <a:r>
              <a:rPr lang="pt-BR" sz="1100" dirty="0" err="1">
                <a:latin typeface="Inter"/>
                <a:ea typeface="Inter"/>
                <a:cs typeface="Inter"/>
                <a:sym typeface="Inter"/>
              </a:rPr>
              <a:t>frete_sedex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}} </a:t>
            </a:r>
          </a:p>
          <a:p>
            <a:pPr lvl="0">
              <a:spcBef>
                <a:spcPts val="1200"/>
              </a:spcBef>
              <a:buSzPts val="1100"/>
            </a:pPr>
            <a:r>
              <a:rPr lang="pt-BR" sz="1100" b="1" i="0" u="none" strike="noStrike" cap="none" dirty="0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 dirty="0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Envio</a:t>
            </a:r>
            <a:r>
              <a:rPr lang="pt-BR" sz="1100" b="1" i="0" u="none" strike="noStrike" cap="none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pt-BR" sz="11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 </a:t>
            </a:r>
            <a:r>
              <a:rPr lang="pt-BR" sz="1100" b="1" i="0" u="none" strike="noStrike" cap="none">
                <a:solidFill>
                  <a:srgbClr val="FF008C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pt-BR" sz="11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pt-BR" sz="1100">
                <a:latin typeface="Inter"/>
                <a:ea typeface="Inter"/>
                <a:cs typeface="Inter"/>
                <a:sym typeface="Inter"/>
              </a:rPr>
              <a:t>{{</a:t>
            </a:r>
            <a:r>
              <a:rPr lang="pt-BR" sz="1100" dirty="0" err="1">
                <a:latin typeface="Inter"/>
                <a:ea typeface="Inter"/>
                <a:cs typeface="Inter"/>
                <a:sym typeface="Inter"/>
              </a:rPr>
              <a:t>condiçao_envio</a:t>
            </a:r>
            <a:r>
              <a:rPr lang="pt-BR" sz="1100" dirty="0">
                <a:latin typeface="Inter"/>
                <a:ea typeface="Inter"/>
                <a:cs typeface="Inter"/>
                <a:sym typeface="Inter"/>
              </a:rPr>
              <a:t>}}</a:t>
            </a:r>
            <a:endParaRPr sz="1100" b="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16" name="Google Shape;116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247658" y="3663025"/>
            <a:ext cx="1476743" cy="1111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8C"/>
        </a:solid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/>
          <p:cNvSpPr/>
          <p:nvPr/>
        </p:nvSpPr>
        <p:spPr>
          <a:xfrm>
            <a:off x="231900" y="2842450"/>
            <a:ext cx="4853400" cy="1786200"/>
          </a:xfrm>
          <a:prstGeom prst="rect">
            <a:avLst/>
          </a:prstGeom>
          <a:solidFill>
            <a:srgbClr val="FFE5F3">
              <a:alpha val="71764"/>
            </a:srgbClr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1" i="0" u="none" strike="noStrike" cap="none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pt-BR" sz="13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r>
              <a:rPr lang="pt-BR" sz="1300" b="1" i="0" u="none" strike="noStrike" cap="none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Objetivo da Oferta:</a:t>
            </a:r>
            <a:r>
              <a:rPr lang="pt-BR" sz="13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endParaRPr sz="1300" b="1" i="0" u="none" strike="noStrike" cap="none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3.1: 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Número de NCM: 84.8790.00. 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3.2: 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Validade da Proposta: 10 dias (Referente ao valor ofertado)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3.3: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O pedido será aceito após confirmação via e-mail. 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3.4: 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Consulte disponibilidade das peças no ato da compra.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0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3.5: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O relatório de instalação será enviado em até 7 dias úteis a partir da confirmação da compra.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80808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2" name="Google Shape;122;p5"/>
          <p:cNvPicPr preferRelativeResize="0"/>
          <p:nvPr/>
        </p:nvPicPr>
        <p:blipFill rotWithShape="1">
          <a:blip r:embed="rId3">
            <a:alphaModFix/>
          </a:blip>
          <a:srcRect r="8542" b="29640"/>
          <a:stretch/>
        </p:blipFill>
        <p:spPr>
          <a:xfrm>
            <a:off x="5205625" y="2421525"/>
            <a:ext cx="3938374" cy="2721976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5"/>
          <p:cNvSpPr/>
          <p:nvPr/>
        </p:nvSpPr>
        <p:spPr>
          <a:xfrm>
            <a:off x="231900" y="344550"/>
            <a:ext cx="8680200" cy="2227200"/>
          </a:xfrm>
          <a:prstGeom prst="rect">
            <a:avLst/>
          </a:prstGeom>
          <a:solidFill>
            <a:srgbClr val="FFE5F3">
              <a:alpha val="71764"/>
            </a:srgbClr>
          </a:solidFill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5"/>
          <p:cNvSpPr txBox="1"/>
          <p:nvPr/>
        </p:nvSpPr>
        <p:spPr>
          <a:xfrm>
            <a:off x="265650" y="495450"/>
            <a:ext cx="8612700" cy="22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pt-BR" sz="14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r>
              <a:rPr lang="pt-BR" sz="1400" b="1" i="0" u="none" strike="noStrike" cap="none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Impostos e Classificação Fiscal:</a:t>
            </a:r>
            <a:r>
              <a:rPr lang="pt-BR" sz="14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endParaRPr sz="1400" b="1" i="0" u="none" strike="noStrike" cap="none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1" i="0" u="none" strike="noStrike" cap="none">
              <a:solidFill>
                <a:srgbClr val="434343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IPI: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0% | </a:t>
            </a: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ICMS: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8.8% (incluso) | </a:t>
            </a: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IMPOSTOS: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Inclusos - Optante Simples</a:t>
            </a: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400" b="1" i="0" u="none" strike="noStrike" cap="none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4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r>
              <a:rPr lang="pt-BR" sz="1400" b="1" i="0" u="none" strike="noStrike" cap="none">
                <a:solidFill>
                  <a:srgbClr val="FF008C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Dados Bancários:</a:t>
            </a:r>
            <a:r>
              <a:rPr lang="pt-BR" sz="1400" b="1" i="0" u="none" strike="noStrike" cap="none">
                <a:solidFill>
                  <a:srgbClr val="FFFFFF"/>
                </a:solidFill>
                <a:highlight>
                  <a:srgbClr val="FFFFFF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endParaRPr sz="1400" b="1" i="0" u="none" strike="noStrike" cap="none">
              <a:solidFill>
                <a:srgbClr val="FFFFFF"/>
              </a:solidFill>
              <a:highlight>
                <a:srgbClr val="FFFFFF"/>
              </a:highlight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1" i="0" u="none" strike="noStrike" cap="none">
              <a:solidFill>
                <a:srgbClr val="434343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Banco: 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Bradesco | </a:t>
            </a: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Agência: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0516 </a:t>
            </a:r>
            <a:r>
              <a:rPr lang="pt-BR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|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Conta Corrente: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0293863-4 </a:t>
            </a: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Razão social: 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Só Comércio de Equipamentos para Inteligência e Mistura LTDA. | </a:t>
            </a:r>
            <a:r>
              <a:rPr lang="pt-BR" sz="12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CNPJ: </a:t>
            </a:r>
            <a:r>
              <a:rPr lang="pt-BR"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26.863.716/0001-06 (Pix)</a:t>
            </a:r>
            <a:r>
              <a:rPr lang="pt-BR" sz="10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endParaRPr sz="10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25" name="Google Shape;125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40150" y="127725"/>
            <a:ext cx="1348700" cy="1015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8C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"/>
          <p:cNvSpPr/>
          <p:nvPr/>
        </p:nvSpPr>
        <p:spPr>
          <a:xfrm>
            <a:off x="0" y="0"/>
            <a:ext cx="5763900" cy="5143500"/>
          </a:xfrm>
          <a:prstGeom prst="rect">
            <a:avLst/>
          </a:prstGeom>
          <a:solidFill>
            <a:srgbClr val="EEEEEE"/>
          </a:solidFill>
          <a:ln w="95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1" name="Google Shape;131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01729" y="1988304"/>
            <a:ext cx="289025" cy="2889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87897" y="2388981"/>
            <a:ext cx="316700" cy="31673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84251" y="2716876"/>
            <a:ext cx="334200" cy="334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354975" y="1494075"/>
            <a:ext cx="382550" cy="38255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6"/>
          <p:cNvSpPr txBox="1"/>
          <p:nvPr/>
        </p:nvSpPr>
        <p:spPr>
          <a:xfrm>
            <a:off x="536250" y="346788"/>
            <a:ext cx="3651900" cy="4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pt-BR" sz="1800" b="1" i="0" u="none" strike="noStrike" cap="none">
                <a:solidFill>
                  <a:srgbClr val="FF008C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r>
              <a:rPr lang="pt-BR" sz="1800" b="1" i="0" u="none" strike="noStrike" cap="none">
                <a:solidFill>
                  <a:srgbClr val="FFFFFF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Consulte nossa Reputação:</a:t>
            </a:r>
            <a:r>
              <a:rPr lang="pt-BR" sz="1800" b="1" i="0" u="none" strike="noStrike" cap="none">
                <a:solidFill>
                  <a:srgbClr val="FF008C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::</a:t>
            </a:r>
            <a:endParaRPr sz="2800" b="1" i="0" u="none" strike="noStrike" cap="none">
              <a:solidFill>
                <a:srgbClr val="FF008C"/>
              </a:solidFill>
              <a:highlight>
                <a:srgbClr val="FF008C"/>
              </a:highlight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6" name="Google Shape;136;p6"/>
          <p:cNvSpPr txBox="1"/>
          <p:nvPr/>
        </p:nvSpPr>
        <p:spPr>
          <a:xfrm>
            <a:off x="196050" y="833688"/>
            <a:ext cx="44847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pt-BR" sz="1100" b="1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pt-BR" sz="11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DESDE NOVEMBRO DE 2020, TRABALHAMOS COM ÍNDICE ZERO DE RECLAMAÇÕES EM MAIS DE 10.000 ATENDIMENTOS.</a:t>
            </a:r>
            <a:endParaRPr sz="11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7" name="Google Shape;137;p6"/>
          <p:cNvSpPr txBox="1"/>
          <p:nvPr/>
        </p:nvSpPr>
        <p:spPr>
          <a:xfrm>
            <a:off x="2106175" y="3482038"/>
            <a:ext cx="3315600" cy="11387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>
              <a:lnSpc>
                <a:spcPct val="50000"/>
              </a:lnSpc>
              <a:spcBef>
                <a:spcPts val="1200"/>
              </a:spcBef>
              <a:buSzPts val="1100"/>
            </a:pPr>
            <a:r>
              <a:rPr lang="pt-BR" sz="1100" b="1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São Paulo</a:t>
            </a:r>
            <a:r>
              <a:rPr lang="pt-BR" sz="1100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,  {{data}}. </a:t>
            </a:r>
          </a:p>
          <a:p>
            <a:pPr lvl="0">
              <a:lnSpc>
                <a:spcPct val="50000"/>
              </a:lnSpc>
              <a:spcBef>
                <a:spcPts val="1200"/>
              </a:spcBef>
              <a:buSzPts val="1100"/>
            </a:pPr>
            <a:r>
              <a:rPr lang="pt-BR" sz="1100" b="1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{{</a:t>
            </a:r>
            <a:r>
              <a:rPr lang="pt-BR" sz="1100" b="1" dirty="0" err="1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nome_vendedor</a:t>
            </a:r>
            <a:r>
              <a:rPr lang="pt-BR" sz="1100" b="1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}} [Atendimento/Vendas] </a:t>
            </a:r>
          </a:p>
          <a:p>
            <a:pPr lvl="0">
              <a:lnSpc>
                <a:spcPct val="50000"/>
              </a:lnSpc>
              <a:spcBef>
                <a:spcPts val="1200"/>
              </a:spcBef>
              <a:buSzPts val="1100"/>
            </a:pPr>
            <a:r>
              <a:rPr lang="pt-BR" sz="1100" b="1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WhatsApp</a:t>
            </a:r>
            <a:r>
              <a:rPr lang="pt-BR" sz="1100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: (11) 94984-2894 </a:t>
            </a:r>
          </a:p>
          <a:p>
            <a:pPr lvl="0">
              <a:lnSpc>
                <a:spcPct val="50000"/>
              </a:lnSpc>
              <a:spcBef>
                <a:spcPts val="1200"/>
              </a:spcBef>
              <a:buSzPts val="1100"/>
            </a:pPr>
            <a:r>
              <a:rPr lang="pt-BR" sz="1100" b="1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E-mail</a:t>
            </a:r>
            <a:r>
              <a:rPr lang="pt-BR" sz="1100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: {{</a:t>
            </a:r>
            <a:r>
              <a:rPr lang="pt-BR" sz="1100" dirty="0" err="1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email_vendedor</a:t>
            </a:r>
            <a:r>
              <a:rPr lang="pt-BR" sz="1100" dirty="0">
                <a:latin typeface="Inter" panose="020B0604020202020204" charset="0"/>
                <a:ea typeface="Inter" panose="020B0604020202020204" charset="0"/>
                <a:cs typeface="Inter ExtraBold"/>
                <a:sym typeface="Inter ExtraBold"/>
              </a:rPr>
              <a:t>}}</a:t>
            </a:r>
            <a:endParaRPr sz="1100" b="0" i="0" u="none" strike="noStrike" cap="none" dirty="0">
              <a:solidFill>
                <a:srgbClr val="000000"/>
              </a:solidFill>
              <a:latin typeface="Inter" panose="020B0604020202020204" charset="0"/>
              <a:ea typeface="Inter" panose="020B0604020202020204" charset="0"/>
              <a:cs typeface="Inter"/>
              <a:sym typeface="Inter"/>
            </a:endParaRPr>
          </a:p>
        </p:txBody>
      </p:sp>
      <p:pic>
        <p:nvPicPr>
          <p:cNvPr id="138" name="Google Shape;138;p6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25325" y="3355725"/>
            <a:ext cx="1303200" cy="13032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pic>
      <p:cxnSp>
        <p:nvCxnSpPr>
          <p:cNvPr id="139" name="Google Shape;139;p6"/>
          <p:cNvCxnSpPr/>
          <p:nvPr/>
        </p:nvCxnSpPr>
        <p:spPr>
          <a:xfrm>
            <a:off x="2076725" y="3265500"/>
            <a:ext cx="0" cy="14889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0" name="Google Shape;140;p6"/>
          <p:cNvSpPr txBox="1"/>
          <p:nvPr/>
        </p:nvSpPr>
        <p:spPr>
          <a:xfrm>
            <a:off x="1789075" y="1494125"/>
            <a:ext cx="1966800" cy="148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0" i="0" u="none" strike="noStrike" cap="none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@sohelices</a:t>
            </a: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0" i="0" u="none" strike="noStrike" cap="none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Só Hélices</a:t>
            </a: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0" i="0" u="none" strike="noStrike" cap="none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Só Hélices</a:t>
            </a: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rgbClr val="000000"/>
              </a:solidFill>
              <a:latin typeface="Inter Medium"/>
              <a:ea typeface="Inter Medium"/>
              <a:cs typeface="Inter Medium"/>
              <a:sym typeface="Inter Medium"/>
            </a:endParaRPr>
          </a:p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pt-BR" sz="1200" b="0" i="0" u="none" strike="noStrike" cap="none">
                <a:solidFill>
                  <a:srgbClr val="000000"/>
                </a:solidFill>
                <a:latin typeface="Inter Medium"/>
                <a:ea typeface="Inter Medium"/>
                <a:cs typeface="Inter Medium"/>
                <a:sym typeface="Inter Medium"/>
              </a:rPr>
              <a:t>www.sohelices.com.br</a:t>
            </a:r>
            <a:endParaRPr sz="1800" b="0" i="0" u="none" strike="noStrike" cap="none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41" name="Google Shape;141;p6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667258" y="0"/>
            <a:ext cx="1476743" cy="11114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6"/>
          <p:cNvPicPr preferRelativeResize="0"/>
          <p:nvPr/>
        </p:nvPicPr>
        <p:blipFill rotWithShape="1">
          <a:blip r:embed="rId9">
            <a:alphaModFix/>
          </a:blip>
          <a:srcRect l="8139" t="7650" r="12216" b="7702"/>
          <a:stretch/>
        </p:blipFill>
        <p:spPr>
          <a:xfrm>
            <a:off x="3577350" y="472364"/>
            <a:ext cx="4484700" cy="428203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3F3"/>
        </a:soli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7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52625" y="635350"/>
            <a:ext cx="3638725" cy="2475025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7"/>
          <p:cNvSpPr txBox="1"/>
          <p:nvPr/>
        </p:nvSpPr>
        <p:spPr>
          <a:xfrm>
            <a:off x="2363025" y="3221100"/>
            <a:ext cx="4976400" cy="9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VENHA TOMAR UM CAFÉ EM NOSSO SHOWROOM! </a:t>
            </a:r>
            <a:endParaRPr sz="9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ESPERAMOS O SEU RETORNO.</a:t>
            </a:r>
            <a:endParaRPr sz="900" b="1" i="0" u="none" strike="noStrike" cap="none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pt-BR" sz="900" b="1" i="0" u="none" strike="noStrike" cap="none">
                <a:solidFill>
                  <a:srgbClr val="FFFFFF"/>
                </a:solidFill>
                <a:highlight>
                  <a:srgbClr val="FF008C"/>
                </a:highlight>
                <a:latin typeface="Inter"/>
                <a:ea typeface="Inter"/>
                <a:cs typeface="Inter"/>
                <a:sym typeface="Inter"/>
              </a:rPr>
              <a:t>Rua Américo Brasiliense 1490, Sala 75/77 - Chácara Santo Antonio  - São Paulo-SP</a:t>
            </a:r>
            <a:endParaRPr sz="900" b="1" i="0" u="none" strike="noStrike" cap="none">
              <a:solidFill>
                <a:srgbClr val="FFFFFF"/>
              </a:solidFill>
              <a:highlight>
                <a:srgbClr val="FF008C"/>
              </a:highlight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574</Words>
  <Application>Microsoft Office PowerPoint</Application>
  <PresentationFormat>Apresentação na tela (16:9)</PresentationFormat>
  <Paragraphs>92</Paragraphs>
  <Slides>7</Slides>
  <Notes>7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1" baseType="lpstr">
      <vt:lpstr>Arial</vt:lpstr>
      <vt:lpstr>Inter</vt:lpstr>
      <vt:lpstr>Inter Medium</vt:lpstr>
      <vt:lpstr>Simple Light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Só Hélices</dc:creator>
  <cp:lastModifiedBy>SÓ HÉLICES</cp:lastModifiedBy>
  <cp:revision>2</cp:revision>
  <dcterms:modified xsi:type="dcterms:W3CDTF">2026-03-12T13:11:01Z</dcterms:modified>
</cp:coreProperties>
</file>