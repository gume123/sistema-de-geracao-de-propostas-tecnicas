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56" r:id="rId2"/>
    <p:sldId id="263" r:id="rId3"/>
    <p:sldId id="258" r:id="rId4"/>
    <p:sldId id="264" r:id="rId5"/>
    <p:sldId id="265" r:id="rId6"/>
    <p:sldId id="261" r:id="rId7"/>
    <p:sldId id="262" r:id="rId8"/>
  </p:sldIdLst>
  <p:sldSz cx="7561263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F0EF"/>
    <a:srgbClr val="E016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6247" autoAdjust="0"/>
  </p:normalViewPr>
  <p:slideViewPr>
    <p:cSldViewPr snapToGrid="0">
      <p:cViewPr varScale="1">
        <p:scale>
          <a:sx n="69" d="100"/>
          <a:sy n="69" d="100"/>
        </p:scale>
        <p:origin x="3114" y="84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CAEED2-BC16-4826-88B5-7A60AAAA0FBF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097D3D-285D-4500-AB96-F7BD5CB94F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0008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85676-3050-B7A4-0D80-6DCE23B10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BD63050-3B23-FA3E-8344-DC41D5810C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0A5C84F-7862-965D-F9A8-BB66EEEB1A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DB0E24A-3BB8-EAF3-2B5B-8DD9420A45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097D3D-285D-4500-AB96-F7BD5CB94F5C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9074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7095" y="1749795"/>
            <a:ext cx="6427074" cy="3722335"/>
          </a:xfrm>
        </p:spPr>
        <p:txBody>
          <a:bodyPr anchor="b"/>
          <a:lstStyle>
            <a:lvl1pPr algn="ctr">
              <a:defRPr sz="496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5158" y="5615678"/>
            <a:ext cx="5670947" cy="2581379"/>
          </a:xfrm>
        </p:spPr>
        <p:txBody>
          <a:bodyPr/>
          <a:lstStyle>
            <a:lvl1pPr marL="0" indent="0" algn="ctr">
              <a:buNone/>
              <a:defRPr sz="1985"/>
            </a:lvl1pPr>
            <a:lvl2pPr marL="378059" indent="0" algn="ctr">
              <a:buNone/>
              <a:defRPr sz="1654"/>
            </a:lvl2pPr>
            <a:lvl3pPr marL="756117" indent="0" algn="ctr">
              <a:buNone/>
              <a:defRPr sz="1488"/>
            </a:lvl3pPr>
            <a:lvl4pPr marL="1134176" indent="0" algn="ctr">
              <a:buNone/>
              <a:defRPr sz="1323"/>
            </a:lvl4pPr>
            <a:lvl5pPr marL="1512235" indent="0" algn="ctr">
              <a:buNone/>
              <a:defRPr sz="1323"/>
            </a:lvl5pPr>
            <a:lvl6pPr marL="1890293" indent="0" algn="ctr">
              <a:buNone/>
              <a:defRPr sz="1323"/>
            </a:lvl6pPr>
            <a:lvl7pPr marL="2268352" indent="0" algn="ctr">
              <a:buNone/>
              <a:defRPr sz="1323"/>
            </a:lvl7pPr>
            <a:lvl8pPr marL="2646411" indent="0" algn="ctr">
              <a:buNone/>
              <a:defRPr sz="1323"/>
            </a:lvl8pPr>
            <a:lvl9pPr marL="3024469" indent="0" algn="ctr">
              <a:buNone/>
              <a:defRPr sz="1323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4862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2471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899" y="2665532"/>
            <a:ext cx="6521589" cy="4447496"/>
          </a:xfrm>
        </p:spPr>
        <p:txBody>
          <a:bodyPr anchor="b"/>
          <a:lstStyle>
            <a:lvl1pPr>
              <a:defRPr sz="496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899" y="7155103"/>
            <a:ext cx="6521589" cy="2338833"/>
          </a:xfrm>
        </p:spPr>
        <p:txBody>
          <a:bodyPr/>
          <a:lstStyle>
            <a:lvl1pPr marL="0" indent="0">
              <a:buNone/>
              <a:defRPr sz="1985">
                <a:solidFill>
                  <a:schemeClr val="tx1">
                    <a:tint val="82000"/>
                  </a:schemeClr>
                </a:solidFill>
              </a:defRPr>
            </a:lvl1pPr>
            <a:lvl2pPr marL="378059" indent="0">
              <a:buNone/>
              <a:defRPr sz="1654">
                <a:solidFill>
                  <a:schemeClr val="tx1">
                    <a:tint val="82000"/>
                  </a:schemeClr>
                </a:solidFill>
              </a:defRPr>
            </a:lvl2pPr>
            <a:lvl3pPr marL="756117" indent="0">
              <a:buNone/>
              <a:defRPr sz="1488">
                <a:solidFill>
                  <a:schemeClr val="tx1">
                    <a:tint val="82000"/>
                  </a:schemeClr>
                </a:solidFill>
              </a:defRPr>
            </a:lvl3pPr>
            <a:lvl4pPr marL="1134176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4pPr>
            <a:lvl5pPr marL="1512235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5pPr>
            <a:lvl6pPr marL="1890293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6pPr>
            <a:lvl7pPr marL="2268352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7pPr>
            <a:lvl8pPr marL="2646411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8pPr>
            <a:lvl9pPr marL="3024469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3408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837" y="2846200"/>
            <a:ext cx="3213537" cy="678385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889" y="2846200"/>
            <a:ext cx="3213537" cy="678385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1946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822" y="569242"/>
            <a:ext cx="6521589" cy="206659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823" y="2620980"/>
            <a:ext cx="3198768" cy="1284502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8059" indent="0">
              <a:buNone/>
              <a:defRPr sz="1654" b="1"/>
            </a:lvl2pPr>
            <a:lvl3pPr marL="756117" indent="0">
              <a:buNone/>
              <a:defRPr sz="1488" b="1"/>
            </a:lvl3pPr>
            <a:lvl4pPr marL="1134176" indent="0">
              <a:buNone/>
              <a:defRPr sz="1323" b="1"/>
            </a:lvl4pPr>
            <a:lvl5pPr marL="1512235" indent="0">
              <a:buNone/>
              <a:defRPr sz="1323" b="1"/>
            </a:lvl5pPr>
            <a:lvl6pPr marL="1890293" indent="0">
              <a:buNone/>
              <a:defRPr sz="1323" b="1"/>
            </a:lvl6pPr>
            <a:lvl7pPr marL="2268352" indent="0">
              <a:buNone/>
              <a:defRPr sz="1323" b="1"/>
            </a:lvl7pPr>
            <a:lvl8pPr marL="2646411" indent="0">
              <a:buNone/>
              <a:defRPr sz="1323" b="1"/>
            </a:lvl8pPr>
            <a:lvl9pPr marL="3024469" indent="0">
              <a:buNone/>
              <a:defRPr sz="1323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823" y="3905482"/>
            <a:ext cx="3198768" cy="574437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890" y="2620980"/>
            <a:ext cx="3214522" cy="1284502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8059" indent="0">
              <a:buNone/>
              <a:defRPr sz="1654" b="1"/>
            </a:lvl2pPr>
            <a:lvl3pPr marL="756117" indent="0">
              <a:buNone/>
              <a:defRPr sz="1488" b="1"/>
            </a:lvl3pPr>
            <a:lvl4pPr marL="1134176" indent="0">
              <a:buNone/>
              <a:defRPr sz="1323" b="1"/>
            </a:lvl4pPr>
            <a:lvl5pPr marL="1512235" indent="0">
              <a:buNone/>
              <a:defRPr sz="1323" b="1"/>
            </a:lvl5pPr>
            <a:lvl6pPr marL="1890293" indent="0">
              <a:buNone/>
              <a:defRPr sz="1323" b="1"/>
            </a:lvl6pPr>
            <a:lvl7pPr marL="2268352" indent="0">
              <a:buNone/>
              <a:defRPr sz="1323" b="1"/>
            </a:lvl7pPr>
            <a:lvl8pPr marL="2646411" indent="0">
              <a:buNone/>
              <a:defRPr sz="1323" b="1"/>
            </a:lvl8pPr>
            <a:lvl9pPr marL="3024469" indent="0">
              <a:buNone/>
              <a:defRPr sz="1323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890" y="3905482"/>
            <a:ext cx="3214522" cy="574437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2692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6959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8277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822" y="712788"/>
            <a:ext cx="2438704" cy="2494756"/>
          </a:xfrm>
        </p:spPr>
        <p:txBody>
          <a:bodyPr anchor="b"/>
          <a:lstStyle>
            <a:lvl1pPr>
              <a:defRPr sz="2646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4522" y="1539425"/>
            <a:ext cx="3827889" cy="7598117"/>
          </a:xfrm>
        </p:spPr>
        <p:txBody>
          <a:bodyPr/>
          <a:lstStyle>
            <a:lvl1pPr>
              <a:defRPr sz="2646"/>
            </a:lvl1pPr>
            <a:lvl2pPr>
              <a:defRPr sz="2315"/>
            </a:lvl2pPr>
            <a:lvl3pPr>
              <a:defRPr sz="1985"/>
            </a:lvl3pPr>
            <a:lvl4pPr>
              <a:defRPr sz="1654"/>
            </a:lvl4pPr>
            <a:lvl5pPr>
              <a:defRPr sz="1654"/>
            </a:lvl5pPr>
            <a:lvl6pPr>
              <a:defRPr sz="1654"/>
            </a:lvl6pPr>
            <a:lvl7pPr>
              <a:defRPr sz="1654"/>
            </a:lvl7pPr>
            <a:lvl8pPr>
              <a:defRPr sz="1654"/>
            </a:lvl8pPr>
            <a:lvl9pPr>
              <a:defRPr sz="1654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822" y="3207544"/>
            <a:ext cx="2438704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8059" indent="0">
              <a:buNone/>
              <a:defRPr sz="1158"/>
            </a:lvl2pPr>
            <a:lvl3pPr marL="756117" indent="0">
              <a:buNone/>
              <a:defRPr sz="992"/>
            </a:lvl3pPr>
            <a:lvl4pPr marL="1134176" indent="0">
              <a:buNone/>
              <a:defRPr sz="827"/>
            </a:lvl4pPr>
            <a:lvl5pPr marL="1512235" indent="0">
              <a:buNone/>
              <a:defRPr sz="827"/>
            </a:lvl5pPr>
            <a:lvl6pPr marL="1890293" indent="0">
              <a:buNone/>
              <a:defRPr sz="827"/>
            </a:lvl6pPr>
            <a:lvl7pPr marL="2268352" indent="0">
              <a:buNone/>
              <a:defRPr sz="827"/>
            </a:lvl7pPr>
            <a:lvl8pPr marL="2646411" indent="0">
              <a:buNone/>
              <a:defRPr sz="827"/>
            </a:lvl8pPr>
            <a:lvl9pPr marL="3024469" indent="0">
              <a:buNone/>
              <a:defRPr sz="827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9120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822" y="712788"/>
            <a:ext cx="2438704" cy="2494756"/>
          </a:xfrm>
        </p:spPr>
        <p:txBody>
          <a:bodyPr anchor="b"/>
          <a:lstStyle>
            <a:lvl1pPr>
              <a:defRPr sz="2646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4522" y="1539425"/>
            <a:ext cx="3827889" cy="7598117"/>
          </a:xfrm>
        </p:spPr>
        <p:txBody>
          <a:bodyPr anchor="t"/>
          <a:lstStyle>
            <a:lvl1pPr marL="0" indent="0">
              <a:buNone/>
              <a:defRPr sz="2646"/>
            </a:lvl1pPr>
            <a:lvl2pPr marL="378059" indent="0">
              <a:buNone/>
              <a:defRPr sz="2315"/>
            </a:lvl2pPr>
            <a:lvl3pPr marL="756117" indent="0">
              <a:buNone/>
              <a:defRPr sz="1985"/>
            </a:lvl3pPr>
            <a:lvl4pPr marL="1134176" indent="0">
              <a:buNone/>
              <a:defRPr sz="1654"/>
            </a:lvl4pPr>
            <a:lvl5pPr marL="1512235" indent="0">
              <a:buNone/>
              <a:defRPr sz="1654"/>
            </a:lvl5pPr>
            <a:lvl6pPr marL="1890293" indent="0">
              <a:buNone/>
              <a:defRPr sz="1654"/>
            </a:lvl6pPr>
            <a:lvl7pPr marL="2268352" indent="0">
              <a:buNone/>
              <a:defRPr sz="1654"/>
            </a:lvl7pPr>
            <a:lvl8pPr marL="2646411" indent="0">
              <a:buNone/>
              <a:defRPr sz="1654"/>
            </a:lvl8pPr>
            <a:lvl9pPr marL="3024469" indent="0">
              <a:buNone/>
              <a:defRPr sz="1654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822" y="3207544"/>
            <a:ext cx="2438704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8059" indent="0">
              <a:buNone/>
              <a:defRPr sz="1158"/>
            </a:lvl2pPr>
            <a:lvl3pPr marL="756117" indent="0">
              <a:buNone/>
              <a:defRPr sz="992"/>
            </a:lvl3pPr>
            <a:lvl4pPr marL="1134176" indent="0">
              <a:buNone/>
              <a:defRPr sz="827"/>
            </a:lvl4pPr>
            <a:lvl5pPr marL="1512235" indent="0">
              <a:buNone/>
              <a:defRPr sz="827"/>
            </a:lvl5pPr>
            <a:lvl6pPr marL="1890293" indent="0">
              <a:buNone/>
              <a:defRPr sz="827"/>
            </a:lvl6pPr>
            <a:lvl7pPr marL="2268352" indent="0">
              <a:buNone/>
              <a:defRPr sz="827"/>
            </a:lvl7pPr>
            <a:lvl8pPr marL="2646411" indent="0">
              <a:buNone/>
              <a:defRPr sz="827"/>
            </a:lvl8pPr>
            <a:lvl9pPr marL="3024469" indent="0">
              <a:buNone/>
              <a:defRPr sz="827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3488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6184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11029" y="569240"/>
            <a:ext cx="1630397" cy="906081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837" y="569240"/>
            <a:ext cx="4796676" cy="906081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5912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837" y="569242"/>
            <a:ext cx="6521589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837" y="2846200"/>
            <a:ext cx="6521589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837" y="9909729"/>
            <a:ext cx="1701284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57E78B-50A5-4041-B8E5-C741E639875A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669" y="9909729"/>
            <a:ext cx="2551926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40142" y="9909729"/>
            <a:ext cx="1701284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3266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56117" rtl="0" eaLnBrk="1" latinLnBrk="0" hangingPunct="1">
        <a:lnSpc>
          <a:spcPct val="90000"/>
        </a:lnSpc>
        <a:spcBef>
          <a:spcPct val="0"/>
        </a:spcBef>
        <a:buNone/>
        <a:defRPr sz="363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9029" indent="-189029" algn="l" defTabSz="756117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7088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2pPr>
      <a:lvl3pPr marL="945147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4" kern="1200">
          <a:solidFill>
            <a:schemeClr val="tx1"/>
          </a:solidFill>
          <a:latin typeface="+mn-lt"/>
          <a:ea typeface="+mn-ea"/>
          <a:cs typeface="+mn-cs"/>
        </a:defRPr>
      </a:lvl3pPr>
      <a:lvl4pPr marL="1323205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1264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9323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7381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5440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3499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8059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6117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4176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2235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90293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8352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6411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4469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0.png"/><Relationship Id="rId7" Type="http://schemas.openxmlformats.org/officeDocument/2006/relationships/image" Target="../media/image2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Imagem 28">
            <a:extLst>
              <a:ext uri="{FF2B5EF4-FFF2-40B4-BE49-F238E27FC236}">
                <a16:creationId xmlns:a16="http://schemas.microsoft.com/office/drawing/2014/main" id="{13CDD406-37B5-AE55-73A2-1A6D4C7564C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B41925B5-F653-5F92-AAEB-B954175E16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2962" y="10125011"/>
            <a:ext cx="795338" cy="274618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F08F497B-2BE5-405D-6939-721161B8624F}"/>
              </a:ext>
            </a:extLst>
          </p:cNvPr>
          <p:cNvSpPr txBox="1"/>
          <p:nvPr/>
        </p:nvSpPr>
        <p:spPr>
          <a:xfrm>
            <a:off x="243890" y="932040"/>
            <a:ext cx="7073481" cy="8489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900"/>
              </a:lnSpc>
            </a:pPr>
            <a:r>
              <a:rPr lang="pt-BR" sz="54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ORBICULLAR-ARA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7686D901-E622-309E-6996-A977F34E8674}"/>
              </a:ext>
            </a:extLst>
          </p:cNvPr>
          <p:cNvSpPr txBox="1"/>
          <p:nvPr/>
        </p:nvSpPr>
        <p:spPr>
          <a:xfrm>
            <a:off x="3521356" y="8618436"/>
            <a:ext cx="3705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6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Proposta</a:t>
            </a:r>
            <a:r>
              <a:rPr lang="pt-BR" sz="1600" b="1" dirty="0">
                <a:latin typeface="Arial" panose="020B0604020202020204" pitchFamily="34" charset="0"/>
                <a:cs typeface="Arial" panose="020B0604020202020204" pitchFamily="34" charset="0"/>
              </a:rPr>
              <a:t> Técnica Nº {{proposta}}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2FD5F4C4-2814-C466-60ED-B717F86A87C1}"/>
              </a:ext>
            </a:extLst>
          </p:cNvPr>
          <p:cNvSpPr txBox="1"/>
          <p:nvPr/>
        </p:nvSpPr>
        <p:spPr>
          <a:xfrm>
            <a:off x="3819673" y="8931807"/>
            <a:ext cx="33742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6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Aplicação: </a:t>
            </a:r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Alta Dispersão e Homogeneização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D5512939-228E-695E-8736-123C956396E6}"/>
              </a:ext>
            </a:extLst>
          </p:cNvPr>
          <p:cNvSpPr/>
          <p:nvPr/>
        </p:nvSpPr>
        <p:spPr>
          <a:xfrm>
            <a:off x="642937" y="8223749"/>
            <a:ext cx="1776413" cy="1578574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7DD51783-DF28-1A28-D05F-6D4236BBB9B4}"/>
              </a:ext>
            </a:extLst>
          </p:cNvPr>
          <p:cNvSpPr txBox="1"/>
          <p:nvPr/>
        </p:nvSpPr>
        <p:spPr>
          <a:xfrm>
            <a:off x="749424" y="8342430"/>
            <a:ext cx="15634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Tecnologia:</a:t>
            </a:r>
            <a:b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</a:br>
            <a:r>
              <a:rPr lang="pt-BR" sz="1600" dirty="0" err="1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Orbicullar</a:t>
            </a:r>
            <a:r>
              <a:rPr lang="pt-BR" sz="1600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-ARA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0C03BC49-F342-411B-54A7-97B857170AA3}"/>
              </a:ext>
            </a:extLst>
          </p:cNvPr>
          <p:cNvSpPr txBox="1"/>
          <p:nvPr/>
        </p:nvSpPr>
        <p:spPr>
          <a:xfrm>
            <a:off x="602158" y="9013036"/>
            <a:ext cx="18579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Diâmetro:</a:t>
            </a:r>
          </a:p>
          <a:p>
            <a:pPr algn="ctr"/>
            <a:r>
              <a:rPr lang="pt-BR" sz="1600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600" dirty="0" err="1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diametro_corpo</a:t>
            </a:r>
            <a:r>
              <a:rPr lang="pt-BR" sz="1600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AF349FF2-80F7-8B57-E655-2224B9872B68}"/>
              </a:ext>
            </a:extLst>
          </p:cNvPr>
          <p:cNvCxnSpPr>
            <a:cxnSpLocks/>
          </p:cNvCxnSpPr>
          <p:nvPr/>
        </p:nvCxnSpPr>
        <p:spPr>
          <a:xfrm>
            <a:off x="642937" y="8971326"/>
            <a:ext cx="177641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Imagem 3">
            <a:extLst>
              <a:ext uri="{FF2B5EF4-FFF2-40B4-BE49-F238E27FC236}">
                <a16:creationId xmlns:a16="http://schemas.microsoft.com/office/drawing/2014/main" id="{50B38068-D45C-0C43-A7F3-B3BCCF79FD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056" y="2010601"/>
            <a:ext cx="6451150" cy="645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1583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3DA2B-66A4-6132-B1DB-35EA12B7C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Imagem 52">
            <a:extLst>
              <a:ext uri="{FF2B5EF4-FFF2-40B4-BE49-F238E27FC236}">
                <a16:creationId xmlns:a16="http://schemas.microsoft.com/office/drawing/2014/main" id="{2DA6CAA3-6C7E-DF1D-C489-75B8DC67F73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0169B29F-5158-B93F-9B80-AC854030C197}"/>
              </a:ext>
            </a:extLst>
          </p:cNvPr>
          <p:cNvSpPr txBox="1"/>
          <p:nvPr/>
        </p:nvSpPr>
        <p:spPr>
          <a:xfrm>
            <a:off x="195744" y="684011"/>
            <a:ext cx="6680618" cy="1371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Especificidades Técnicas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1469791A-466E-1030-D63A-518310E66409}"/>
              </a:ext>
            </a:extLst>
          </p:cNvPr>
          <p:cNvSpPr/>
          <p:nvPr/>
        </p:nvSpPr>
        <p:spPr>
          <a:xfrm>
            <a:off x="855720" y="2705196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7" name="Imagem 36">
            <a:extLst>
              <a:ext uri="{FF2B5EF4-FFF2-40B4-BE49-F238E27FC236}">
                <a16:creationId xmlns:a16="http://schemas.microsoft.com/office/drawing/2014/main" id="{13CA9346-23F1-71E1-6B40-3B6F77FDF3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  <p:sp>
        <p:nvSpPr>
          <p:cNvPr id="38" name="CaixaDeTexto 37">
            <a:extLst>
              <a:ext uri="{FF2B5EF4-FFF2-40B4-BE49-F238E27FC236}">
                <a16:creationId xmlns:a16="http://schemas.microsoft.com/office/drawing/2014/main" id="{719ACBEC-2335-D3C6-C787-EB10395C81E0}"/>
              </a:ext>
            </a:extLst>
          </p:cNvPr>
          <p:cNvSpPr txBox="1"/>
          <p:nvPr/>
        </p:nvSpPr>
        <p:spPr>
          <a:xfrm>
            <a:off x="1139584" y="2451964"/>
            <a:ext cx="23500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Vetor: 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Orbicullar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-ARA com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Aleta Dedicada.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52B88C26-6B53-FF6B-EE27-501547791EBA}"/>
              </a:ext>
            </a:extLst>
          </p:cNvPr>
          <p:cNvSpPr txBox="1"/>
          <p:nvPr/>
        </p:nvSpPr>
        <p:spPr>
          <a:xfrm>
            <a:off x="1110556" y="3226129"/>
            <a:ext cx="2379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Diâmetro da Aleta: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diametro_aleta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D91DAD4F-21E4-96B1-3E5B-3249BD815BF2}"/>
              </a:ext>
            </a:extLst>
          </p:cNvPr>
          <p:cNvSpPr txBox="1"/>
          <p:nvPr/>
        </p:nvSpPr>
        <p:spPr>
          <a:xfrm>
            <a:off x="1110556" y="3917899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Espaçamento: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espacamento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EC0B93EA-4AD6-5850-7896-4F4EB64BAE1B}"/>
              </a:ext>
            </a:extLst>
          </p:cNvPr>
          <p:cNvSpPr txBox="1"/>
          <p:nvPr/>
        </p:nvSpPr>
        <p:spPr>
          <a:xfrm>
            <a:off x="1110556" y="4627554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Diâmetro do Corpo: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diametro_corpo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F543EE72-E33A-F4BC-4C69-C8B3D101DB3C}"/>
              </a:ext>
            </a:extLst>
          </p:cNvPr>
          <p:cNvSpPr txBox="1"/>
          <p:nvPr/>
        </p:nvSpPr>
        <p:spPr>
          <a:xfrm>
            <a:off x="1110555" y="5363177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Material: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Aço Inox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aisi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64D41006-D99B-522E-1243-D17F001C5071}"/>
              </a:ext>
            </a:extLst>
          </p:cNvPr>
          <p:cNvSpPr txBox="1"/>
          <p:nvPr/>
        </p:nvSpPr>
        <p:spPr>
          <a:xfrm>
            <a:off x="4432093" y="2451964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Acabamento: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Semi escovado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EF884DB6-CE01-4400-DE4D-46A8B3ECDC8A}"/>
              </a:ext>
            </a:extLst>
          </p:cNvPr>
          <p:cNvSpPr txBox="1"/>
          <p:nvPr/>
        </p:nvSpPr>
        <p:spPr>
          <a:xfrm>
            <a:off x="4403064" y="3187710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Espessura: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{{espessura}} mm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82254A3C-DDF4-1E8E-4E2A-B86BBD3C0ABB}"/>
              </a:ext>
            </a:extLst>
          </p:cNvPr>
          <p:cNvSpPr txBox="1"/>
          <p:nvPr/>
        </p:nvSpPr>
        <p:spPr>
          <a:xfrm>
            <a:off x="4459361" y="3917899"/>
            <a:ext cx="22433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Furo central: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Padrão com {{furo}} mm</a:t>
            </a: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97B69787-EADC-6806-5E33-9033CAE74E02}"/>
              </a:ext>
            </a:extLst>
          </p:cNvPr>
          <p:cNvSpPr txBox="1"/>
          <p:nvPr/>
        </p:nvSpPr>
        <p:spPr>
          <a:xfrm>
            <a:off x="4403064" y="4648088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Eixo/Haste: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{{haste}}</a:t>
            </a:r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3C8949B0-39FD-C15C-A438-282037409479}"/>
              </a:ext>
            </a:extLst>
          </p:cNvPr>
          <p:cNvSpPr txBox="1"/>
          <p:nvPr/>
        </p:nvSpPr>
        <p:spPr>
          <a:xfrm>
            <a:off x="4432091" y="5413239"/>
            <a:ext cx="237643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RPM: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Balanceada para altas e baixas rotações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99B116E9-B084-A371-0EB6-A8E6BA8BD2A2}"/>
              </a:ext>
            </a:extLst>
          </p:cNvPr>
          <p:cNvSpPr/>
          <p:nvPr/>
        </p:nvSpPr>
        <p:spPr>
          <a:xfrm>
            <a:off x="854426" y="3440714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D7B61333-9915-7B82-EB10-76D67765DF93}"/>
              </a:ext>
            </a:extLst>
          </p:cNvPr>
          <p:cNvSpPr/>
          <p:nvPr/>
        </p:nvSpPr>
        <p:spPr>
          <a:xfrm>
            <a:off x="855720" y="4164939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3E62B453-109C-45A1-ED54-D010B379A2DE}"/>
              </a:ext>
            </a:extLst>
          </p:cNvPr>
          <p:cNvSpPr/>
          <p:nvPr/>
        </p:nvSpPr>
        <p:spPr>
          <a:xfrm>
            <a:off x="855720" y="4889164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51E068BF-39E1-4211-0D13-6D4EEDC442E7}"/>
              </a:ext>
            </a:extLst>
          </p:cNvPr>
          <p:cNvSpPr/>
          <p:nvPr/>
        </p:nvSpPr>
        <p:spPr>
          <a:xfrm>
            <a:off x="855720" y="5624682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52DA3D67-F633-6C75-2F1F-8B82A582B33C}"/>
              </a:ext>
            </a:extLst>
          </p:cNvPr>
          <p:cNvSpPr/>
          <p:nvPr/>
        </p:nvSpPr>
        <p:spPr>
          <a:xfrm>
            <a:off x="4056192" y="2705196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00B3CAA0-4C67-D4F4-E885-50EB94228462}"/>
              </a:ext>
            </a:extLst>
          </p:cNvPr>
          <p:cNvSpPr/>
          <p:nvPr/>
        </p:nvSpPr>
        <p:spPr>
          <a:xfrm>
            <a:off x="4056191" y="3432564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9ECDD673-043B-4136-1A4B-D05120723685}"/>
              </a:ext>
            </a:extLst>
          </p:cNvPr>
          <p:cNvSpPr/>
          <p:nvPr/>
        </p:nvSpPr>
        <p:spPr>
          <a:xfrm>
            <a:off x="4056190" y="4159932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2892B26B-0554-C840-BE40-07ACB9B07758}"/>
              </a:ext>
            </a:extLst>
          </p:cNvPr>
          <p:cNvSpPr/>
          <p:nvPr/>
        </p:nvSpPr>
        <p:spPr>
          <a:xfrm>
            <a:off x="4056189" y="4887300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A2A29CA7-384C-10DE-0216-54047510EF09}"/>
              </a:ext>
            </a:extLst>
          </p:cNvPr>
          <p:cNvSpPr/>
          <p:nvPr/>
        </p:nvSpPr>
        <p:spPr>
          <a:xfrm>
            <a:off x="4056189" y="5624682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AFF4CFD5-3F8A-EC64-7426-81C59B5B69A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6775" y="7158914"/>
            <a:ext cx="3984015" cy="3984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5021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m 24">
            <a:extLst>
              <a:ext uri="{FF2B5EF4-FFF2-40B4-BE49-F238E27FC236}">
                <a16:creationId xmlns:a16="http://schemas.microsoft.com/office/drawing/2014/main" id="{58B0150A-607A-439B-2AE7-91C0733BC6E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4E268EB4-6172-811B-4097-FA9D7F73D484}"/>
              </a:ext>
            </a:extLst>
          </p:cNvPr>
          <p:cNvSpPr txBox="1"/>
          <p:nvPr/>
        </p:nvSpPr>
        <p:spPr>
          <a:xfrm>
            <a:off x="245398" y="703309"/>
            <a:ext cx="6680618" cy="7179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Objetivo da Oferta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94CF1CA-1A58-61AB-93F7-35A2D59D7DF6}"/>
              </a:ext>
            </a:extLst>
          </p:cNvPr>
          <p:cNvSpPr txBox="1"/>
          <p:nvPr/>
        </p:nvSpPr>
        <p:spPr>
          <a:xfrm>
            <a:off x="245397" y="1608980"/>
            <a:ext cx="668061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O objetivo desta proposta é definir o escopo e condições comerciais ideais para o fornecimento do vetor de mistura.  Obedece aos critérios de concorrência (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Farplay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) pré-estabelecidos pelo cliente como: segurança, economia de custos, garantia de procedência, balanceamento e baixíssima manutenção. 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59F7859-24E6-43C4-5EA1-85280CEE9A45}"/>
              </a:ext>
            </a:extLst>
          </p:cNvPr>
          <p:cNvSpPr txBox="1"/>
          <p:nvPr/>
        </p:nvSpPr>
        <p:spPr>
          <a:xfrm>
            <a:off x="440322" y="3183779"/>
            <a:ext cx="223030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Aletas dedicadas para melhor usabilidade em qualquer carga de sólido.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C16CD1B-2E57-1686-AB08-456399A1B284}"/>
              </a:ext>
            </a:extLst>
          </p:cNvPr>
          <p:cNvSpPr txBox="1"/>
          <p:nvPr/>
        </p:nvSpPr>
        <p:spPr>
          <a:xfrm>
            <a:off x="4462126" y="3183779"/>
            <a:ext cx="255721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Acabamento recomendado para cosméticos, alimentos, antissépticos, medicamentos, entre outros.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4726EC4-31A0-A97C-4811-375E688922B5}"/>
              </a:ext>
            </a:extLst>
          </p:cNvPr>
          <p:cNvSpPr txBox="1"/>
          <p:nvPr/>
        </p:nvSpPr>
        <p:spPr>
          <a:xfrm>
            <a:off x="353770" y="8084889"/>
            <a:ext cx="2230307" cy="954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Aço Inox {{</a:t>
            </a:r>
            <a:r>
              <a:rPr lang="pt-BR" sz="1400" dirty="0" err="1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aisi</a:t>
            </a:r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com validação ambiental para evitar contaminação cruzada. 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6CBE7250-DEF4-1096-DD4E-0580BD140C9B}"/>
              </a:ext>
            </a:extLst>
          </p:cNvPr>
          <p:cNvSpPr txBox="1"/>
          <p:nvPr/>
        </p:nvSpPr>
        <p:spPr>
          <a:xfrm>
            <a:off x="4101389" y="8504931"/>
            <a:ext cx="282226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Abertura do furo em qualquer torno para adaptação do eixo pré-existente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D9BFBB70-65DF-9FEF-6A24-BB2EB322C6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164" y="3362813"/>
            <a:ext cx="5410933" cy="5410933"/>
          </a:xfrm>
          <a:prstGeom prst="rect">
            <a:avLst/>
          </a:prstGeom>
        </p:spPr>
      </p:pic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86225594-C4EC-23AE-7EA7-D4CDD0F3FABD}"/>
              </a:ext>
            </a:extLst>
          </p:cNvPr>
          <p:cNvCxnSpPr>
            <a:cxnSpLocks/>
          </p:cNvCxnSpPr>
          <p:nvPr/>
        </p:nvCxnSpPr>
        <p:spPr>
          <a:xfrm>
            <a:off x="1663700" y="3893085"/>
            <a:ext cx="1181992" cy="738664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BBCF6FA9-48C4-1094-BD65-65857BD3C526}"/>
              </a:ext>
            </a:extLst>
          </p:cNvPr>
          <p:cNvCxnSpPr>
            <a:cxnSpLocks/>
          </p:cNvCxnSpPr>
          <p:nvPr/>
        </p:nvCxnSpPr>
        <p:spPr>
          <a:xfrm flipH="1">
            <a:off x="3919543" y="4137886"/>
            <a:ext cx="1407200" cy="1362369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EC5AA1ED-2518-1686-0FBF-CAAAFFBAA793}"/>
              </a:ext>
            </a:extLst>
          </p:cNvPr>
          <p:cNvCxnSpPr>
            <a:cxnSpLocks/>
          </p:cNvCxnSpPr>
          <p:nvPr/>
        </p:nvCxnSpPr>
        <p:spPr>
          <a:xfrm flipV="1">
            <a:off x="1468923" y="6636327"/>
            <a:ext cx="1537513" cy="1248499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Conector de Seta Reta 20">
            <a:extLst>
              <a:ext uri="{FF2B5EF4-FFF2-40B4-BE49-F238E27FC236}">
                <a16:creationId xmlns:a16="http://schemas.microsoft.com/office/drawing/2014/main" id="{B72907E6-1D93-9670-3B15-8A2EA62E334A}"/>
              </a:ext>
            </a:extLst>
          </p:cNvPr>
          <p:cNvCxnSpPr>
            <a:cxnSpLocks/>
          </p:cNvCxnSpPr>
          <p:nvPr/>
        </p:nvCxnSpPr>
        <p:spPr>
          <a:xfrm flipH="1" flipV="1">
            <a:off x="3780630" y="6127455"/>
            <a:ext cx="1546113" cy="234170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23" name="Imagem 22">
            <a:extLst>
              <a:ext uri="{FF2B5EF4-FFF2-40B4-BE49-F238E27FC236}">
                <a16:creationId xmlns:a16="http://schemas.microsoft.com/office/drawing/2014/main" id="{5571CB0F-9649-7B4C-8396-DC7F4BBE06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217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>
            <a:extLst>
              <a:ext uri="{FF2B5EF4-FFF2-40B4-BE49-F238E27FC236}">
                <a16:creationId xmlns:a16="http://schemas.microsoft.com/office/drawing/2014/main" id="{53B017D2-BCED-17B2-B63A-4B702D2D6A2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A9111E26-1C29-2DCB-0179-FE1CA9867733}"/>
              </a:ext>
            </a:extLst>
          </p:cNvPr>
          <p:cNvSpPr txBox="1"/>
          <p:nvPr/>
        </p:nvSpPr>
        <p:spPr>
          <a:xfrm>
            <a:off x="193576" y="728135"/>
            <a:ext cx="6680618" cy="7179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Sugestão de Valores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1C05CDD-B802-2921-6793-2BEF6ADCAADE}"/>
              </a:ext>
            </a:extLst>
          </p:cNvPr>
          <p:cNvSpPr txBox="1"/>
          <p:nvPr/>
        </p:nvSpPr>
        <p:spPr>
          <a:xfrm>
            <a:off x="245395" y="2014435"/>
            <a:ext cx="6680617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Aquisição: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Vetor 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Orbicullar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-ARA de Alta Homogeneização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diametro_corpo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mm: (Inox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aisi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/ Verde) R$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preco_unitario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(Unitário) // R$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preco_lote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(Lote)</a:t>
            </a:r>
          </a:p>
          <a:p>
            <a:endParaRPr lang="pt-BR" sz="1400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7D46D8F-E44C-F399-B8B9-0F277FFF5FCC}"/>
              </a:ext>
            </a:extLst>
          </p:cNvPr>
          <p:cNvSpPr txBox="1"/>
          <p:nvPr/>
        </p:nvSpPr>
        <p:spPr>
          <a:xfrm>
            <a:off x="245395" y="3719807"/>
            <a:ext cx="66806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Equipamento Acompanha: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Vetor em Aço Inox + Consultoria Técnica Full Time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4E4F6F1-4ABA-1D0B-6126-31DE2E71021B}"/>
              </a:ext>
            </a:extLst>
          </p:cNvPr>
          <p:cNvSpPr txBox="1"/>
          <p:nvPr/>
        </p:nvSpPr>
        <p:spPr>
          <a:xfrm>
            <a:off x="245395" y="5052654"/>
            <a:ext cx="668061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Escolha sua Forma de Pagamento: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À vista 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- 50% de entrada + 50% em 30 dias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Faturado mediante aprovação cadastral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Cartão de crédito 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32B3B0E-B1FB-44E3-8C44-A28C78AD2945}"/>
              </a:ext>
            </a:extLst>
          </p:cNvPr>
          <p:cNvSpPr txBox="1"/>
          <p:nvPr/>
        </p:nvSpPr>
        <p:spPr>
          <a:xfrm>
            <a:off x="245396" y="7155511"/>
            <a:ext cx="668061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Escolha sua forma de Envio: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Via PAC – R$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frete_pac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Via SEDEX -  R$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frete_sedex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FF1F0D0-67BE-9938-A38E-68B114009BCE}"/>
              </a:ext>
            </a:extLst>
          </p:cNvPr>
          <p:cNvSpPr txBox="1"/>
          <p:nvPr/>
        </p:nvSpPr>
        <p:spPr>
          <a:xfrm>
            <a:off x="245395" y="8783475"/>
            <a:ext cx="66806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Envio: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condiçao_envio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C0F997C1-CDD9-B71B-4FBD-4ADFA8F459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559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C00599EE-FD6D-B2D1-C7D1-4E799D7D874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71449" y="-1"/>
            <a:ext cx="679449" cy="10691813"/>
          </a:xfrm>
          <a:prstGeom prst="rect">
            <a:avLst/>
          </a:prstGeom>
          <a:solidFill>
            <a:srgbClr val="F4F0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E98E0F27-3B3F-063A-1085-6DF67A1021A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981" y="0"/>
            <a:ext cx="7558636" cy="1069181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307D2093-2261-F9A9-C92B-6752AF3E3C27}"/>
              </a:ext>
            </a:extLst>
          </p:cNvPr>
          <p:cNvSpPr txBox="1"/>
          <p:nvPr/>
        </p:nvSpPr>
        <p:spPr>
          <a:xfrm>
            <a:off x="216368" y="741884"/>
            <a:ext cx="668061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Impostos e Classificação Fiscal: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IPI: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0%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ICMS: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8.8% (incluso)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IMPOSTOS: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Inclusos - Optante Simples</a:t>
            </a:r>
          </a:p>
          <a:p>
            <a:endParaRPr lang="pt-BR" sz="1400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CD9471C-41E9-84AE-D3D1-62ACA4C1A695}"/>
              </a:ext>
            </a:extLst>
          </p:cNvPr>
          <p:cNvSpPr txBox="1"/>
          <p:nvPr/>
        </p:nvSpPr>
        <p:spPr>
          <a:xfrm>
            <a:off x="201856" y="2458071"/>
            <a:ext cx="698543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Dados Bancários: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Banco: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Bradesco |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 Agência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: 0516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Conta Corrente: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0293863-4 </a:t>
            </a:r>
          </a:p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Razão social: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Só Comércio de Equipamentos para Inteligência e Mistura LTDA.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CNPJ: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26.863.716/0001-06 (Pix) </a:t>
            </a:r>
          </a:p>
          <a:p>
            <a:endParaRPr lang="pt-BR" sz="1400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5411E17-D183-EB4B-94DD-D917AB304952}"/>
              </a:ext>
            </a:extLst>
          </p:cNvPr>
          <p:cNvSpPr txBox="1"/>
          <p:nvPr/>
        </p:nvSpPr>
        <p:spPr>
          <a:xfrm>
            <a:off x="201855" y="4581713"/>
            <a:ext cx="6680617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Objetivo da Oferta: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3.1: Número de NCM: 84.8790.00.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3.2: Validade da Proposta: 10 dias (Referente ao valor ofertado)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3.3: O pedido será aceito após confirmação via e-mail.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3.4: Consulte disponibilidade das peças no ato da compra.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3.5: O relatório de instalação será enviado em até 7 dias úteis a partir da confirmação da compra.</a:t>
            </a:r>
          </a:p>
          <a:p>
            <a:endParaRPr lang="pt-BR" sz="1400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464384E8-82F0-C0E0-6D79-DEABEF75F4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171449" y="5144997"/>
            <a:ext cx="7448912" cy="744891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D70232F8-B1DA-19DB-BBD1-A50CCC6DB6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9625" y="10067284"/>
            <a:ext cx="795338" cy="274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4219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m 18">
            <a:extLst>
              <a:ext uri="{FF2B5EF4-FFF2-40B4-BE49-F238E27FC236}">
                <a16:creationId xmlns:a16="http://schemas.microsoft.com/office/drawing/2014/main" id="{961345F8-0608-871A-DB85-C88B2DA327F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48700D33-762A-742B-32A0-8AFB038793E7}"/>
              </a:ext>
            </a:extLst>
          </p:cNvPr>
          <p:cNvSpPr txBox="1"/>
          <p:nvPr/>
        </p:nvSpPr>
        <p:spPr>
          <a:xfrm>
            <a:off x="245398" y="703309"/>
            <a:ext cx="6680618" cy="13720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Consulte nossa Reputação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F6A4E49-8109-AFAC-721A-A6D995DBE37F}"/>
              </a:ext>
            </a:extLst>
          </p:cNvPr>
          <p:cNvSpPr txBox="1"/>
          <p:nvPr/>
        </p:nvSpPr>
        <p:spPr>
          <a:xfrm>
            <a:off x="245398" y="2443696"/>
            <a:ext cx="59755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Desde Novembro de 2020, trabalhamos com índice zero de reclamações em mais de 10.000 atendimentos. </a:t>
            </a:r>
          </a:p>
        </p:txBody>
      </p:sp>
      <p:pic>
        <p:nvPicPr>
          <p:cNvPr id="1026" name="Picture 2" descr="Internet - ícones de sinais grátis">
            <a:extLst>
              <a:ext uri="{FF2B5EF4-FFF2-40B4-BE49-F238E27FC236}">
                <a16:creationId xmlns:a16="http://schemas.microsoft.com/office/drawing/2014/main" id="{C97C1AFD-2FDC-5E98-F84C-C292F8F020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376201" y="5371305"/>
            <a:ext cx="52045" cy="520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logotipo do facebook png, ícone do facebook transparente png 18930538 PNG">
            <a:extLst>
              <a:ext uri="{FF2B5EF4-FFF2-40B4-BE49-F238E27FC236}">
                <a16:creationId xmlns:a16="http://schemas.microsoft.com/office/drawing/2014/main" id="{E2782CCE-AE41-0487-81E9-CC6D4A3CF88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14" r="53895"/>
          <a:stretch>
            <a:fillRect/>
          </a:stretch>
        </p:blipFill>
        <p:spPr bwMode="auto">
          <a:xfrm>
            <a:off x="338352" y="4669548"/>
            <a:ext cx="423648" cy="642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Instagram logotipo png, Instagram logotipo transparente png, Instagram  ícone transparente livre png 23986547 PNG">
            <a:extLst>
              <a:ext uri="{FF2B5EF4-FFF2-40B4-BE49-F238E27FC236}">
                <a16:creationId xmlns:a16="http://schemas.microsoft.com/office/drawing/2014/main" id="{460FD1FB-2864-C944-AADE-9B81A0E976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018" y="4006020"/>
            <a:ext cx="549072" cy="549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Internet - ícones de sinais grátis">
            <a:extLst>
              <a:ext uri="{FF2B5EF4-FFF2-40B4-BE49-F238E27FC236}">
                <a16:creationId xmlns:a16="http://schemas.microsoft.com/office/drawing/2014/main" id="{9B72D5DC-E972-D41F-1CB8-C3BECAA221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263" y="6088063"/>
            <a:ext cx="433387" cy="433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8DA6310F-6F56-F15B-5731-AED7A9520B15}"/>
              </a:ext>
            </a:extLst>
          </p:cNvPr>
          <p:cNvSpPr txBox="1"/>
          <p:nvPr/>
        </p:nvSpPr>
        <p:spPr>
          <a:xfrm>
            <a:off x="894471" y="4112167"/>
            <a:ext cx="19630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@sohelices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4769437-C7D9-0FC8-69F6-845D06DA9D39}"/>
              </a:ext>
            </a:extLst>
          </p:cNvPr>
          <p:cNvSpPr txBox="1"/>
          <p:nvPr/>
        </p:nvSpPr>
        <p:spPr>
          <a:xfrm>
            <a:off x="894471" y="4822161"/>
            <a:ext cx="19630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Só Hélices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1B95116-79F8-E465-F5E4-6E5A86FA7099}"/>
              </a:ext>
            </a:extLst>
          </p:cNvPr>
          <p:cNvSpPr txBox="1"/>
          <p:nvPr/>
        </p:nvSpPr>
        <p:spPr>
          <a:xfrm>
            <a:off x="894471" y="5442809"/>
            <a:ext cx="19630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Só Hélices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7ADF7ED-4A67-2BEB-873B-8518333ED7D5}"/>
              </a:ext>
            </a:extLst>
          </p:cNvPr>
          <p:cNvSpPr txBox="1"/>
          <p:nvPr/>
        </p:nvSpPr>
        <p:spPr>
          <a:xfrm>
            <a:off x="894471" y="6160359"/>
            <a:ext cx="21281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www.sohelices.com.br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BB836953-59EA-955D-2AD4-178509DA4B1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414" y="8790867"/>
            <a:ext cx="1228286" cy="1228286"/>
          </a:xfrm>
          <a:prstGeom prst="rect">
            <a:avLst/>
          </a:prstGeom>
        </p:spPr>
      </p:pic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B9E7B11F-61A3-DF0F-105B-7FB2647EC07E}"/>
              </a:ext>
            </a:extLst>
          </p:cNvPr>
          <p:cNvCxnSpPr/>
          <p:nvPr/>
        </p:nvCxnSpPr>
        <p:spPr>
          <a:xfrm>
            <a:off x="1739900" y="8790867"/>
            <a:ext cx="0" cy="122828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04856DBE-1BEC-E4C9-DC6B-0DCE8D47C873}"/>
              </a:ext>
            </a:extLst>
          </p:cNvPr>
          <p:cNvSpPr txBox="1"/>
          <p:nvPr/>
        </p:nvSpPr>
        <p:spPr>
          <a:xfrm>
            <a:off x="1845115" y="8866401"/>
            <a:ext cx="452654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São Paulo,  {{data}}. </a:t>
            </a:r>
          </a:p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6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nome_vendedor</a:t>
            </a:r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[Atendimento/Vendas] </a:t>
            </a:r>
          </a:p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WhatsApp: (11) 94984-2894 </a:t>
            </a:r>
          </a:p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E-mail: {{</a:t>
            </a:r>
            <a:r>
              <a:rPr lang="pt-BR" sz="16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email_vendedor</a:t>
            </a:r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9B50589B-B756-1E37-C729-F8675BDE6A4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  <p:pic>
        <p:nvPicPr>
          <p:cNvPr id="1036" name="Picture 12" descr="youtube logo | Figma">
            <a:extLst>
              <a:ext uri="{FF2B5EF4-FFF2-40B4-BE49-F238E27FC236}">
                <a16:creationId xmlns:a16="http://schemas.microsoft.com/office/drawing/2014/main" id="{72C8EA68-EFB8-3009-0579-8F477FA03C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40" y="5379317"/>
            <a:ext cx="894471" cy="447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4B44345D-887B-0C70-E771-B0389F9FD33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2877" y="2508215"/>
            <a:ext cx="6896795" cy="6896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619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3092B84F-C2B6-E55E-6396-16A2F8E8E90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6" name="Google Shape;147;p7">
            <a:extLst>
              <a:ext uri="{FF2B5EF4-FFF2-40B4-BE49-F238E27FC236}">
                <a16:creationId xmlns:a16="http://schemas.microsoft.com/office/drawing/2014/main" id="{D4CF83FD-7A2B-6CA5-A391-C7BA490B06F9}"/>
              </a:ext>
            </a:extLst>
          </p:cNvPr>
          <p:cNvSpPr txBox="1"/>
          <p:nvPr/>
        </p:nvSpPr>
        <p:spPr>
          <a:xfrm>
            <a:off x="1817328" y="9520438"/>
            <a:ext cx="3926604" cy="834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Rua Américo Brasiliense, 1490, sala 75, Chácara Santo Antônio, São Paulo, SP</a:t>
            </a:r>
            <a:endParaRPr sz="1400" i="0" u="none" strike="noStrike" cap="none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2176E031-90C1-4B7C-2EB7-ABEA48BA9B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3427" y="3426993"/>
            <a:ext cx="3414406" cy="2416849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13CAE41B-063C-6834-F260-2F4FA9FEF712}"/>
              </a:ext>
            </a:extLst>
          </p:cNvPr>
          <p:cNvSpPr txBox="1"/>
          <p:nvPr/>
        </p:nvSpPr>
        <p:spPr>
          <a:xfrm>
            <a:off x="2617964" y="5345906"/>
            <a:ext cx="23253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www.sohelices.com.br</a:t>
            </a:r>
          </a:p>
        </p:txBody>
      </p:sp>
    </p:spTree>
    <p:extLst>
      <p:ext uri="{BB962C8B-B14F-4D97-AF65-F5344CB8AC3E}">
        <p14:creationId xmlns:p14="http://schemas.microsoft.com/office/powerpoint/2010/main" val="373931427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Orçamento Cowles OB</Template>
  <TotalTime>11</TotalTime>
  <Words>538</Words>
  <Application>Microsoft Office PowerPoint</Application>
  <PresentationFormat>Personalizar</PresentationFormat>
  <Paragraphs>79</Paragraphs>
  <Slides>7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Arial Black</vt:lpstr>
      <vt:lpstr>Inter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G3 MISTURADORES DO BRASIL LTDA</dc:creator>
  <cp:lastModifiedBy>G3 MISTURADORES DO BRASIL LTDA</cp:lastModifiedBy>
  <cp:revision>3</cp:revision>
  <dcterms:created xsi:type="dcterms:W3CDTF">2026-04-23T14:07:10Z</dcterms:created>
  <dcterms:modified xsi:type="dcterms:W3CDTF">2026-04-29T13:29:29Z</dcterms:modified>
</cp:coreProperties>
</file>