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Inter" panose="020B0604020202020204" charset="0"/>
      <p:regular r:id="rId10"/>
      <p:bold r:id="rId11"/>
      <p:italic r:id="rId12"/>
      <p:boldItalic r:id="rId13"/>
    </p:embeddedFont>
    <p:embeddedFont>
      <p:font typeface="Inter Medium" panose="020B0604020202020204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ixBtETzkzXmxv/n+HPcNJLAiIDD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4CC85B5-EEC5-4F7C-AE28-EE0A93B4A5B8}">
  <a:tblStyle styleId="{A4CC85B5-EEC5-4F7C-AE28-EE0A93B4A5B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1236" y="29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7" name="Google Shape;12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5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84275" y="3969575"/>
            <a:ext cx="1559725" cy="1173926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"/>
          <p:cNvSpPr txBox="1"/>
          <p:nvPr/>
        </p:nvSpPr>
        <p:spPr>
          <a:xfrm>
            <a:off x="4197875" y="2283925"/>
            <a:ext cx="4946100" cy="9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pt-BR" sz="52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pt-BR" sz="5200" b="1" i="0" u="none" strike="noStrike" cap="none">
                <a:solidFill>
                  <a:srgbClr val="FF008C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PITCHBLADE</a:t>
            </a:r>
            <a:r>
              <a:rPr lang="pt-BR" sz="52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:</a:t>
            </a:r>
            <a:endParaRPr sz="5200" b="1" i="0" u="none" strike="noStrike" cap="none">
              <a:solidFill>
                <a:schemeClr val="lt1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" name="Google Shape;56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1" y="-637875"/>
            <a:ext cx="4890824" cy="62912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"/>
          <p:cNvSpPr txBox="1"/>
          <p:nvPr/>
        </p:nvSpPr>
        <p:spPr>
          <a:xfrm>
            <a:off x="3390900" y="221750"/>
            <a:ext cx="5655025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1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Proposta Técnica: </a:t>
            </a:r>
            <a:r>
              <a:rPr lang="pt-BR" sz="1700" b="1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 Nº {{proposta}}</a:t>
            </a:r>
            <a:r>
              <a:rPr lang="pt-BR" sz="1700" b="1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600" b="1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 </a:t>
            </a:r>
            <a:endParaRPr sz="1600" b="1" dirty="0">
              <a:solidFill>
                <a:srgbClr val="FF008C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" name="Google Shape;58;p1"/>
          <p:cNvSpPr txBox="1"/>
          <p:nvPr/>
        </p:nvSpPr>
        <p:spPr>
          <a:xfrm>
            <a:off x="5819100" y="1258238"/>
            <a:ext cx="31983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Aplicação:</a:t>
            </a:r>
            <a:r>
              <a:rPr lang="pt-BR"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Alta Dispersão e Homogeneização</a:t>
            </a:r>
            <a:endParaRPr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59" name="Google Shape;59;p1"/>
          <p:cNvGraphicFramePr/>
          <p:nvPr>
            <p:extLst>
              <p:ext uri="{D42A27DB-BD31-4B8C-83A1-F6EECF244321}">
                <p14:modId xmlns:p14="http://schemas.microsoft.com/office/powerpoint/2010/main" val="2020074255"/>
              </p:ext>
            </p:extLst>
          </p:nvPr>
        </p:nvGraphicFramePr>
        <p:xfrm>
          <a:off x="3854650" y="689450"/>
          <a:ext cx="4946100" cy="502900"/>
        </p:xfrm>
        <a:graphic>
          <a:graphicData uri="http://schemas.openxmlformats.org/drawingml/2006/table">
            <a:tbl>
              <a:tblPr>
                <a:noFill/>
                <a:tableStyleId>{A4CC85B5-EEC5-4F7C-AE28-EE0A93B4A5B8}</a:tableStyleId>
              </a:tblPr>
              <a:tblGrid>
                <a:gridCol w="1669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4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Tecnologia:</a:t>
                      </a:r>
                      <a:endParaRPr sz="1100" b="1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Pitchblade</a:t>
                      </a:r>
                      <a:r>
                        <a:rPr lang="pt-BR" sz="80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Aleta: </a:t>
                      </a:r>
                      <a:endParaRPr sz="1000" b="1" dirty="0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{{aleta}} mm </a:t>
                      </a:r>
                      <a:endParaRPr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900" b="1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Diâmetro:</a:t>
                      </a:r>
                      <a:endParaRPr sz="1000" b="1" dirty="0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{{</a:t>
                      </a:r>
                      <a:r>
                        <a:rPr lang="pt-BR" sz="1000" dirty="0" err="1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diametro_corpo</a:t>
                      </a:r>
                      <a:r>
                        <a:rPr lang="pt-BR" sz="1000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 mm</a:t>
                      </a:r>
                      <a:endParaRPr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"/>
          <p:cNvSpPr/>
          <p:nvPr/>
        </p:nvSpPr>
        <p:spPr>
          <a:xfrm>
            <a:off x="0" y="0"/>
            <a:ext cx="9144000" cy="5143500"/>
          </a:xfrm>
          <a:prstGeom prst="rtTriangle">
            <a:avLst/>
          </a:prstGeom>
          <a:solidFill>
            <a:srgbClr val="EEEEEE"/>
          </a:solidFill>
          <a:ln w="95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65" name="Google Shape;65;p2"/>
          <p:cNvGraphicFramePr/>
          <p:nvPr/>
        </p:nvGraphicFramePr>
        <p:xfrm>
          <a:off x="313300" y="2718900"/>
          <a:ext cx="4258700" cy="2206300"/>
        </p:xfrm>
        <a:graphic>
          <a:graphicData uri="http://schemas.openxmlformats.org/drawingml/2006/table">
            <a:tbl>
              <a:tblPr>
                <a:noFill/>
                <a:tableStyleId>{A4CC85B5-EEC5-4F7C-AE28-EE0A93B4A5B8}</a:tableStyleId>
              </a:tblPr>
              <a:tblGrid>
                <a:gridCol w="2129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9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0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8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6" name="Google Shape;66;p2"/>
          <p:cNvSpPr/>
          <p:nvPr/>
        </p:nvSpPr>
        <p:spPr>
          <a:xfrm>
            <a:off x="435825" y="28142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10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435825" y="32519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sz="10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435825" y="3692313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sz="10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435825" y="41313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sz="10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435825" y="4570375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5</a:t>
            </a:r>
            <a:endParaRPr sz="10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2530825" y="28142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6</a:t>
            </a:r>
            <a:endParaRPr sz="10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2530825" y="32519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endParaRPr sz="10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2530825" y="3689638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8</a:t>
            </a:r>
            <a:endParaRPr sz="10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4" name="Google Shape;74;p2"/>
          <p:cNvSpPr/>
          <p:nvPr/>
        </p:nvSpPr>
        <p:spPr>
          <a:xfrm>
            <a:off x="2530825" y="41273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9</a:t>
            </a:r>
            <a:endParaRPr sz="10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5" name="Google Shape;75;p2"/>
          <p:cNvSpPr/>
          <p:nvPr/>
        </p:nvSpPr>
        <p:spPr>
          <a:xfrm>
            <a:off x="2530825" y="45650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10</a:t>
            </a:r>
            <a:endParaRPr sz="10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6" name="Google Shape;76;p2"/>
          <p:cNvSpPr txBox="1"/>
          <p:nvPr/>
        </p:nvSpPr>
        <p:spPr>
          <a:xfrm>
            <a:off x="874950" y="2734175"/>
            <a:ext cx="170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Vetor:</a:t>
            </a:r>
            <a:r>
              <a:rPr lang="pt-BR" sz="90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 Pitchblade com </a:t>
            </a:r>
            <a:endParaRPr sz="90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Aleta Dedicada.</a:t>
            </a:r>
            <a:endParaRPr sz="90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" name="Google Shape;77;p2"/>
          <p:cNvSpPr txBox="1"/>
          <p:nvPr/>
        </p:nvSpPr>
        <p:spPr>
          <a:xfrm>
            <a:off x="874950" y="3161500"/>
            <a:ext cx="16455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Diâmetro da Aleta: </a:t>
            </a:r>
            <a:endParaRPr sz="900" b="1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/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diametro_aleta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</a:t>
            </a:r>
            <a:endParaRPr sz="900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" name="Google Shape;78;p2"/>
          <p:cNvSpPr txBox="1"/>
          <p:nvPr/>
        </p:nvSpPr>
        <p:spPr>
          <a:xfrm>
            <a:off x="874950" y="3587625"/>
            <a:ext cx="16455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Espaçamento: </a:t>
            </a:r>
            <a:endParaRPr sz="900" b="1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/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espacamento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 </a:t>
            </a:r>
            <a:endParaRPr sz="900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9" name="Google Shape;79;p2"/>
          <p:cNvSpPr txBox="1"/>
          <p:nvPr/>
        </p:nvSpPr>
        <p:spPr>
          <a:xfrm>
            <a:off x="874950" y="4040900"/>
            <a:ext cx="176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Diâmetro do Corpo: </a:t>
            </a:r>
            <a:endParaRPr sz="900" b="1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/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diametro_corpo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</a:t>
            </a:r>
            <a:endParaRPr sz="900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Google Shape;80;p2"/>
          <p:cNvSpPr txBox="1"/>
          <p:nvPr/>
        </p:nvSpPr>
        <p:spPr>
          <a:xfrm>
            <a:off x="874950" y="4476050"/>
            <a:ext cx="170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Material: </a:t>
            </a:r>
            <a:endParaRPr sz="900" b="1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/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Aço Inox 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</a:t>
            </a:r>
            <a:endParaRPr sz="900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1" name="Google Shape;81;p2"/>
          <p:cNvSpPr txBox="1"/>
          <p:nvPr/>
        </p:nvSpPr>
        <p:spPr>
          <a:xfrm>
            <a:off x="2965175" y="2707450"/>
            <a:ext cx="1860600" cy="4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Acabamento: </a:t>
            </a:r>
            <a:endParaRPr sz="900" b="1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Semi escovado</a:t>
            </a:r>
            <a:endParaRPr sz="90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2" name="Google Shape;82;p2"/>
          <p:cNvSpPr txBox="1"/>
          <p:nvPr/>
        </p:nvSpPr>
        <p:spPr>
          <a:xfrm>
            <a:off x="2965163" y="3147250"/>
            <a:ext cx="13659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Espessura: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900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/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{{espessura}} mm</a:t>
            </a:r>
            <a:endParaRPr sz="900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2"/>
          <p:cNvSpPr txBox="1"/>
          <p:nvPr/>
        </p:nvSpPr>
        <p:spPr>
          <a:xfrm>
            <a:off x="2965174" y="3587628"/>
            <a:ext cx="1606825" cy="3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Furo central: </a:t>
            </a:r>
            <a:endParaRPr sz="900" b="1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/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Padrão com {{furo}} mm.</a:t>
            </a:r>
            <a:endParaRPr sz="900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2"/>
          <p:cNvSpPr txBox="1"/>
          <p:nvPr/>
        </p:nvSpPr>
        <p:spPr>
          <a:xfrm>
            <a:off x="2965177" y="4040888"/>
            <a:ext cx="15306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Eixo/Haste: </a:t>
            </a:r>
            <a:endParaRPr sz="900" b="1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/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{{haste}}.</a:t>
            </a:r>
            <a:endParaRPr sz="900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2"/>
          <p:cNvSpPr txBox="1"/>
          <p:nvPr/>
        </p:nvSpPr>
        <p:spPr>
          <a:xfrm>
            <a:off x="2965175" y="4494175"/>
            <a:ext cx="176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RPM: </a:t>
            </a:r>
            <a:endParaRPr sz="900" b="1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Rotações até 1.750 ciclos.</a:t>
            </a:r>
            <a:endParaRPr sz="90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6" name="Google Shape;86;p2"/>
          <p:cNvSpPr txBox="1"/>
          <p:nvPr/>
        </p:nvSpPr>
        <p:spPr>
          <a:xfrm>
            <a:off x="1714425" y="238725"/>
            <a:ext cx="5846100" cy="8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pt-BR" sz="26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29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Especificidades</a:t>
            </a:r>
            <a:r>
              <a:rPr lang="pt-BR" sz="2900" b="1" i="0" u="none" strike="noStrike" cap="none">
                <a:solidFill>
                  <a:srgbClr val="EEEEEE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29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técnicas:</a:t>
            </a:r>
            <a:r>
              <a:rPr lang="pt-BR" sz="29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29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7" name="Google Shape;87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67258" y="0"/>
            <a:ext cx="1476743" cy="1111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2"/>
          <p:cNvPicPr preferRelativeResize="0"/>
          <p:nvPr/>
        </p:nvPicPr>
        <p:blipFill rotWithShape="1">
          <a:blip r:embed="rId4">
            <a:alphaModFix/>
          </a:blip>
          <a:srcRect t="2030" r="-6022" b="-2030"/>
          <a:stretch/>
        </p:blipFill>
        <p:spPr>
          <a:xfrm>
            <a:off x="6182813" y="3779050"/>
            <a:ext cx="1860726" cy="1860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2"/>
          <p:cNvPicPr preferRelativeResize="0"/>
          <p:nvPr/>
        </p:nvPicPr>
        <p:blipFill rotWithShape="1">
          <a:blip r:embed="rId5">
            <a:alphaModFix/>
          </a:blip>
          <a:srcRect t="19259" b="11362"/>
          <a:stretch/>
        </p:blipFill>
        <p:spPr>
          <a:xfrm>
            <a:off x="4683075" y="929375"/>
            <a:ext cx="4460924" cy="44535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3"/>
          <p:cNvPicPr preferRelativeResize="0"/>
          <p:nvPr/>
        </p:nvPicPr>
        <p:blipFill rotWithShape="1">
          <a:blip r:embed="rId3">
            <a:alphaModFix/>
          </a:blip>
          <a:srcRect b="34643"/>
          <a:stretch/>
        </p:blipFill>
        <p:spPr>
          <a:xfrm>
            <a:off x="1397546" y="125"/>
            <a:ext cx="5172004" cy="4506998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3"/>
          <p:cNvSpPr/>
          <p:nvPr/>
        </p:nvSpPr>
        <p:spPr>
          <a:xfrm>
            <a:off x="7407400" y="125"/>
            <a:ext cx="1736400" cy="51435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67258" y="4032025"/>
            <a:ext cx="1476743" cy="1111474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3"/>
          <p:cNvSpPr txBox="1"/>
          <p:nvPr/>
        </p:nvSpPr>
        <p:spPr>
          <a:xfrm>
            <a:off x="236775" y="265500"/>
            <a:ext cx="2341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444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>
                <a:solidFill>
                  <a:srgbClr val="FFFFFF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  OBJETIVO DA OFERTA:</a:t>
            </a:r>
            <a:r>
              <a:rPr lang="pt-BR" sz="11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  </a:t>
            </a:r>
            <a:r>
              <a:rPr lang="pt-BR" sz="1100" b="1" i="0" u="none" strike="noStrike" cap="none">
                <a:solidFill>
                  <a:srgbClr val="FFFFFF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   </a:t>
            </a:r>
            <a:endParaRPr sz="1300" b="0" i="0" u="none" strike="noStrike" cap="none">
              <a:solidFill>
                <a:srgbClr val="FFFFFF"/>
              </a:solidFill>
              <a:highlight>
                <a:srgbClr val="FF008C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3"/>
          <p:cNvSpPr txBox="1"/>
          <p:nvPr/>
        </p:nvSpPr>
        <p:spPr>
          <a:xfrm>
            <a:off x="573500" y="580700"/>
            <a:ext cx="2152500" cy="129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O objetivo desta proposta é definir o escopo e condições comerciais ideais para o fornecimento do vetor de mistura.  Obedece aos critérios de concorrência (Farplay) pré-estabelecidos pelo cliente como: segurança, economia de custos, garantia de procedência, balanceamento e baixíssima manutenção. </a:t>
            </a:r>
            <a:endParaRPr sz="800" b="0" i="0" u="none" strike="noStrike" cap="none">
              <a:solidFill>
                <a:srgbClr val="8080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9" name="Google Shape;99;p3"/>
          <p:cNvSpPr txBox="1"/>
          <p:nvPr/>
        </p:nvSpPr>
        <p:spPr>
          <a:xfrm>
            <a:off x="849800" y="2470175"/>
            <a:ext cx="1599900" cy="5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7F7F7F"/>
                </a:solidFill>
                <a:latin typeface="Inter"/>
                <a:ea typeface="Inter"/>
                <a:cs typeface="Inter"/>
                <a:sym typeface="Inter"/>
              </a:rPr>
              <a:t>Aletas dedicadas para melhor usabilidade em qualquer carga de sólido.</a:t>
            </a:r>
            <a:endParaRPr sz="800" b="0" i="0" u="none" strike="noStrike" cap="none">
              <a:solidFill>
                <a:srgbClr val="7F7F7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0" name="Google Shape;100;p3"/>
          <p:cNvSpPr txBox="1"/>
          <p:nvPr/>
        </p:nvSpPr>
        <p:spPr>
          <a:xfrm>
            <a:off x="1038875" y="4218350"/>
            <a:ext cx="1869600" cy="917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800"/>
            </a:pPr>
            <a:r>
              <a:rPr lang="pt-BR" sz="800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Aço Inox {{</a:t>
            </a:r>
            <a:r>
              <a:rPr lang="pt-BR" sz="800" dirty="0" err="1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800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}}</a:t>
            </a:r>
            <a:r>
              <a:rPr lang="pt-BR" sz="800" b="0" i="0" u="none" strike="noStrike" cap="none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 com validação ambiental para evitar contaminação cruzada. </a:t>
            </a:r>
            <a:endParaRPr sz="800" b="0" i="0" u="none" strike="noStrike" cap="none" dirty="0">
              <a:solidFill>
                <a:srgbClr val="8080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3"/>
          <p:cNvSpPr txBox="1"/>
          <p:nvPr/>
        </p:nvSpPr>
        <p:spPr>
          <a:xfrm>
            <a:off x="6055675" y="4076750"/>
            <a:ext cx="1226400" cy="8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Estabilizador de frequência garante máxima segurança em ciclos de até 1.750rpm.</a:t>
            </a:r>
            <a:endParaRPr sz="800" b="0" i="0" u="none" strike="noStrike" cap="none">
              <a:solidFill>
                <a:srgbClr val="8080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2" name="Google Shape;102;p3"/>
          <p:cNvSpPr txBox="1"/>
          <p:nvPr/>
        </p:nvSpPr>
        <p:spPr>
          <a:xfrm>
            <a:off x="5238775" y="846975"/>
            <a:ext cx="2043300" cy="5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7F7F7F"/>
                </a:solidFill>
                <a:latin typeface="Inter"/>
                <a:ea typeface="Inter"/>
                <a:cs typeface="Inter"/>
                <a:sym typeface="Inter"/>
              </a:rPr>
              <a:t>Acabamento recomendado para cosméticos, alimentos, antissépticos, medicamentos, entre outros.</a:t>
            </a:r>
            <a:endParaRPr sz="800" b="0" i="0" u="none" strike="noStrike" cap="none">
              <a:solidFill>
                <a:srgbClr val="7F7F7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03" name="Google Shape;103;p3"/>
          <p:cNvCxnSpPr>
            <a:stCxn id="99" idx="2"/>
          </p:cNvCxnSpPr>
          <p:nvPr/>
        </p:nvCxnSpPr>
        <p:spPr>
          <a:xfrm>
            <a:off x="1649750" y="3061175"/>
            <a:ext cx="1764300" cy="66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104" name="Google Shape;104;p3"/>
          <p:cNvCxnSpPr/>
          <p:nvPr/>
        </p:nvCxnSpPr>
        <p:spPr>
          <a:xfrm rot="10800000" flipH="1">
            <a:off x="1973675" y="3699650"/>
            <a:ext cx="1590600" cy="518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105" name="Google Shape;105;p3"/>
          <p:cNvCxnSpPr>
            <a:stCxn id="101" idx="0"/>
          </p:cNvCxnSpPr>
          <p:nvPr/>
        </p:nvCxnSpPr>
        <p:spPr>
          <a:xfrm rot="10800000">
            <a:off x="4529575" y="3613250"/>
            <a:ext cx="2139300" cy="463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106" name="Google Shape;106;p3"/>
          <p:cNvCxnSpPr/>
          <p:nvPr/>
        </p:nvCxnSpPr>
        <p:spPr>
          <a:xfrm flipH="1">
            <a:off x="4041650" y="1549075"/>
            <a:ext cx="2259900" cy="1000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pic>
        <p:nvPicPr>
          <p:cNvPr id="107" name="Google Shape;107;p3"/>
          <p:cNvPicPr preferRelativeResize="0"/>
          <p:nvPr/>
        </p:nvPicPr>
        <p:blipFill rotWithShape="1">
          <a:blip r:embed="rId5">
            <a:alphaModFix/>
          </a:blip>
          <a:srcRect t="2029" r="-6022" b="-2028"/>
          <a:stretch/>
        </p:blipFill>
        <p:spPr>
          <a:xfrm>
            <a:off x="2908475" y="3657400"/>
            <a:ext cx="2608900" cy="1860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/>
          <p:cNvSpPr txBox="1"/>
          <p:nvPr/>
        </p:nvSpPr>
        <p:spPr>
          <a:xfrm>
            <a:off x="1108000" y="114000"/>
            <a:ext cx="6766800" cy="67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pt-BR" sz="26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26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Sugestão de Valores:</a:t>
            </a:r>
            <a:r>
              <a:rPr lang="pt-BR" sz="26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26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258400" y="788100"/>
            <a:ext cx="8466000" cy="3986400"/>
          </a:xfrm>
          <a:prstGeom prst="rect">
            <a:avLst/>
          </a:prstGeom>
          <a:solidFill>
            <a:srgbClr val="FFE5F3">
              <a:alpha val="72120"/>
            </a:srgbClr>
          </a:solidFill>
          <a:ln w="285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  <a:effectLst>
            <a:reflection stA="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highlight>
                <a:srgbClr val="FFE5F3"/>
              </a:highlight>
            </a:endParaRPr>
          </a:p>
        </p:txBody>
      </p:sp>
      <p:sp>
        <p:nvSpPr>
          <p:cNvPr id="114" name="Google Shape;114;p4"/>
          <p:cNvSpPr txBox="1"/>
          <p:nvPr/>
        </p:nvSpPr>
        <p:spPr>
          <a:xfrm>
            <a:off x="292950" y="964950"/>
            <a:ext cx="8958000" cy="4078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100" b="1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Aquisição:</a:t>
            </a:r>
            <a:r>
              <a:rPr lang="pt-BR" sz="1100" b="1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dirty="0">
              <a:solidFill>
                <a:srgbClr val="FFFFFF"/>
              </a:solidFill>
              <a:highlight>
                <a:srgbClr val="FFFFFF"/>
              </a:highlight>
            </a:endParaRPr>
          </a:p>
          <a:p>
            <a:pPr lvl="0">
              <a:spcBef>
                <a:spcPts val="1200"/>
              </a:spcBef>
            </a:pPr>
            <a:r>
              <a:rPr lang="pt-BR" sz="105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- Vetor</a:t>
            </a:r>
            <a:r>
              <a:rPr lang="pt-BR" sz="1050" dirty="0">
                <a:solidFill>
                  <a:srgbClr val="000000"/>
                </a:solidFill>
              </a:rPr>
              <a:t> </a:t>
            </a:r>
            <a:r>
              <a:rPr lang="pt-BR" sz="1050" dirty="0" err="1">
                <a:latin typeface="Inter"/>
                <a:ea typeface="Inter"/>
                <a:cs typeface="Inter"/>
                <a:sym typeface="Inter"/>
              </a:rPr>
              <a:t>Pitchblade</a:t>
            </a:r>
            <a:r>
              <a:rPr lang="pt-BR" sz="105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de Alta Homogeneização</a:t>
            </a:r>
            <a:r>
              <a:rPr lang="pt-BR" sz="1050" dirty="0">
                <a:latin typeface="Inter"/>
                <a:ea typeface="Inter"/>
                <a:cs typeface="Inter"/>
                <a:sym typeface="Inter"/>
              </a:rPr>
              <a:t> {{</a:t>
            </a:r>
            <a:r>
              <a:rPr lang="pt-BR" sz="1050" dirty="0" err="1">
                <a:latin typeface="Inter"/>
                <a:ea typeface="Inter"/>
                <a:cs typeface="Inter"/>
                <a:sym typeface="Inter"/>
              </a:rPr>
              <a:t>diametro</a:t>
            </a:r>
            <a:r>
              <a:rPr lang="pt-BR" sz="1050" dirty="0">
                <a:latin typeface="Inter"/>
                <a:ea typeface="Inter"/>
                <a:cs typeface="Inter"/>
                <a:sym typeface="Inter"/>
              </a:rPr>
              <a:t>}} mm: (Inox {{</a:t>
            </a:r>
            <a:r>
              <a:rPr lang="pt-BR" sz="1050" dirty="0" err="1"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1050" dirty="0">
                <a:latin typeface="Inter"/>
                <a:ea typeface="Inter"/>
                <a:cs typeface="Inter"/>
                <a:sym typeface="Inter"/>
              </a:rPr>
              <a:t>}} / Verde) R$ {{</a:t>
            </a:r>
            <a:r>
              <a:rPr lang="pt-BR" sz="1050" dirty="0" err="1">
                <a:latin typeface="Inter"/>
                <a:ea typeface="Inter"/>
                <a:cs typeface="Inter"/>
                <a:sym typeface="Inter"/>
              </a:rPr>
              <a:t>preco_unitario</a:t>
            </a:r>
            <a:r>
              <a:rPr lang="pt-BR" sz="1050" dirty="0">
                <a:latin typeface="Inter"/>
                <a:ea typeface="Inter"/>
                <a:cs typeface="Inter"/>
                <a:sym typeface="Inter"/>
              </a:rPr>
              <a:t>}}// R$ {{</a:t>
            </a:r>
            <a:r>
              <a:rPr lang="pt-BR" sz="1050" dirty="0" err="1">
                <a:latin typeface="Inter"/>
                <a:ea typeface="Inter"/>
                <a:cs typeface="Inter"/>
                <a:sym typeface="Inter"/>
              </a:rPr>
              <a:t>preco_lote</a:t>
            </a:r>
            <a:r>
              <a:rPr lang="pt-BR" sz="1050" dirty="0">
                <a:latin typeface="Inter"/>
                <a:ea typeface="Inter"/>
                <a:cs typeface="Inter"/>
                <a:sym typeface="Inter"/>
              </a:rPr>
              <a:t>}}</a:t>
            </a:r>
            <a:endParaRPr sz="105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100" b="1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Equipamento Acompanha:</a:t>
            </a:r>
            <a:r>
              <a:rPr lang="pt-BR" sz="1100" b="1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i="1" dirty="0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1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Vetores em Aço Inox + Consultoria Técnica Full Time</a:t>
            </a:r>
            <a:endParaRPr sz="11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100" b="1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Formas de pagamento (de acordo com a escolha do cliente):</a:t>
            </a:r>
            <a:r>
              <a:rPr lang="pt-BR" sz="1100" b="1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b="1" dirty="0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À vista  </a:t>
            </a:r>
            <a:endParaRPr sz="11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50% de entrada + 50% em 30 dias </a:t>
            </a:r>
            <a:endParaRPr sz="11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Faturado mediante aprovação cadastral </a:t>
            </a:r>
            <a:endParaRPr sz="11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Cartão de crédito </a:t>
            </a:r>
            <a:endParaRPr sz="11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100" b="1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Frete:</a:t>
            </a:r>
            <a:r>
              <a:rPr lang="pt-BR" sz="1100" b="1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</a:t>
            </a:r>
            <a:endParaRPr sz="1100" b="1" dirty="0">
              <a:solidFill>
                <a:srgbClr val="FF008C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lvl="0">
              <a:spcBef>
                <a:spcPts val="1200"/>
              </a:spcBef>
            </a:pP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Via PAC – R$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frete_pac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 |  Via SEDEX -  R$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frete_sedex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</a:t>
            </a: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100" b="1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Envio:</a:t>
            </a:r>
            <a:r>
              <a:rPr lang="pt-BR" sz="1100" b="1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 </a:t>
            </a:r>
            <a:r>
              <a:rPr lang="pt-BR" sz="1100" b="1" dirty="0">
                <a:solidFill>
                  <a:srgbClr val="FF008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11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11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spcBef>
                <a:spcPts val="1200"/>
              </a:spcBef>
              <a:spcAft>
                <a:spcPts val="1200"/>
              </a:spcAft>
            </a:pP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condiçao_envio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</a:t>
            </a:r>
            <a:endParaRPr sz="11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5" name="Google Shape;115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47658" y="3663025"/>
            <a:ext cx="1476743" cy="1111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/>
          <p:cNvSpPr/>
          <p:nvPr/>
        </p:nvSpPr>
        <p:spPr>
          <a:xfrm>
            <a:off x="231900" y="2842450"/>
            <a:ext cx="4853400" cy="1786200"/>
          </a:xfrm>
          <a:prstGeom prst="rect">
            <a:avLst/>
          </a:prstGeom>
          <a:solidFill>
            <a:srgbClr val="FFE5F3">
              <a:alpha val="71372"/>
            </a:srgbClr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pt-BR" sz="13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3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Objetivo da Oferta:</a:t>
            </a:r>
            <a:r>
              <a:rPr lang="pt-BR" sz="13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13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3.1: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Número de NCM: 84.8790.00. 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3.2: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Validade da Proposta: 10 dias (Referente ao valor ofertado)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3.3: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O pedido será aceito após confirmação via e-mail. 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3.4: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Consulte disponibilidade das peças no ato da compra.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3.5: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O relatório de instalação será enviado em até 7 dias úteis a partir da confirmação da compra.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80808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5"/>
          <p:cNvPicPr preferRelativeResize="0"/>
          <p:nvPr/>
        </p:nvPicPr>
        <p:blipFill rotWithShape="1">
          <a:blip r:embed="rId3">
            <a:alphaModFix/>
          </a:blip>
          <a:srcRect r="3966"/>
          <a:stretch/>
        </p:blipFill>
        <p:spPr>
          <a:xfrm rot="5400000">
            <a:off x="5532163" y="1486811"/>
            <a:ext cx="3062024" cy="4251351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5"/>
          <p:cNvSpPr/>
          <p:nvPr/>
        </p:nvSpPr>
        <p:spPr>
          <a:xfrm>
            <a:off x="231900" y="344550"/>
            <a:ext cx="8680200" cy="2227200"/>
          </a:xfrm>
          <a:prstGeom prst="rect">
            <a:avLst/>
          </a:prstGeom>
          <a:solidFill>
            <a:srgbClr val="FFE5F3">
              <a:alpha val="72120"/>
            </a:srgbClr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5"/>
          <p:cNvSpPr txBox="1"/>
          <p:nvPr/>
        </p:nvSpPr>
        <p:spPr>
          <a:xfrm>
            <a:off x="265650" y="495450"/>
            <a:ext cx="8612700" cy="22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b="1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Impostos e Classificação Fiscal:</a:t>
            </a:r>
            <a:r>
              <a:rPr lang="pt-BR" b="1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b="1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434343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IPI:</a:t>
            </a:r>
            <a:r>
              <a:rPr lang="pt-BR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0% | </a:t>
            </a:r>
            <a:r>
              <a:rPr lang="pt-BR" sz="12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ICMS:</a:t>
            </a:r>
            <a:r>
              <a:rPr lang="pt-BR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8.8% (incluso) | </a:t>
            </a:r>
            <a:r>
              <a:rPr lang="pt-BR" sz="12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IMPOSTOS:</a:t>
            </a:r>
            <a:r>
              <a:rPr lang="pt-BR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Inclusos - Optante Simples</a:t>
            </a:r>
            <a:endParaRPr sz="12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b="1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b="1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b="1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Dados Bancários:</a:t>
            </a:r>
            <a:r>
              <a:rPr lang="pt-BR" b="1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b="1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1">
              <a:solidFill>
                <a:srgbClr val="434343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2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Banco: </a:t>
            </a:r>
            <a:r>
              <a:rPr lang="pt-BR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Bradesco | </a:t>
            </a:r>
            <a:r>
              <a:rPr lang="pt-BR" sz="12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Agência:</a:t>
            </a:r>
            <a:r>
              <a:rPr lang="pt-BR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0516 </a:t>
            </a:r>
            <a:r>
              <a:rPr lang="pt-BR"/>
              <a:t>|</a:t>
            </a:r>
            <a:r>
              <a:rPr lang="pt-BR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12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Conta Corrente:</a:t>
            </a:r>
            <a:r>
              <a:rPr lang="pt-BR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0293863-4 </a:t>
            </a:r>
            <a:endParaRPr sz="12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2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Razão social: </a:t>
            </a:r>
            <a:r>
              <a:rPr lang="pt-BR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Só Comércio de Equipamentos para Inteligência e Mistura LTDA. | </a:t>
            </a:r>
            <a:r>
              <a:rPr lang="pt-BR" sz="12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CNPJ: </a:t>
            </a:r>
            <a:r>
              <a:rPr lang="pt-BR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26.863.716/0001-06 (Pix)</a:t>
            </a:r>
            <a:r>
              <a:rPr lang="pt-BR" sz="10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10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24" name="Google Shape;124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40150" y="127725"/>
            <a:ext cx="1348700" cy="101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"/>
          <p:cNvSpPr/>
          <p:nvPr/>
        </p:nvSpPr>
        <p:spPr>
          <a:xfrm>
            <a:off x="0" y="0"/>
            <a:ext cx="5763900" cy="51435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0" name="Google Shape;1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1729" y="1988304"/>
            <a:ext cx="289025" cy="2889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87897" y="2388981"/>
            <a:ext cx="316700" cy="3167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84251" y="2716876"/>
            <a:ext cx="334200" cy="334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54975" y="1494075"/>
            <a:ext cx="382550" cy="38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6"/>
          <p:cNvSpPr txBox="1"/>
          <p:nvPr/>
        </p:nvSpPr>
        <p:spPr>
          <a:xfrm>
            <a:off x="536250" y="346788"/>
            <a:ext cx="3651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800" b="1">
                <a:solidFill>
                  <a:srgbClr val="FFFFFF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Consulte nossa Reputação:</a:t>
            </a:r>
            <a:r>
              <a:rPr lang="pt-BR" sz="1800" b="1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2800" b="1">
              <a:solidFill>
                <a:srgbClr val="FF008C"/>
              </a:solidFill>
              <a:highlight>
                <a:srgbClr val="FF008C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5" name="Google Shape;135;p6"/>
          <p:cNvSpPr txBox="1"/>
          <p:nvPr/>
        </p:nvSpPr>
        <p:spPr>
          <a:xfrm>
            <a:off x="196050" y="833688"/>
            <a:ext cx="44847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 sz="1100" b="1">
                <a:solidFill>
                  <a:srgbClr val="000000"/>
                </a:solidFill>
              </a:rPr>
              <a:t> </a:t>
            </a:r>
            <a:r>
              <a:rPr lang="pt-BR" sz="11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DESDE NOVEMBRO DE 2020, TRABALHAMOS COM ÍNDICE ZERO DE RECLAMAÇÕES EM MAIS DE 10.000 ATENDIMENTOS.</a:t>
            </a:r>
            <a:endParaRPr sz="1100" b="1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" name="Google Shape;136;p6"/>
          <p:cNvSpPr txBox="1"/>
          <p:nvPr/>
        </p:nvSpPr>
        <p:spPr>
          <a:xfrm>
            <a:off x="2106175" y="3482038"/>
            <a:ext cx="3315600" cy="1138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50000"/>
              </a:lnSpc>
              <a:spcBef>
                <a:spcPts val="1200"/>
              </a:spcBef>
            </a:pP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São Paulo,  {{data}}. </a:t>
            </a:r>
          </a:p>
          <a:p>
            <a:pPr lvl="0">
              <a:lnSpc>
                <a:spcPct val="50000"/>
              </a:lnSpc>
              <a:spcBef>
                <a:spcPts val="1200"/>
              </a:spcBef>
            </a:pP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{{</a:t>
            </a:r>
            <a:r>
              <a:rPr lang="pt-BR" sz="1100" dirty="0" err="1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nome_vendedor</a:t>
            </a: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}} [Atendimento/Vendas] </a:t>
            </a:r>
          </a:p>
          <a:p>
            <a:pPr lvl="0">
              <a:lnSpc>
                <a:spcPct val="50000"/>
              </a:lnSpc>
              <a:spcBef>
                <a:spcPts val="1200"/>
              </a:spcBef>
            </a:pP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WhatsApp: (11) 94984-2894 </a:t>
            </a:r>
          </a:p>
          <a:p>
            <a:pPr lvl="0">
              <a:lnSpc>
                <a:spcPct val="50000"/>
              </a:lnSpc>
              <a:spcBef>
                <a:spcPts val="1200"/>
              </a:spcBef>
            </a:pP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E-mail: {{</a:t>
            </a:r>
            <a:r>
              <a:rPr lang="pt-BR" sz="1100" dirty="0" err="1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email_vendedor</a:t>
            </a: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}}</a:t>
            </a:r>
            <a:endParaRPr sz="11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pic>
        <p:nvPicPr>
          <p:cNvPr id="137" name="Google Shape;137;p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25325" y="3355725"/>
            <a:ext cx="1303200" cy="13032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138" name="Google Shape;138;p6"/>
          <p:cNvCxnSpPr/>
          <p:nvPr/>
        </p:nvCxnSpPr>
        <p:spPr>
          <a:xfrm>
            <a:off x="2076725" y="3265500"/>
            <a:ext cx="0" cy="14889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" name="Google Shape;139;p6"/>
          <p:cNvSpPr txBox="1"/>
          <p:nvPr/>
        </p:nvSpPr>
        <p:spPr>
          <a:xfrm>
            <a:off x="1789075" y="1494125"/>
            <a:ext cx="1966800" cy="148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@sohelices</a:t>
            </a:r>
            <a:endParaRPr sz="1200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Só Hélices</a:t>
            </a:r>
            <a:endParaRPr sz="1200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Só Hélices</a:t>
            </a:r>
            <a:endParaRPr sz="1200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www.sohelices.com.br</a:t>
            </a:r>
            <a:endParaRPr sz="180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40" name="Google Shape;140;p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667258" y="0"/>
            <a:ext cx="1476743" cy="1111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6"/>
          <p:cNvPicPr preferRelativeResize="0"/>
          <p:nvPr/>
        </p:nvPicPr>
        <p:blipFill rotWithShape="1">
          <a:blip r:embed="rId9">
            <a:alphaModFix/>
          </a:blip>
          <a:srcRect b="35199"/>
          <a:stretch/>
        </p:blipFill>
        <p:spPr>
          <a:xfrm rot="10800000">
            <a:off x="4231427" y="899128"/>
            <a:ext cx="4912573" cy="42443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52625" y="635350"/>
            <a:ext cx="3638725" cy="247502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7"/>
          <p:cNvSpPr txBox="1"/>
          <p:nvPr/>
        </p:nvSpPr>
        <p:spPr>
          <a:xfrm>
            <a:off x="2054250" y="3175975"/>
            <a:ext cx="5035500" cy="126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VENHA TOMAR UM CAFÉ EM NOSSO SHOWROOM! </a:t>
            </a:r>
            <a:endParaRPr sz="9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ESPERAMOS O SEU RETORNO.</a:t>
            </a:r>
            <a:endParaRPr sz="9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FFFFFF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Rua Américo Brasiliense 1490, Sala 75/77 -  Chácara Santo Antonio  - São Paulo-SP</a:t>
            </a:r>
            <a:endParaRPr sz="900" b="1" i="0" u="none" strike="noStrike" cap="none">
              <a:solidFill>
                <a:srgbClr val="FFFFFF"/>
              </a:solidFill>
              <a:highlight>
                <a:srgbClr val="FF008C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566</Words>
  <Application>Microsoft Office PowerPoint</Application>
  <PresentationFormat>Apresentação na tela (16:9)</PresentationFormat>
  <Paragraphs>93</Paragraphs>
  <Slides>7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1" baseType="lpstr">
      <vt:lpstr>Arial</vt:lpstr>
      <vt:lpstr>Inter</vt:lpstr>
      <vt:lpstr>Inter Medium</vt:lpstr>
      <vt:lpstr>Simple Light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Só Hélices</dc:creator>
  <cp:lastModifiedBy>SÓ HÉLICES</cp:lastModifiedBy>
  <cp:revision>1</cp:revision>
  <dcterms:modified xsi:type="dcterms:W3CDTF">2026-03-09T17:37:19Z</dcterms:modified>
</cp:coreProperties>
</file>