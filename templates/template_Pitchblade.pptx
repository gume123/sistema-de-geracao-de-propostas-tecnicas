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Medium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ixBtETzkzXmxv/n+HPcNJLAiI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CC85B5-EEC5-4F7C-AE28-EE0A93B4A5B8}">
  <a:tblStyle styleId="{A4CC85B5-EEC5-4F7C-AE28-EE0A93B4A5B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34" y="2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4275" y="3969575"/>
            <a:ext cx="1559725" cy="117392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4197875" y="2283925"/>
            <a:ext cx="49461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52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52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PITCHBLADE</a:t>
            </a:r>
            <a:r>
              <a:rPr lang="pt-BR" sz="52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52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>
            <a:off x="1" y="-637875"/>
            <a:ext cx="4890824" cy="6291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3390900" y="221750"/>
            <a:ext cx="5655025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b="1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Proposta Técnica: </a:t>
            </a:r>
            <a:r>
              <a:rPr lang="pt-BR" sz="17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Nº {{proposta}}</a:t>
            </a:r>
            <a:r>
              <a:rPr lang="pt-BR" sz="17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6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</a:t>
            </a:r>
            <a:endParaRPr sz="1600" b="1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5819100" y="1258238"/>
            <a:ext cx="31983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Aplicação:</a:t>
            </a:r>
            <a:r>
              <a:rPr lang="pt-BR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Alta Dispersão e Homogeneização</a:t>
            </a:r>
            <a:endParaRPr sz="10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59" name="Google Shape;59;p1"/>
          <p:cNvGraphicFramePr/>
          <p:nvPr>
            <p:extLst>
              <p:ext uri="{D42A27DB-BD31-4B8C-83A1-F6EECF244321}">
                <p14:modId xmlns:p14="http://schemas.microsoft.com/office/powerpoint/2010/main" val="2020074255"/>
              </p:ext>
            </p:extLst>
          </p:nvPr>
        </p:nvGraphicFramePr>
        <p:xfrm>
          <a:off x="3854650" y="689450"/>
          <a:ext cx="4946100" cy="502900"/>
        </p:xfrm>
        <a:graphic>
          <a:graphicData uri="http://schemas.openxmlformats.org/drawingml/2006/table">
            <a:tbl>
              <a:tblPr>
                <a:noFill/>
                <a:tableStyleId>{A4CC85B5-EEC5-4F7C-AE28-EE0A93B4A5B8}</a:tableStyleId>
              </a:tblPr>
              <a:tblGrid>
                <a:gridCol w="1669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4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 b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Tecnologia:</a:t>
                      </a:r>
                      <a:endParaRPr sz="1100" b="1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Pitchblade</a:t>
                      </a:r>
                      <a:r>
                        <a:rPr lang="pt-BR" sz="80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Aleta: </a:t>
                      </a:r>
                      <a:endParaRPr sz="1000" b="1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{{aleta}} mm 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900" b="1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pt-BR" sz="1000" b="1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Diâmetro:</a:t>
                      </a:r>
                      <a:endParaRPr sz="1000" b="1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{{</a:t>
                      </a:r>
                      <a:r>
                        <a:rPr lang="pt-BR" sz="1000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diametro_corpo</a:t>
                      </a:r>
                      <a:r>
                        <a:rPr lang="pt-BR" sz="1000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 mm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9144000" cy="5143500"/>
          </a:xfrm>
          <a:prstGeom prst="rtTriangle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5" name="Google Shape;65;p2"/>
          <p:cNvGraphicFramePr/>
          <p:nvPr/>
        </p:nvGraphicFramePr>
        <p:xfrm>
          <a:off x="313300" y="2718900"/>
          <a:ext cx="4258700" cy="2206300"/>
        </p:xfrm>
        <a:graphic>
          <a:graphicData uri="http://schemas.openxmlformats.org/drawingml/2006/table">
            <a:tbl>
              <a:tblPr>
                <a:noFill/>
                <a:tableStyleId>{A4CC85B5-EEC5-4F7C-AE28-EE0A93B4A5B8}</a:tableStyleId>
              </a:tblPr>
              <a:tblGrid>
                <a:gridCol w="212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" name="Google Shape;66;p2"/>
          <p:cNvSpPr/>
          <p:nvPr/>
        </p:nvSpPr>
        <p:spPr>
          <a:xfrm>
            <a:off x="435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35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35825" y="3692313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5825" y="4131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35825" y="4570375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530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30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530825" y="3689638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530825" y="4127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530825" y="45650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000" b="1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74950" y="2734175"/>
            <a:ext cx="170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Vetor:</a:t>
            </a:r>
            <a:r>
              <a:rPr lang="pt-BR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Pitchblade com </a:t>
            </a:r>
            <a:endParaRPr sz="9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Aleta Dedicada.</a:t>
            </a:r>
            <a:endParaRPr sz="9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874950" y="3161500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da Aleta: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diametro_aleta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74950" y="3587625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Espaçamento: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espacamento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 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74950" y="4040900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do Corpo: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74950" y="4476050"/>
            <a:ext cx="170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Material: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2965175" y="2707450"/>
            <a:ext cx="1860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Acabamento: </a:t>
            </a:r>
            <a:endParaRPr sz="900" b="1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Semi escovado</a:t>
            </a:r>
            <a:endParaRPr sz="9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2965163" y="3147250"/>
            <a:ext cx="1365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Espessura: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{{espessura}} mm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2965174" y="3587628"/>
            <a:ext cx="1606825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Furo central: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Padrão com {{furo}} mm.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965177" y="4040888"/>
            <a:ext cx="15306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Eixo/Haste: </a:t>
            </a:r>
            <a:endParaRPr sz="900" b="1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/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{{haste}}.</a:t>
            </a:r>
            <a:endParaRPr sz="900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965175" y="4494175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RPM: </a:t>
            </a:r>
            <a:endParaRPr sz="900" b="1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Rotações até 1.750 ciclos.</a:t>
            </a:r>
            <a:endParaRPr sz="90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714425" y="238725"/>
            <a:ext cx="58461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Especificidades</a:t>
            </a:r>
            <a:r>
              <a:rPr lang="pt-BR" sz="2900" b="1" i="0" u="none" strike="noStrike" cap="none">
                <a:solidFill>
                  <a:srgbClr val="EEEEE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técnicas:</a:t>
            </a:r>
            <a:r>
              <a:rPr lang="pt-BR" sz="29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9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4">
            <a:alphaModFix/>
          </a:blip>
          <a:srcRect t="2030" r="-6022" b="-2030"/>
          <a:stretch/>
        </p:blipFill>
        <p:spPr>
          <a:xfrm>
            <a:off x="6182813" y="3779050"/>
            <a:ext cx="1860726" cy="186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 rotWithShape="1">
          <a:blip r:embed="rId5">
            <a:alphaModFix/>
          </a:blip>
          <a:srcRect t="19259" b="11362"/>
          <a:stretch/>
        </p:blipFill>
        <p:spPr>
          <a:xfrm>
            <a:off x="4683075" y="929375"/>
            <a:ext cx="4460924" cy="4453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34643"/>
          <a:stretch/>
        </p:blipFill>
        <p:spPr>
          <a:xfrm>
            <a:off x="1397546" y="125"/>
            <a:ext cx="5172004" cy="450699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407400" y="125"/>
            <a:ext cx="1736400" cy="51435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67258" y="4032025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"/>
          <p:cNvSpPr txBox="1"/>
          <p:nvPr/>
        </p:nvSpPr>
        <p:spPr>
          <a:xfrm>
            <a:off x="236775" y="265500"/>
            <a:ext cx="2341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44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OBJETIVO DA OFERTA:</a:t>
            </a:r>
            <a:r>
              <a:rPr lang="pt-BR" sz="11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  </a:t>
            </a:r>
            <a:r>
              <a:rPr lang="pt-BR" sz="11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 </a:t>
            </a:r>
            <a:endParaRPr sz="1300" b="0" i="0" u="none" strike="noStrike" cap="none">
              <a:solidFill>
                <a:srgbClr val="FFFFFF"/>
              </a:solidFill>
              <a:highlight>
                <a:srgbClr val="FF008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573500" y="580700"/>
            <a:ext cx="21525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O objetivo desta proposta é definir o escopo e condições comerciais ideais para o fornecimento do vetor de mistura.  Obedece aos critérios de concorrência (Farplay) pré-estabelecidos pelo cliente como: segurança, economia de custos, garantia de procedência, balanceamento e baixíssima manutenção. 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849800" y="2470175"/>
            <a:ext cx="15999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Aletas dedicadas para melhor usabilidade em qualquer carga de sólido.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1038875" y="4218350"/>
            <a:ext cx="1869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00"/>
            </a:pP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800" dirty="0" err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r>
              <a:rPr lang="pt-BR" sz="800" b="0" i="0" u="none" strike="noStrike" cap="none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 com validação ambiental para evitar contaminação cruzada. </a:t>
            </a:r>
            <a:endParaRPr sz="800" b="0" i="0" u="none" strike="noStrike" cap="none" dirty="0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6055675" y="4076750"/>
            <a:ext cx="1226400" cy="8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Estabilizador de frequência garante máxima segurança em ciclos de até 1.750rpm.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5238775" y="846975"/>
            <a:ext cx="20433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Acabamento recomendado para cosméticos, alimentos, antissépticos, medicamentos, entre outros.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3" name="Google Shape;103;p3"/>
          <p:cNvCxnSpPr>
            <a:stCxn id="99" idx="2"/>
          </p:cNvCxnSpPr>
          <p:nvPr/>
        </p:nvCxnSpPr>
        <p:spPr>
          <a:xfrm>
            <a:off x="1649750" y="3061175"/>
            <a:ext cx="1764300" cy="6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4" name="Google Shape;104;p3"/>
          <p:cNvCxnSpPr/>
          <p:nvPr/>
        </p:nvCxnSpPr>
        <p:spPr>
          <a:xfrm rot="10800000" flipH="1">
            <a:off x="1973675" y="3699650"/>
            <a:ext cx="1590600" cy="51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5" name="Google Shape;105;p3"/>
          <p:cNvCxnSpPr>
            <a:stCxn id="101" idx="0"/>
          </p:cNvCxnSpPr>
          <p:nvPr/>
        </p:nvCxnSpPr>
        <p:spPr>
          <a:xfrm rot="10800000">
            <a:off x="4529575" y="3613250"/>
            <a:ext cx="2139300" cy="463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6" name="Google Shape;106;p3"/>
          <p:cNvCxnSpPr/>
          <p:nvPr/>
        </p:nvCxnSpPr>
        <p:spPr>
          <a:xfrm flipH="1">
            <a:off x="4041650" y="1549075"/>
            <a:ext cx="2259900" cy="100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pic>
        <p:nvPicPr>
          <p:cNvPr id="107" name="Google Shape;107;p3"/>
          <p:cNvPicPr preferRelativeResize="0"/>
          <p:nvPr/>
        </p:nvPicPr>
        <p:blipFill rotWithShape="1">
          <a:blip r:embed="rId5">
            <a:alphaModFix/>
          </a:blip>
          <a:srcRect t="2029" r="-6022" b="-2028"/>
          <a:stretch/>
        </p:blipFill>
        <p:spPr>
          <a:xfrm>
            <a:off x="2908475" y="3657400"/>
            <a:ext cx="2608900" cy="1860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/>
        </p:nvSpPr>
        <p:spPr>
          <a:xfrm>
            <a:off x="1108000" y="114000"/>
            <a:ext cx="676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6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Sugestão de Valores:</a:t>
            </a: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6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258400" y="788100"/>
            <a:ext cx="8466000" cy="3986400"/>
          </a:xfrm>
          <a:prstGeom prst="rect">
            <a:avLst/>
          </a:prstGeom>
          <a:solidFill>
            <a:srgbClr val="FFE5F3">
              <a:alpha val="72120"/>
            </a:srgbClr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reflection stA="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FFE5F3"/>
              </a:highlight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292950" y="964950"/>
            <a:ext cx="895800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Aquisição:</a:t>
            </a: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dirty="0">
              <a:solidFill>
                <a:srgbClr val="FFFFFF"/>
              </a:solidFill>
              <a:highlight>
                <a:srgbClr val="FFFFFF"/>
              </a:highlight>
            </a:endParaRPr>
          </a:p>
          <a:p>
            <a:pPr marL="171450" lvl="0" indent="-171450">
              <a:spcBef>
                <a:spcPts val="1200"/>
              </a:spcBef>
              <a:buFontTx/>
              <a:buChar char="-"/>
            </a:pPr>
            <a:r>
              <a:rPr lang="pt-BR" sz="10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</a:t>
            </a:r>
            <a:r>
              <a:rPr lang="pt-BR" sz="1050" dirty="0">
                <a:solidFill>
                  <a:srgbClr val="000000"/>
                </a:solidFill>
              </a:rPr>
              <a:t> 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Pitchblade</a:t>
            </a:r>
            <a:r>
              <a:rPr lang="pt-BR" sz="105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de Alta Homogeneização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 {{</a:t>
            </a:r>
            <a:r>
              <a:rPr lang="pt-BR" sz="1050" dirty="0" err="1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mm: (Inox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/ Verde) R$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preco_unitario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(Unitário) // R$ {{</a:t>
            </a:r>
            <a:r>
              <a:rPr lang="pt-BR" sz="1050" dirty="0" err="1">
                <a:latin typeface="Inter"/>
                <a:ea typeface="Inter"/>
                <a:cs typeface="Inter"/>
                <a:sym typeface="Inter"/>
              </a:rPr>
              <a:t>preco_lote</a:t>
            </a:r>
            <a:r>
              <a:rPr lang="pt-BR" sz="1050" dirty="0">
                <a:latin typeface="Inter"/>
                <a:ea typeface="Inter"/>
                <a:cs typeface="Inter"/>
                <a:sym typeface="Inter"/>
              </a:rPr>
              <a:t>}} (Lote) </a:t>
            </a:r>
          </a:p>
          <a:p>
            <a:pPr lvl="0">
              <a:spcBef>
                <a:spcPts val="1200"/>
              </a:spcBef>
            </a:pP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Equipamento Acompanha:</a:t>
            </a: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i="1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Vetores em Aço Inox + Consultoria Técnica Full Time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Formas de pagamento (de acordo com a escolha do cliente):</a:t>
            </a: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1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À vista  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50% de entrada + 50% em 30 dias 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Faturado mediante aprovação cadastral 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Cartão de crédito 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Frete:</a:t>
            </a: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endParaRPr sz="1100" b="1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Via PAC –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frete_pac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|  Via SEDEX - 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frete_sedex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Envio</a:t>
            </a:r>
            <a:r>
              <a:rPr lang="pt-BR" sz="1100" b="1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pt-BR" sz="1100" b="1">
                <a:solidFill>
                  <a:srgbClr val="FF008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	</a:t>
            </a:r>
            <a:r>
              <a:rPr lang="pt-BR" sz="110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condiçao_envio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  <a:endParaRPr sz="11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7658" y="3663025"/>
            <a:ext cx="1476743" cy="11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/>
          <p:nvPr/>
        </p:nvSpPr>
        <p:spPr>
          <a:xfrm>
            <a:off x="231900" y="2842450"/>
            <a:ext cx="4853400" cy="1786200"/>
          </a:xfrm>
          <a:prstGeom prst="rect">
            <a:avLst/>
          </a:prstGeom>
          <a:solidFill>
            <a:srgbClr val="FFE5F3">
              <a:alpha val="71372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3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Objetivo da Oferta:</a:t>
            </a: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3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3.1: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de NCM: 84.8790.00.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3.2: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Validade da Proposta: 10 dias (Referente ao valor ofertado)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3.3: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pedido será aceito após confirmação via e-mail.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3.4: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Consulte disponibilidade das peças no ato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3.5: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relatório de instalação será enviado em até 7 dias úteis a partir da confirmação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r="3966"/>
          <a:stretch/>
        </p:blipFill>
        <p:spPr>
          <a:xfrm rot="5400000">
            <a:off x="5532163" y="1486811"/>
            <a:ext cx="3062024" cy="425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231900" y="344550"/>
            <a:ext cx="8680200" cy="2227200"/>
          </a:xfrm>
          <a:prstGeom prst="rect">
            <a:avLst/>
          </a:prstGeom>
          <a:solidFill>
            <a:srgbClr val="FFE5F3">
              <a:alpha val="72120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 txBox="1"/>
          <p:nvPr/>
        </p:nvSpPr>
        <p:spPr>
          <a:xfrm>
            <a:off x="265650" y="495450"/>
            <a:ext cx="8612700" cy="2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b="1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Impostos e Classificação Fiscal:</a:t>
            </a:r>
            <a:r>
              <a:rPr lang="pt-BR" b="1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b="1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IPI: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0% | </a:t>
            </a: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ICMS: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8.8% (incluso) | </a:t>
            </a: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IMPOSTOS: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Inclusos - Optante Simples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b="1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b="1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b="1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Dados Bancários:</a:t>
            </a:r>
            <a:r>
              <a:rPr lang="pt-BR" b="1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b="1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Banco: 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Bradesco | </a:t>
            </a: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Agência: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0516 </a:t>
            </a:r>
            <a:r>
              <a:rPr lang="pt-BR"/>
              <a:t>|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 Corrente: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0293863-4 </a:t>
            </a: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Razão social: 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Só Comércio de Equipamentos para Inteligência e Mistura LTDA. | </a:t>
            </a:r>
            <a:r>
              <a:rPr lang="pt-BR" sz="12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CNPJ: </a:t>
            </a:r>
            <a:r>
              <a:rPr lang="pt-BR" sz="1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26.863.716/0001-06 (Pix)</a:t>
            </a:r>
            <a:r>
              <a:rPr lang="pt-BR" sz="1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4" name="Google Shape;12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40150" y="127725"/>
            <a:ext cx="1348700" cy="10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5763900" cy="51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729" y="1988304"/>
            <a:ext cx="289025" cy="2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7897" y="2388981"/>
            <a:ext cx="316700" cy="31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251" y="2716876"/>
            <a:ext cx="334200" cy="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54975" y="1494075"/>
            <a:ext cx="382550" cy="3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 txBox="1"/>
          <p:nvPr/>
        </p:nvSpPr>
        <p:spPr>
          <a:xfrm>
            <a:off x="536250" y="346788"/>
            <a:ext cx="3651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800" b="1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Consulte nossa Reputação:</a:t>
            </a:r>
            <a:r>
              <a:rPr lang="pt-BR" sz="1800" b="1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2800" b="1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196050" y="833688"/>
            <a:ext cx="448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 b="1">
                <a:solidFill>
                  <a:srgbClr val="000000"/>
                </a:solidFill>
              </a:rPr>
              <a:t> </a:t>
            </a:r>
            <a:r>
              <a:rPr lang="pt-BR" sz="1100" b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DESDE NOVEMBRO DE 2020, TRABALHAMOS COM ÍNDICE ZERO DE RECLAMAÇÕES EM MAIS DE 10.000 ATENDIMENTOS.</a:t>
            </a:r>
            <a:endParaRPr sz="11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6"/>
          <p:cNvSpPr txBox="1"/>
          <p:nvPr/>
        </p:nvSpPr>
        <p:spPr>
          <a:xfrm>
            <a:off x="2106175" y="3482038"/>
            <a:ext cx="3315600" cy="113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50000"/>
              </a:lnSpc>
              <a:spcBef>
                <a:spcPts val="1200"/>
              </a:spcBef>
            </a:pP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São Paulo,  {{data}}. </a:t>
            </a:r>
          </a:p>
          <a:p>
            <a:pPr lvl="0">
              <a:lnSpc>
                <a:spcPct val="50000"/>
              </a:lnSpc>
              <a:spcBef>
                <a:spcPts val="1200"/>
              </a:spcBef>
            </a:pP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{{</a:t>
            </a:r>
            <a:r>
              <a:rPr lang="pt-BR" sz="1100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nome_vendedor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 [Atendimento/Vendas] </a:t>
            </a:r>
          </a:p>
          <a:p>
            <a:pPr lvl="0">
              <a:lnSpc>
                <a:spcPct val="50000"/>
              </a:lnSpc>
              <a:spcBef>
                <a:spcPts val="1200"/>
              </a:spcBef>
            </a:pP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WhatsApp: (11) 94984-2894 </a:t>
            </a:r>
          </a:p>
          <a:p>
            <a:pPr lvl="0">
              <a:lnSpc>
                <a:spcPct val="50000"/>
              </a:lnSpc>
              <a:spcBef>
                <a:spcPts val="1200"/>
              </a:spcBef>
            </a:pP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E-mail: {{</a:t>
            </a:r>
            <a:r>
              <a:rPr lang="pt-BR" sz="1100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email_vendedor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</a:t>
            </a:r>
            <a:endParaRPr sz="1100" dirty="0">
              <a:solidFill>
                <a:srgbClr val="000000"/>
              </a:solidFill>
              <a:latin typeface="Inter" panose="020B0604020202020204" charset="0"/>
              <a:ea typeface="Inter" panose="020B0604020202020204" charset="0"/>
              <a:cs typeface="Inter"/>
              <a:sym typeface="Inter"/>
            </a:endParaRPr>
          </a:p>
        </p:txBody>
      </p:sp>
      <p:pic>
        <p:nvPicPr>
          <p:cNvPr id="137" name="Google Shape;13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5325" y="3355725"/>
            <a:ext cx="1303200" cy="1303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8" name="Google Shape;138;p6"/>
          <p:cNvCxnSpPr/>
          <p:nvPr/>
        </p:nvCxnSpPr>
        <p:spPr>
          <a:xfrm>
            <a:off x="2076725" y="3265500"/>
            <a:ext cx="0" cy="1488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" name="Google Shape;139;p6"/>
          <p:cNvSpPr txBox="1"/>
          <p:nvPr/>
        </p:nvSpPr>
        <p:spPr>
          <a:xfrm>
            <a:off x="1789075" y="1494125"/>
            <a:ext cx="1966800" cy="14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@sohelices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www.sohelices.com.br</a:t>
            </a:r>
            <a:endParaRPr sz="1800">
              <a:solidFill>
                <a:srgbClr val="595959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0" name="Google Shape;140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6"/>
          <p:cNvPicPr preferRelativeResize="0"/>
          <p:nvPr/>
        </p:nvPicPr>
        <p:blipFill rotWithShape="1">
          <a:blip r:embed="rId9">
            <a:alphaModFix/>
          </a:blip>
          <a:srcRect b="35199"/>
          <a:stretch/>
        </p:blipFill>
        <p:spPr>
          <a:xfrm rot="10800000">
            <a:off x="4231427" y="899128"/>
            <a:ext cx="4912573" cy="4244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2625" y="635350"/>
            <a:ext cx="3638725" cy="2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7"/>
          <p:cNvSpPr txBox="1"/>
          <p:nvPr/>
        </p:nvSpPr>
        <p:spPr>
          <a:xfrm>
            <a:off x="2054250" y="3175975"/>
            <a:ext cx="5035500" cy="12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VENHA TOMAR UM CAFÉ EM NOSSO SHOWROOM! </a:t>
            </a:r>
            <a:endParaRPr sz="9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ESPERAMOS O SEU RETORNO.</a:t>
            </a:r>
            <a:endParaRPr sz="9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Rua Américo Brasiliense 1490, Sala 75/77 -  Chácara Santo Antonio  - São Paulo-SP</a:t>
            </a:r>
            <a:endParaRPr sz="900" b="1" i="0" u="none" strike="noStrike" cap="none">
              <a:solidFill>
                <a:srgbClr val="FFFFFF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Apresentação na tela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Inter</vt:lpstr>
      <vt:lpstr>Inter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Só Hélices</dc:creator>
  <cp:lastModifiedBy>SÓ HÉLICES</cp:lastModifiedBy>
  <cp:revision>2</cp:revision>
  <dcterms:modified xsi:type="dcterms:W3CDTF">2026-03-12T13:11:50Z</dcterms:modified>
</cp:coreProperties>
</file>