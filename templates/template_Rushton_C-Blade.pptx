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9"/>
  </p:notesMasterIdLst>
  <p:sldIdLst>
    <p:sldId id="256" r:id="rId2"/>
    <p:sldId id="263" r:id="rId3"/>
    <p:sldId id="258" r:id="rId4"/>
    <p:sldId id="264" r:id="rId5"/>
    <p:sldId id="265" r:id="rId6"/>
    <p:sldId id="261" r:id="rId7"/>
    <p:sldId id="262" r:id="rId8"/>
  </p:sldIdLst>
  <p:sldSz cx="7561263" cy="106918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4F0EF"/>
    <a:srgbClr val="E016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47" autoAdjust="0"/>
  </p:normalViewPr>
  <p:slideViewPr>
    <p:cSldViewPr snapToGrid="0">
      <p:cViewPr>
        <p:scale>
          <a:sx n="150" d="100"/>
          <a:sy n="150" d="100"/>
        </p:scale>
        <p:origin x="1176" y="-2220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CAEED2-BC16-4826-88B5-7A60AAAA0FBF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97D3D-285D-4500-AB96-F7BD5CB94F5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000081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A85676-3050-B7A4-0D80-6DCE23B101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FBD63050-3B23-FA3E-8344-DC41D5810C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0A5C84F-7862-965D-F9A8-BB66EEEB1A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DB0E24A-3BB8-EAF3-2B5B-8DD9420A450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097D3D-285D-4500-AB96-F7BD5CB94F5C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9074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67095" y="1749795"/>
            <a:ext cx="6427074" cy="3722335"/>
          </a:xfrm>
        </p:spPr>
        <p:txBody>
          <a:bodyPr anchor="b"/>
          <a:lstStyle>
            <a:lvl1pPr algn="ctr"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5158" y="5615678"/>
            <a:ext cx="5670947" cy="2581379"/>
          </a:xfrm>
        </p:spPr>
        <p:txBody>
          <a:bodyPr/>
          <a:lstStyle>
            <a:lvl1pPr marL="0" indent="0" algn="ctr">
              <a:buNone/>
              <a:defRPr sz="1985"/>
            </a:lvl1pPr>
            <a:lvl2pPr marL="378059" indent="0" algn="ctr">
              <a:buNone/>
              <a:defRPr sz="1654"/>
            </a:lvl2pPr>
            <a:lvl3pPr marL="756117" indent="0" algn="ctr">
              <a:buNone/>
              <a:defRPr sz="1488"/>
            </a:lvl3pPr>
            <a:lvl4pPr marL="1134176" indent="0" algn="ctr">
              <a:buNone/>
              <a:defRPr sz="1323"/>
            </a:lvl4pPr>
            <a:lvl5pPr marL="1512235" indent="0" algn="ctr">
              <a:buNone/>
              <a:defRPr sz="1323"/>
            </a:lvl5pPr>
            <a:lvl6pPr marL="1890293" indent="0" algn="ctr">
              <a:buNone/>
              <a:defRPr sz="1323"/>
            </a:lvl6pPr>
            <a:lvl7pPr marL="2268352" indent="0" algn="ctr">
              <a:buNone/>
              <a:defRPr sz="1323"/>
            </a:lvl7pPr>
            <a:lvl8pPr marL="2646411" indent="0" algn="ctr">
              <a:buNone/>
              <a:defRPr sz="1323"/>
            </a:lvl8pPr>
            <a:lvl9pPr marL="3024469" indent="0" algn="ctr">
              <a:buNone/>
              <a:defRPr sz="1323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4862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2471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899" y="2665532"/>
            <a:ext cx="6521589" cy="4447496"/>
          </a:xfrm>
        </p:spPr>
        <p:txBody>
          <a:bodyPr anchor="b"/>
          <a:lstStyle>
            <a:lvl1pPr>
              <a:defRPr sz="4961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899" y="7155103"/>
            <a:ext cx="6521589" cy="2338833"/>
          </a:xfrm>
        </p:spPr>
        <p:txBody>
          <a:bodyPr/>
          <a:lstStyle>
            <a:lvl1pPr marL="0" indent="0">
              <a:buNone/>
              <a:defRPr sz="1985">
                <a:solidFill>
                  <a:schemeClr val="tx1">
                    <a:tint val="82000"/>
                  </a:schemeClr>
                </a:solidFill>
              </a:defRPr>
            </a:lvl1pPr>
            <a:lvl2pPr marL="378059" indent="0">
              <a:buNone/>
              <a:defRPr sz="1654">
                <a:solidFill>
                  <a:schemeClr val="tx1">
                    <a:tint val="82000"/>
                  </a:schemeClr>
                </a:solidFill>
              </a:defRPr>
            </a:lvl2pPr>
            <a:lvl3pPr marL="756117" indent="0">
              <a:buNone/>
              <a:defRPr sz="1488">
                <a:solidFill>
                  <a:schemeClr val="tx1">
                    <a:tint val="82000"/>
                  </a:schemeClr>
                </a:solidFill>
              </a:defRPr>
            </a:lvl3pPr>
            <a:lvl4pPr marL="1134176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4pPr>
            <a:lvl5pPr marL="1512235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5pPr>
            <a:lvl6pPr marL="1890293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6pPr>
            <a:lvl7pPr marL="2268352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7pPr>
            <a:lvl8pPr marL="2646411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8pPr>
            <a:lvl9pPr marL="3024469" indent="0">
              <a:buNone/>
              <a:defRPr sz="1323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408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837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889" y="2846200"/>
            <a:ext cx="3213537" cy="678385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19463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569242"/>
            <a:ext cx="6521589" cy="206659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823" y="2620980"/>
            <a:ext cx="3198768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823" y="3905482"/>
            <a:ext cx="3198768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890" y="2620980"/>
            <a:ext cx="3214522" cy="1284502"/>
          </a:xfrm>
        </p:spPr>
        <p:txBody>
          <a:bodyPr anchor="b"/>
          <a:lstStyle>
            <a:lvl1pPr marL="0" indent="0">
              <a:buNone/>
              <a:defRPr sz="1985" b="1"/>
            </a:lvl1pPr>
            <a:lvl2pPr marL="378059" indent="0">
              <a:buNone/>
              <a:defRPr sz="1654" b="1"/>
            </a:lvl2pPr>
            <a:lvl3pPr marL="756117" indent="0">
              <a:buNone/>
              <a:defRPr sz="1488" b="1"/>
            </a:lvl3pPr>
            <a:lvl4pPr marL="1134176" indent="0">
              <a:buNone/>
              <a:defRPr sz="1323" b="1"/>
            </a:lvl4pPr>
            <a:lvl5pPr marL="1512235" indent="0">
              <a:buNone/>
              <a:defRPr sz="1323" b="1"/>
            </a:lvl5pPr>
            <a:lvl6pPr marL="1890293" indent="0">
              <a:buNone/>
              <a:defRPr sz="1323" b="1"/>
            </a:lvl6pPr>
            <a:lvl7pPr marL="2268352" indent="0">
              <a:buNone/>
              <a:defRPr sz="1323" b="1"/>
            </a:lvl7pPr>
            <a:lvl8pPr marL="2646411" indent="0">
              <a:buNone/>
              <a:defRPr sz="1323" b="1"/>
            </a:lvl8pPr>
            <a:lvl9pPr marL="3024469" indent="0">
              <a:buNone/>
              <a:defRPr sz="1323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890" y="3905482"/>
            <a:ext cx="3214522" cy="5744375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2692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69598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82774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4522" y="1539425"/>
            <a:ext cx="3827889" cy="7598117"/>
          </a:xfrm>
        </p:spPr>
        <p:txBody>
          <a:bodyPr/>
          <a:lstStyle>
            <a:lvl1pPr>
              <a:defRPr sz="2646"/>
            </a:lvl1pPr>
            <a:lvl2pPr>
              <a:defRPr sz="2315"/>
            </a:lvl2pPr>
            <a:lvl3pPr>
              <a:defRPr sz="1985"/>
            </a:lvl3pPr>
            <a:lvl4pPr>
              <a:defRPr sz="1654"/>
            </a:lvl4pPr>
            <a:lvl5pPr>
              <a:defRPr sz="1654"/>
            </a:lvl5pPr>
            <a:lvl6pPr>
              <a:defRPr sz="1654"/>
            </a:lvl6pPr>
            <a:lvl7pPr>
              <a:defRPr sz="1654"/>
            </a:lvl7pPr>
            <a:lvl8pPr>
              <a:defRPr sz="1654"/>
            </a:lvl8pPr>
            <a:lvl9pPr>
              <a:defRPr sz="1654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9120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822" y="712788"/>
            <a:ext cx="2438704" cy="2494756"/>
          </a:xfrm>
        </p:spPr>
        <p:txBody>
          <a:bodyPr anchor="b"/>
          <a:lstStyle>
            <a:lvl1pPr>
              <a:defRPr sz="2646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4522" y="1539425"/>
            <a:ext cx="3827889" cy="7598117"/>
          </a:xfrm>
        </p:spPr>
        <p:txBody>
          <a:bodyPr anchor="t"/>
          <a:lstStyle>
            <a:lvl1pPr marL="0" indent="0">
              <a:buNone/>
              <a:defRPr sz="2646"/>
            </a:lvl1pPr>
            <a:lvl2pPr marL="378059" indent="0">
              <a:buNone/>
              <a:defRPr sz="2315"/>
            </a:lvl2pPr>
            <a:lvl3pPr marL="756117" indent="0">
              <a:buNone/>
              <a:defRPr sz="1985"/>
            </a:lvl3pPr>
            <a:lvl4pPr marL="1134176" indent="0">
              <a:buNone/>
              <a:defRPr sz="1654"/>
            </a:lvl4pPr>
            <a:lvl5pPr marL="1512235" indent="0">
              <a:buNone/>
              <a:defRPr sz="1654"/>
            </a:lvl5pPr>
            <a:lvl6pPr marL="1890293" indent="0">
              <a:buNone/>
              <a:defRPr sz="1654"/>
            </a:lvl6pPr>
            <a:lvl7pPr marL="2268352" indent="0">
              <a:buNone/>
              <a:defRPr sz="1654"/>
            </a:lvl7pPr>
            <a:lvl8pPr marL="2646411" indent="0">
              <a:buNone/>
              <a:defRPr sz="1654"/>
            </a:lvl8pPr>
            <a:lvl9pPr marL="3024469" indent="0">
              <a:buNone/>
              <a:defRPr sz="1654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822" y="3207544"/>
            <a:ext cx="2438704" cy="5942372"/>
          </a:xfrm>
        </p:spPr>
        <p:txBody>
          <a:bodyPr/>
          <a:lstStyle>
            <a:lvl1pPr marL="0" indent="0">
              <a:buNone/>
              <a:defRPr sz="1323"/>
            </a:lvl1pPr>
            <a:lvl2pPr marL="378059" indent="0">
              <a:buNone/>
              <a:defRPr sz="1158"/>
            </a:lvl2pPr>
            <a:lvl3pPr marL="756117" indent="0">
              <a:buNone/>
              <a:defRPr sz="992"/>
            </a:lvl3pPr>
            <a:lvl4pPr marL="1134176" indent="0">
              <a:buNone/>
              <a:defRPr sz="827"/>
            </a:lvl4pPr>
            <a:lvl5pPr marL="1512235" indent="0">
              <a:buNone/>
              <a:defRPr sz="827"/>
            </a:lvl5pPr>
            <a:lvl6pPr marL="1890293" indent="0">
              <a:buNone/>
              <a:defRPr sz="827"/>
            </a:lvl6pPr>
            <a:lvl7pPr marL="2268352" indent="0">
              <a:buNone/>
              <a:defRPr sz="827"/>
            </a:lvl7pPr>
            <a:lvl8pPr marL="2646411" indent="0">
              <a:buNone/>
              <a:defRPr sz="827"/>
            </a:lvl8pPr>
            <a:lvl9pPr marL="3024469" indent="0">
              <a:buNone/>
              <a:defRPr sz="827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3488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6184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11029" y="569240"/>
            <a:ext cx="1630397" cy="9060817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837" y="569240"/>
            <a:ext cx="4796676" cy="906081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5912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837" y="569242"/>
            <a:ext cx="6521589" cy="206659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837" y="2846200"/>
            <a:ext cx="6521589" cy="678385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837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57E78B-50A5-4041-B8E5-C741E639875A}" type="datetimeFigureOut">
              <a:rPr lang="pt-BR" smtClean="0"/>
              <a:t>02/04/2026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669" y="9909729"/>
            <a:ext cx="2551926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40142" y="9909729"/>
            <a:ext cx="1701284" cy="5692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9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90920B-204E-400E-81BC-E838173BE79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32661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756117" rtl="0" eaLnBrk="1" latinLnBrk="0" hangingPunct="1">
        <a:lnSpc>
          <a:spcPct val="90000"/>
        </a:lnSpc>
        <a:spcBef>
          <a:spcPct val="0"/>
        </a:spcBef>
        <a:buNone/>
        <a:defRPr sz="363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9029" indent="-189029" algn="l" defTabSz="756117" rtl="0" eaLnBrk="1" latinLnBrk="0" hangingPunct="1">
        <a:lnSpc>
          <a:spcPct val="90000"/>
        </a:lnSpc>
        <a:spcBef>
          <a:spcPts val="827"/>
        </a:spcBef>
        <a:buFont typeface="Arial" panose="020B0604020202020204" pitchFamily="34" charset="0"/>
        <a:buChar char="•"/>
        <a:defRPr sz="2315" kern="1200">
          <a:solidFill>
            <a:schemeClr val="tx1"/>
          </a:solidFill>
          <a:latin typeface="+mn-lt"/>
          <a:ea typeface="+mn-ea"/>
          <a:cs typeface="+mn-cs"/>
        </a:defRPr>
      </a:lvl1pPr>
      <a:lvl2pPr marL="567088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985" kern="1200">
          <a:solidFill>
            <a:schemeClr val="tx1"/>
          </a:solidFill>
          <a:latin typeface="+mn-lt"/>
          <a:ea typeface="+mn-ea"/>
          <a:cs typeface="+mn-cs"/>
        </a:defRPr>
      </a:lvl2pPr>
      <a:lvl3pPr marL="945147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654" kern="1200">
          <a:solidFill>
            <a:schemeClr val="tx1"/>
          </a:solidFill>
          <a:latin typeface="+mn-lt"/>
          <a:ea typeface="+mn-ea"/>
          <a:cs typeface="+mn-cs"/>
        </a:defRPr>
      </a:lvl3pPr>
      <a:lvl4pPr marL="1323205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701264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2079323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457381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835440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213499" indent="-189029" algn="l" defTabSz="756117" rtl="0" eaLnBrk="1" latinLnBrk="0" hangingPunct="1">
        <a:lnSpc>
          <a:spcPct val="90000"/>
        </a:lnSpc>
        <a:spcBef>
          <a:spcPts val="413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1pPr>
      <a:lvl2pPr marL="37805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56117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3pPr>
      <a:lvl4pPr marL="1134176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4pPr>
      <a:lvl5pPr marL="1512235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5pPr>
      <a:lvl6pPr marL="1890293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6pPr>
      <a:lvl7pPr marL="2268352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7pPr>
      <a:lvl8pPr marL="2646411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8pPr>
      <a:lvl9pPr marL="3024469" algn="l" defTabSz="756117" rtl="0" eaLnBrk="1" latinLnBrk="0" hangingPunct="1">
        <a:defRPr sz="148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1.png"/><Relationship Id="rId7" Type="http://schemas.openxmlformats.org/officeDocument/2006/relationships/image" Target="../media/image2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m 28">
            <a:extLst>
              <a:ext uri="{FF2B5EF4-FFF2-40B4-BE49-F238E27FC236}">
                <a16:creationId xmlns:a16="http://schemas.microsoft.com/office/drawing/2014/main" id="{13CDD406-37B5-AE55-73A2-1A6D4C7564C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pic>
        <p:nvPicPr>
          <p:cNvPr id="27" name="Imagem 26">
            <a:extLst>
              <a:ext uri="{FF2B5EF4-FFF2-40B4-BE49-F238E27FC236}">
                <a16:creationId xmlns:a16="http://schemas.microsoft.com/office/drawing/2014/main" id="{B41925B5-F653-5F92-AAEB-B954175E16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2962" y="10125011"/>
            <a:ext cx="795338" cy="274618"/>
          </a:xfrm>
          <a:prstGeom prst="rect">
            <a:avLst/>
          </a:prstGeom>
        </p:spPr>
      </p:pic>
      <p:sp>
        <p:nvSpPr>
          <p:cNvPr id="9" name="CaixaDeTexto 8">
            <a:extLst>
              <a:ext uri="{FF2B5EF4-FFF2-40B4-BE49-F238E27FC236}">
                <a16:creationId xmlns:a16="http://schemas.microsoft.com/office/drawing/2014/main" id="{F08F497B-2BE5-405D-6939-721161B8624F}"/>
              </a:ext>
            </a:extLst>
          </p:cNvPr>
          <p:cNvSpPr txBox="1"/>
          <p:nvPr/>
        </p:nvSpPr>
        <p:spPr>
          <a:xfrm>
            <a:off x="0" y="698855"/>
            <a:ext cx="7558636" cy="8489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ts val="5900"/>
              </a:lnSpc>
            </a:pPr>
            <a:r>
              <a:rPr lang="pt-BR" sz="48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RUSHTON C-BLADE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7686D901-E622-309E-6996-A977F34E8674}"/>
              </a:ext>
            </a:extLst>
          </p:cNvPr>
          <p:cNvSpPr txBox="1"/>
          <p:nvPr/>
        </p:nvSpPr>
        <p:spPr>
          <a:xfrm>
            <a:off x="3521356" y="8618436"/>
            <a:ext cx="37057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Proposta</a:t>
            </a:r>
            <a:r>
              <a:rPr lang="pt-BR" sz="1600" b="1" dirty="0">
                <a:latin typeface="Arial" panose="020B0604020202020204" pitchFamily="34" charset="0"/>
                <a:cs typeface="Arial" panose="020B0604020202020204" pitchFamily="34" charset="0"/>
              </a:rPr>
              <a:t> Técnica Nº {{proposta}}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2FD5F4C4-2814-C466-60ED-B717F86A87C1}"/>
              </a:ext>
            </a:extLst>
          </p:cNvPr>
          <p:cNvSpPr txBox="1"/>
          <p:nvPr/>
        </p:nvSpPr>
        <p:spPr>
          <a:xfrm>
            <a:off x="3819673" y="8931807"/>
            <a:ext cx="337427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6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Aplicação: 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Alta Dispersão e Homogeneização</a:t>
            </a:r>
          </a:p>
        </p:txBody>
      </p:sp>
      <p:sp>
        <p:nvSpPr>
          <p:cNvPr id="14" name="Retângulo: Cantos Arredondados 13">
            <a:extLst>
              <a:ext uri="{FF2B5EF4-FFF2-40B4-BE49-F238E27FC236}">
                <a16:creationId xmlns:a16="http://schemas.microsoft.com/office/drawing/2014/main" id="{D5512939-228E-695E-8736-123C956396E6}"/>
              </a:ext>
            </a:extLst>
          </p:cNvPr>
          <p:cNvSpPr/>
          <p:nvPr/>
        </p:nvSpPr>
        <p:spPr>
          <a:xfrm>
            <a:off x="642937" y="8223749"/>
            <a:ext cx="2074729" cy="1578574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DD51783-DF28-1A28-D05F-6D4236BBB9B4}"/>
              </a:ext>
            </a:extLst>
          </p:cNvPr>
          <p:cNvSpPr txBox="1"/>
          <p:nvPr/>
        </p:nvSpPr>
        <p:spPr>
          <a:xfrm>
            <a:off x="642936" y="8326048"/>
            <a:ext cx="20747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Tecnologia:</a:t>
            </a:r>
            <a:b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</a:br>
            <a:r>
              <a:rPr lang="pt-BR" sz="1600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Rushton</a:t>
            </a:r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C-</a:t>
            </a:r>
            <a:r>
              <a:rPr lang="pt-BR" sz="1600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Blade</a:t>
            </a:r>
            <a:endParaRPr lang="pt-BR" sz="1600" dirty="0">
              <a:solidFill>
                <a:schemeClr val="bg1"/>
              </a:solidFill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C03BC49-F342-411B-54A7-97B857170AA3}"/>
              </a:ext>
            </a:extLst>
          </p:cNvPr>
          <p:cNvSpPr txBox="1"/>
          <p:nvPr/>
        </p:nvSpPr>
        <p:spPr>
          <a:xfrm>
            <a:off x="642936" y="9000504"/>
            <a:ext cx="207472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Diâmetro:</a:t>
            </a:r>
          </a:p>
          <a:p>
            <a:pPr algn="ctr"/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600" dirty="0">
                <a:solidFill>
                  <a:schemeClr val="bg1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cxnSp>
        <p:nvCxnSpPr>
          <p:cNvPr id="18" name="Conector reto 17">
            <a:extLst>
              <a:ext uri="{FF2B5EF4-FFF2-40B4-BE49-F238E27FC236}">
                <a16:creationId xmlns:a16="http://schemas.microsoft.com/office/drawing/2014/main" id="{AF349FF2-80F7-8B57-E655-2224B9872B68}"/>
              </a:ext>
            </a:extLst>
          </p:cNvPr>
          <p:cNvCxnSpPr>
            <a:cxnSpLocks/>
            <a:stCxn id="14" idx="1"/>
            <a:endCxn id="14" idx="3"/>
          </p:cNvCxnSpPr>
          <p:nvPr/>
        </p:nvCxnSpPr>
        <p:spPr>
          <a:xfrm>
            <a:off x="642937" y="9013036"/>
            <a:ext cx="2074729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Imagem 2">
            <a:extLst>
              <a:ext uri="{FF2B5EF4-FFF2-40B4-BE49-F238E27FC236}">
                <a16:creationId xmlns:a16="http://schemas.microsoft.com/office/drawing/2014/main" id="{FF799031-1F2E-1B69-CA5B-C9F06C9B62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070" t="19152" r="14867" b="20890"/>
          <a:stretch>
            <a:fillRect/>
          </a:stretch>
        </p:blipFill>
        <p:spPr>
          <a:xfrm>
            <a:off x="413725" y="2337091"/>
            <a:ext cx="6733812" cy="5846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1583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B3DA2B-66A4-6132-B1DB-35EA12B7C2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Imagem 52">
            <a:extLst>
              <a:ext uri="{FF2B5EF4-FFF2-40B4-BE49-F238E27FC236}">
                <a16:creationId xmlns:a16="http://schemas.microsoft.com/office/drawing/2014/main" id="{2DA6CAA3-6C7E-DF1D-C489-75B8DC67F738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16" name="CaixaDeTexto 15">
            <a:extLst>
              <a:ext uri="{FF2B5EF4-FFF2-40B4-BE49-F238E27FC236}">
                <a16:creationId xmlns:a16="http://schemas.microsoft.com/office/drawing/2014/main" id="{0169B29F-5158-B93F-9B80-AC854030C197}"/>
              </a:ext>
            </a:extLst>
          </p:cNvPr>
          <p:cNvSpPr txBox="1"/>
          <p:nvPr/>
        </p:nvSpPr>
        <p:spPr>
          <a:xfrm>
            <a:off x="195744" y="684011"/>
            <a:ext cx="6680618" cy="1371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Especificidades Técnicas</a:t>
            </a:r>
          </a:p>
        </p:txBody>
      </p:sp>
      <p:pic>
        <p:nvPicPr>
          <p:cNvPr id="37" name="Imagem 36">
            <a:extLst>
              <a:ext uri="{FF2B5EF4-FFF2-40B4-BE49-F238E27FC236}">
                <a16:creationId xmlns:a16="http://schemas.microsoft.com/office/drawing/2014/main" id="{13CA9346-23F1-71E1-6B40-3B6F77FDF3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83FFF8F2-EFB3-055C-B020-11B88B81A21B}"/>
              </a:ext>
            </a:extLst>
          </p:cNvPr>
          <p:cNvSpPr/>
          <p:nvPr/>
        </p:nvSpPr>
        <p:spPr>
          <a:xfrm>
            <a:off x="855720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BF5DC46-041C-339A-0EFC-AD375EC5E432}"/>
              </a:ext>
            </a:extLst>
          </p:cNvPr>
          <p:cNvSpPr txBox="1"/>
          <p:nvPr/>
        </p:nvSpPr>
        <p:spPr>
          <a:xfrm>
            <a:off x="1139584" y="2451964"/>
            <a:ext cx="25751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Vetor: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Rushton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C-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Blade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com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Aleta Dedicada.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031B708-A79C-2E79-A236-269EF59DC7C5}"/>
              </a:ext>
            </a:extLst>
          </p:cNvPr>
          <p:cNvSpPr txBox="1"/>
          <p:nvPr/>
        </p:nvSpPr>
        <p:spPr>
          <a:xfrm>
            <a:off x="1110556" y="3226129"/>
            <a:ext cx="23790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da Aleta: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diametro_aleta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201305FC-4F3E-7F52-8C33-65B997877C9D}"/>
              </a:ext>
            </a:extLst>
          </p:cNvPr>
          <p:cNvSpPr txBox="1"/>
          <p:nvPr/>
        </p:nvSpPr>
        <p:spPr>
          <a:xfrm>
            <a:off x="1110556" y="3917899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Espaçamento: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espacamento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0111CE1E-56B1-E2AE-6833-BD7ECEB31B39}"/>
              </a:ext>
            </a:extLst>
          </p:cNvPr>
          <p:cNvSpPr txBox="1"/>
          <p:nvPr/>
        </p:nvSpPr>
        <p:spPr>
          <a:xfrm>
            <a:off x="1110556" y="462755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Diâmetro do Corpo: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A765C952-B885-262F-C72F-8D39718088FE}"/>
              </a:ext>
            </a:extLst>
          </p:cNvPr>
          <p:cNvSpPr txBox="1"/>
          <p:nvPr/>
        </p:nvSpPr>
        <p:spPr>
          <a:xfrm>
            <a:off x="1110555" y="5363177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Material: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550DD9C2-8CB2-68A6-07FB-CE8DD20608C9}"/>
              </a:ext>
            </a:extLst>
          </p:cNvPr>
          <p:cNvSpPr txBox="1"/>
          <p:nvPr/>
        </p:nvSpPr>
        <p:spPr>
          <a:xfrm>
            <a:off x="4432093" y="2451964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Semi escovado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66C451FB-C41B-1CFD-739F-6E0287E87685}"/>
              </a:ext>
            </a:extLst>
          </p:cNvPr>
          <p:cNvSpPr txBox="1"/>
          <p:nvPr/>
        </p:nvSpPr>
        <p:spPr>
          <a:xfrm>
            <a:off x="4403064" y="3187710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Espessura: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{{espessura}} mm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F45989E8-5058-0D09-3EBB-BA1AEF14F0BC}"/>
              </a:ext>
            </a:extLst>
          </p:cNvPr>
          <p:cNvSpPr txBox="1"/>
          <p:nvPr/>
        </p:nvSpPr>
        <p:spPr>
          <a:xfrm>
            <a:off x="4459361" y="3917899"/>
            <a:ext cx="22433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Furo central: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Padrão com {{furo}} mm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E0CC80D8-85A1-0975-33F1-22A66F9D75BD}"/>
              </a:ext>
            </a:extLst>
          </p:cNvPr>
          <p:cNvSpPr txBox="1"/>
          <p:nvPr/>
        </p:nvSpPr>
        <p:spPr>
          <a:xfrm>
            <a:off x="4403064" y="4648088"/>
            <a:ext cx="20271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Eixo/Haste: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{{haste}}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03C86366-DD67-68E7-A0DB-AE570E590437}"/>
              </a:ext>
            </a:extLst>
          </p:cNvPr>
          <p:cNvSpPr txBox="1"/>
          <p:nvPr/>
        </p:nvSpPr>
        <p:spPr>
          <a:xfrm>
            <a:off x="4432091" y="5413239"/>
            <a:ext cx="237643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RPM: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Balanceada para altas e baixas rotações</a:t>
            </a:r>
          </a:p>
        </p:txBody>
      </p:sp>
      <p:sp>
        <p:nvSpPr>
          <p:cNvPr id="25" name="Retângulo: Cantos Arredondados 24">
            <a:extLst>
              <a:ext uri="{FF2B5EF4-FFF2-40B4-BE49-F238E27FC236}">
                <a16:creationId xmlns:a16="http://schemas.microsoft.com/office/drawing/2014/main" id="{F927A86B-9387-034A-015B-6970957496C8}"/>
              </a:ext>
            </a:extLst>
          </p:cNvPr>
          <p:cNvSpPr/>
          <p:nvPr/>
        </p:nvSpPr>
        <p:spPr>
          <a:xfrm>
            <a:off x="854426" y="344071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: Cantos Arredondados 25">
            <a:extLst>
              <a:ext uri="{FF2B5EF4-FFF2-40B4-BE49-F238E27FC236}">
                <a16:creationId xmlns:a16="http://schemas.microsoft.com/office/drawing/2014/main" id="{1F45763C-5232-AC56-053C-68B8445F0C62}"/>
              </a:ext>
            </a:extLst>
          </p:cNvPr>
          <p:cNvSpPr/>
          <p:nvPr/>
        </p:nvSpPr>
        <p:spPr>
          <a:xfrm>
            <a:off x="855720" y="4164939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Retângulo: Cantos Arredondados 26">
            <a:extLst>
              <a:ext uri="{FF2B5EF4-FFF2-40B4-BE49-F238E27FC236}">
                <a16:creationId xmlns:a16="http://schemas.microsoft.com/office/drawing/2014/main" id="{50DB1D55-EC39-5F7D-BDBA-9A2941EAF9D0}"/>
              </a:ext>
            </a:extLst>
          </p:cNvPr>
          <p:cNvSpPr/>
          <p:nvPr/>
        </p:nvSpPr>
        <p:spPr>
          <a:xfrm>
            <a:off x="855720" y="48891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2DA7D8D3-CA18-41DE-566D-0201C8858774}"/>
              </a:ext>
            </a:extLst>
          </p:cNvPr>
          <p:cNvSpPr/>
          <p:nvPr/>
        </p:nvSpPr>
        <p:spPr>
          <a:xfrm>
            <a:off x="855720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9" name="Retângulo: Cantos Arredondados 28">
            <a:extLst>
              <a:ext uri="{FF2B5EF4-FFF2-40B4-BE49-F238E27FC236}">
                <a16:creationId xmlns:a16="http://schemas.microsoft.com/office/drawing/2014/main" id="{7F1BDEB5-B54D-4E6E-D528-3F6DA142C05E}"/>
              </a:ext>
            </a:extLst>
          </p:cNvPr>
          <p:cNvSpPr/>
          <p:nvPr/>
        </p:nvSpPr>
        <p:spPr>
          <a:xfrm>
            <a:off x="4056192" y="2705196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Retângulo: Cantos Arredondados 29">
            <a:extLst>
              <a:ext uri="{FF2B5EF4-FFF2-40B4-BE49-F238E27FC236}">
                <a16:creationId xmlns:a16="http://schemas.microsoft.com/office/drawing/2014/main" id="{CD7E2E6F-75E9-5561-690E-F06AB494A39C}"/>
              </a:ext>
            </a:extLst>
          </p:cNvPr>
          <p:cNvSpPr/>
          <p:nvPr/>
        </p:nvSpPr>
        <p:spPr>
          <a:xfrm>
            <a:off x="4056191" y="3432564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9170F8EA-6834-19E3-2AB3-EC7DF7E0D8B0}"/>
              </a:ext>
            </a:extLst>
          </p:cNvPr>
          <p:cNvSpPr/>
          <p:nvPr/>
        </p:nvSpPr>
        <p:spPr>
          <a:xfrm>
            <a:off x="4056190" y="415993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D0234C0E-B16E-4176-9655-CE9DA95841C3}"/>
              </a:ext>
            </a:extLst>
          </p:cNvPr>
          <p:cNvSpPr/>
          <p:nvPr/>
        </p:nvSpPr>
        <p:spPr>
          <a:xfrm>
            <a:off x="4056189" y="4887300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3" name="Retângulo: Cantos Arredondados 32">
            <a:extLst>
              <a:ext uri="{FF2B5EF4-FFF2-40B4-BE49-F238E27FC236}">
                <a16:creationId xmlns:a16="http://schemas.microsoft.com/office/drawing/2014/main" id="{A72C22B6-226C-AEF1-6881-C109734BE165}"/>
              </a:ext>
            </a:extLst>
          </p:cNvPr>
          <p:cNvSpPr/>
          <p:nvPr/>
        </p:nvSpPr>
        <p:spPr>
          <a:xfrm>
            <a:off x="4056189" y="5624682"/>
            <a:ext cx="97631" cy="100335"/>
          </a:xfrm>
          <a:prstGeom prst="roundRect">
            <a:avLst/>
          </a:prstGeom>
          <a:solidFill>
            <a:srgbClr val="E0168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9771D51B-A779-C5DE-2F8E-E452FA607D0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990" b="21463"/>
          <a:stretch>
            <a:fillRect/>
          </a:stretch>
        </p:blipFill>
        <p:spPr>
          <a:xfrm>
            <a:off x="440322" y="6980884"/>
            <a:ext cx="6680617" cy="3710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5021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m 24">
            <a:extLst>
              <a:ext uri="{FF2B5EF4-FFF2-40B4-BE49-F238E27FC236}">
                <a16:creationId xmlns:a16="http://schemas.microsoft.com/office/drawing/2014/main" id="{58B0150A-607A-439B-2AE7-91C0733BC6E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E268EB4-6172-811B-4097-FA9D7F73D484}"/>
              </a:ext>
            </a:extLst>
          </p:cNvPr>
          <p:cNvSpPr txBox="1"/>
          <p:nvPr/>
        </p:nvSpPr>
        <p:spPr>
          <a:xfrm>
            <a:off x="245398" y="703309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Objetivo da Oferta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4CF1CA-1A58-61AB-93F7-35A2D59D7DF6}"/>
              </a:ext>
            </a:extLst>
          </p:cNvPr>
          <p:cNvSpPr txBox="1"/>
          <p:nvPr/>
        </p:nvSpPr>
        <p:spPr>
          <a:xfrm>
            <a:off x="245397" y="1608980"/>
            <a:ext cx="668061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 objetivo desta proposta é definir o escopo e condições comerciais ideais para o fornecimento do vetor de mistura.  Obedece aos critérios de concorrência (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Farplay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) pré-estabelecidos pelo cliente como: segurança, economia de custos, garantia de procedência, balanceamento e baixíssima manutenção.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9F7859-24E6-43C4-5EA1-85280CEE9A45}"/>
              </a:ext>
            </a:extLst>
          </p:cNvPr>
          <p:cNvSpPr txBox="1"/>
          <p:nvPr/>
        </p:nvSpPr>
        <p:spPr>
          <a:xfrm>
            <a:off x="440322" y="2833173"/>
            <a:ext cx="22303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Aletas dedicadas para melhor usabilidade em qualquer carga de sólido.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4C16CD1B-2E57-1686-AB08-456399A1B284}"/>
              </a:ext>
            </a:extLst>
          </p:cNvPr>
          <p:cNvSpPr txBox="1"/>
          <p:nvPr/>
        </p:nvSpPr>
        <p:spPr>
          <a:xfrm>
            <a:off x="4410774" y="2916173"/>
            <a:ext cx="255721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Acabamento recomendado para cosméticos, alimentos, antissépticos, medicamentos, entre outros.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B4726EC4-31A0-A97C-4811-375E688922B5}"/>
              </a:ext>
            </a:extLst>
          </p:cNvPr>
          <p:cNvSpPr txBox="1"/>
          <p:nvPr/>
        </p:nvSpPr>
        <p:spPr>
          <a:xfrm>
            <a:off x="353769" y="8504931"/>
            <a:ext cx="2230307" cy="954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Aço Inox {{</a:t>
            </a:r>
            <a:r>
              <a:rPr lang="pt-BR" sz="1400" dirty="0" err="1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com validação ambiental para evitar contaminação cruzada. 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6CBE7250-DEF4-1096-DD4E-0580BD140C9B}"/>
              </a:ext>
            </a:extLst>
          </p:cNvPr>
          <p:cNvSpPr txBox="1"/>
          <p:nvPr/>
        </p:nvSpPr>
        <p:spPr>
          <a:xfrm>
            <a:off x="4145719" y="8720373"/>
            <a:ext cx="282226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pt-BR" sz="1400" dirty="0">
                <a:solidFill>
                  <a:srgbClr val="E01684"/>
                </a:solidFill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Abertura do furo em qualquer torno para adaptação do eixo pré-existente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23C134B-FD37-007C-1906-3CAA2F69E9F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834" y="2833173"/>
            <a:ext cx="6833585" cy="6833585"/>
          </a:xfrm>
          <a:prstGeom prst="rect">
            <a:avLst/>
          </a:prstGeom>
        </p:spPr>
      </p:pic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id="{86225594-C4EC-23AE-7EA7-D4CDD0F3FABD}"/>
              </a:ext>
            </a:extLst>
          </p:cNvPr>
          <p:cNvCxnSpPr>
            <a:cxnSpLocks/>
          </p:cNvCxnSpPr>
          <p:nvPr/>
        </p:nvCxnSpPr>
        <p:spPr>
          <a:xfrm>
            <a:off x="1525478" y="3642826"/>
            <a:ext cx="1145151" cy="469177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BBCF6FA9-48C4-1094-BD65-65857BD3C526}"/>
              </a:ext>
            </a:extLst>
          </p:cNvPr>
          <p:cNvCxnSpPr>
            <a:cxnSpLocks/>
          </p:cNvCxnSpPr>
          <p:nvPr/>
        </p:nvCxnSpPr>
        <p:spPr>
          <a:xfrm flipH="1">
            <a:off x="4495800" y="3771900"/>
            <a:ext cx="1140328" cy="148590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B72907E6-1D93-9670-3B15-8A2EA62E334A}"/>
              </a:ext>
            </a:extLst>
          </p:cNvPr>
          <p:cNvCxnSpPr>
            <a:cxnSpLocks/>
          </p:cNvCxnSpPr>
          <p:nvPr/>
        </p:nvCxnSpPr>
        <p:spPr>
          <a:xfrm flipH="1" flipV="1">
            <a:off x="3780631" y="5768340"/>
            <a:ext cx="1546112" cy="2871914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EC5AA1ED-2518-1686-0FBF-CAAAFFBAA793}"/>
              </a:ext>
            </a:extLst>
          </p:cNvPr>
          <p:cNvCxnSpPr>
            <a:cxnSpLocks/>
          </p:cNvCxnSpPr>
          <p:nvPr/>
        </p:nvCxnSpPr>
        <p:spPr>
          <a:xfrm flipV="1">
            <a:off x="1264468" y="7368540"/>
            <a:ext cx="1319608" cy="96191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23" name="Imagem 22">
            <a:extLst>
              <a:ext uri="{FF2B5EF4-FFF2-40B4-BE49-F238E27FC236}">
                <a16:creationId xmlns:a16="http://schemas.microsoft.com/office/drawing/2014/main" id="{5571CB0F-9649-7B4C-8396-DC7F4BBE069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2178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Imagem 12">
            <a:extLst>
              <a:ext uri="{FF2B5EF4-FFF2-40B4-BE49-F238E27FC236}">
                <a16:creationId xmlns:a16="http://schemas.microsoft.com/office/drawing/2014/main" id="{53B017D2-BCED-17B2-B63A-4B702D2D6A25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A9111E26-1C29-2DCB-0179-FE1CA9867733}"/>
              </a:ext>
            </a:extLst>
          </p:cNvPr>
          <p:cNvSpPr txBox="1"/>
          <p:nvPr/>
        </p:nvSpPr>
        <p:spPr>
          <a:xfrm>
            <a:off x="193576" y="728135"/>
            <a:ext cx="6680618" cy="7179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Sugestão de Valores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1C05CDD-B802-2921-6793-2BEF6ADCAADE}"/>
              </a:ext>
            </a:extLst>
          </p:cNvPr>
          <p:cNvSpPr txBox="1"/>
          <p:nvPr/>
        </p:nvSpPr>
        <p:spPr>
          <a:xfrm>
            <a:off x="245395" y="2014435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Aquisição: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Vetor 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Rushton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C-</a:t>
            </a:r>
            <a:r>
              <a:rPr lang="pt-BR" sz="140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Blade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de Alta Homogeneização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diametro_corpo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mm: (Inox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aisi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/ Verde)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preco_unitario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(Unitário) //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preco_lote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(Lote)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7D46D8F-E44C-F399-B8B9-0F277FFF5FCC}"/>
              </a:ext>
            </a:extLst>
          </p:cNvPr>
          <p:cNvSpPr txBox="1"/>
          <p:nvPr/>
        </p:nvSpPr>
        <p:spPr>
          <a:xfrm>
            <a:off x="245395" y="3719807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Equipamento Acompanha: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Vetor em Aço Inox + Consultoria Técnica Full Time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4E4F6F1-4ABA-1D0B-6126-31DE2E71021B}"/>
              </a:ext>
            </a:extLst>
          </p:cNvPr>
          <p:cNvSpPr txBox="1"/>
          <p:nvPr/>
        </p:nvSpPr>
        <p:spPr>
          <a:xfrm>
            <a:off x="245395" y="5052654"/>
            <a:ext cx="6680617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Escolha sua Forma de Pagamento: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À vista 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- 50% de entrada + 50% em 30 dias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Faturado mediante aprovação cadastral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Cartão de crédito 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E32B3B0E-B1FB-44E3-8C44-A28C78AD2945}"/>
              </a:ext>
            </a:extLst>
          </p:cNvPr>
          <p:cNvSpPr txBox="1"/>
          <p:nvPr/>
        </p:nvSpPr>
        <p:spPr>
          <a:xfrm>
            <a:off x="245396" y="7155511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Escolha sua forma de Envio: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PAC –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frete_pac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- Via SEDEX -  R$ 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frete_sedex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9FF1F0D0-67BE-9938-A38E-68B114009BCE}"/>
              </a:ext>
            </a:extLst>
          </p:cNvPr>
          <p:cNvSpPr txBox="1"/>
          <p:nvPr/>
        </p:nvSpPr>
        <p:spPr>
          <a:xfrm>
            <a:off x="245395" y="8783475"/>
            <a:ext cx="668061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Envio: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4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condiçao_envio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C0F997C1-CDD9-B71B-4FBD-4ADFA8F459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55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C00599EE-FD6D-B2D1-C7D1-4E799D7D874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-171449" y="-1"/>
            <a:ext cx="679449" cy="10691813"/>
          </a:xfrm>
          <a:prstGeom prst="rect">
            <a:avLst/>
          </a:prstGeom>
          <a:solidFill>
            <a:srgbClr val="F4F0E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E98E0F27-3B3F-063A-1085-6DF67A1021AA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981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07D2093-2261-F9A9-C92B-6752AF3E3C27}"/>
              </a:ext>
            </a:extLst>
          </p:cNvPr>
          <p:cNvSpPr txBox="1"/>
          <p:nvPr/>
        </p:nvSpPr>
        <p:spPr>
          <a:xfrm>
            <a:off x="216368" y="741884"/>
            <a:ext cx="6680617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 e Classificação Fiscal: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IPI: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0%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ICMS: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8.8% (incluso)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IMPOSTOS: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Inclusos - Optante Simples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CD9471C-41E9-84AE-D3D1-62ACA4C1A695}"/>
              </a:ext>
            </a:extLst>
          </p:cNvPr>
          <p:cNvSpPr txBox="1"/>
          <p:nvPr/>
        </p:nvSpPr>
        <p:spPr>
          <a:xfrm>
            <a:off x="201856" y="2458071"/>
            <a:ext cx="698543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Dados Bancários: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Banco: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Bradesco |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 Agência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: 0516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Conta Corrente: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0293863-4 </a:t>
            </a:r>
          </a:p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Razão social: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Comércio de Equipamentos para Inteligência e Mistura LTDA. | </a:t>
            </a:r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CNPJ: </a:t>
            </a:r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26.863.716/0001-06 (Pix) 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45411E17-D183-EB4B-94DD-D917AB304952}"/>
              </a:ext>
            </a:extLst>
          </p:cNvPr>
          <p:cNvSpPr txBox="1"/>
          <p:nvPr/>
        </p:nvSpPr>
        <p:spPr>
          <a:xfrm>
            <a:off x="201855" y="4581713"/>
            <a:ext cx="6680617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Objetivo da Oferta:</a:t>
            </a:r>
          </a:p>
          <a:p>
            <a:endParaRPr lang="pt-BR" sz="2000" b="1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3.1: Número de NCM: 84.8790.00.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3.2: Validade da Proposta: 10 dias (Referente ao valor ofertado)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3.3: O pedido será aceito após confirmação via e-mail. 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3.4: Consulte disponibilidade das peças no ato da compra.</a:t>
            </a:r>
          </a:p>
          <a:p>
            <a:r>
              <a:rPr lang="pt-BR" sz="14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3.5: O relatório de instalação será enviado em até 7 dias úteis a partir da confirmação da compra.</a:t>
            </a:r>
          </a:p>
          <a:p>
            <a:endParaRPr lang="pt-BR" sz="14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2828BD8D-BBA7-CFAF-F08F-53545B972D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100"/>
          <a:stretch>
            <a:fillRect/>
          </a:stretch>
        </p:blipFill>
        <p:spPr>
          <a:xfrm>
            <a:off x="-689549" y="5166330"/>
            <a:ext cx="9278913" cy="552548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D70232F8-B1DA-19DB-BBD1-A50CCC6DB6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5421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m 18">
            <a:extLst>
              <a:ext uri="{FF2B5EF4-FFF2-40B4-BE49-F238E27FC236}">
                <a16:creationId xmlns:a16="http://schemas.microsoft.com/office/drawing/2014/main" id="{961345F8-0608-871A-DB85-C88B2DA327F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48700D33-762A-742B-32A0-8AFB038793E7}"/>
              </a:ext>
            </a:extLst>
          </p:cNvPr>
          <p:cNvSpPr txBox="1"/>
          <p:nvPr/>
        </p:nvSpPr>
        <p:spPr>
          <a:xfrm>
            <a:off x="245398" y="703309"/>
            <a:ext cx="6680618" cy="13720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5100"/>
              </a:lnSpc>
            </a:pPr>
            <a:r>
              <a:rPr lang="pt-BR" sz="4000" b="1" dirty="0">
                <a:solidFill>
                  <a:srgbClr val="E01684"/>
                </a:solidFill>
                <a:latin typeface="Arial Black" panose="020B0A04020102020204" pitchFamily="34" charset="0"/>
                <a:ea typeface="Inter" panose="02000503000000020004" pitchFamily="2" charset="0"/>
              </a:rPr>
              <a:t>Consulte nossa Reputação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FF6A4E49-8109-AFAC-721A-A6D995DBE37F}"/>
              </a:ext>
            </a:extLst>
          </p:cNvPr>
          <p:cNvSpPr txBox="1"/>
          <p:nvPr/>
        </p:nvSpPr>
        <p:spPr>
          <a:xfrm>
            <a:off x="245398" y="2443696"/>
            <a:ext cx="597552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Desde Novembro de 2020, trabalhamos com índice zero de reclamações em mais de 10.000 atendimentos. </a:t>
            </a:r>
          </a:p>
        </p:txBody>
      </p:sp>
      <p:pic>
        <p:nvPicPr>
          <p:cNvPr id="1026" name="Picture 2" descr="Internet - ícones de sinais grátis">
            <a:extLst>
              <a:ext uri="{FF2B5EF4-FFF2-40B4-BE49-F238E27FC236}">
                <a16:creationId xmlns:a16="http://schemas.microsoft.com/office/drawing/2014/main" id="{C97C1AFD-2FDC-5E98-F84C-C292F8F020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376201" y="5371305"/>
            <a:ext cx="52045" cy="520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logotipo do facebook png, ícone do facebook transparente png 18930538 PNG">
            <a:extLst>
              <a:ext uri="{FF2B5EF4-FFF2-40B4-BE49-F238E27FC236}">
                <a16:creationId xmlns:a16="http://schemas.microsoft.com/office/drawing/2014/main" id="{E2782CCE-AE41-0487-81E9-CC6D4A3CF88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414" r="53895"/>
          <a:stretch>
            <a:fillRect/>
          </a:stretch>
        </p:blipFill>
        <p:spPr bwMode="auto">
          <a:xfrm>
            <a:off x="338352" y="4669548"/>
            <a:ext cx="423648" cy="6429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nstagram logotipo png, Instagram logotipo transparente png, Instagram  ícone transparente livre png 23986547 PNG">
            <a:extLst>
              <a:ext uri="{FF2B5EF4-FFF2-40B4-BE49-F238E27FC236}">
                <a16:creationId xmlns:a16="http://schemas.microsoft.com/office/drawing/2014/main" id="{460FD1FB-2864-C944-AADE-9B81A0E9762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7018" y="4006020"/>
            <a:ext cx="549072" cy="549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Internet - ícones de sinais grátis">
            <a:extLst>
              <a:ext uri="{FF2B5EF4-FFF2-40B4-BE49-F238E27FC236}">
                <a16:creationId xmlns:a16="http://schemas.microsoft.com/office/drawing/2014/main" id="{9B72D5DC-E972-D41F-1CB8-C3BECAA221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263" y="6088063"/>
            <a:ext cx="433387" cy="43338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8DA6310F-6F56-F15B-5731-AED7A9520B15}"/>
              </a:ext>
            </a:extLst>
          </p:cNvPr>
          <p:cNvSpPr txBox="1"/>
          <p:nvPr/>
        </p:nvSpPr>
        <p:spPr>
          <a:xfrm>
            <a:off x="894471" y="4112167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@sohelices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4769437-C7D9-0FC8-69F6-845D06DA9D39}"/>
              </a:ext>
            </a:extLst>
          </p:cNvPr>
          <p:cNvSpPr txBox="1"/>
          <p:nvPr/>
        </p:nvSpPr>
        <p:spPr>
          <a:xfrm>
            <a:off x="894471" y="4822161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1B95116-79F8-E465-F5E4-6E5A86FA7099}"/>
              </a:ext>
            </a:extLst>
          </p:cNvPr>
          <p:cNvSpPr txBox="1"/>
          <p:nvPr/>
        </p:nvSpPr>
        <p:spPr>
          <a:xfrm>
            <a:off x="894471" y="5442809"/>
            <a:ext cx="19630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Só Hélices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47ADF7ED-4A67-2BEB-873B-8518333ED7D5}"/>
              </a:ext>
            </a:extLst>
          </p:cNvPr>
          <p:cNvSpPr txBox="1"/>
          <p:nvPr/>
        </p:nvSpPr>
        <p:spPr>
          <a:xfrm>
            <a:off x="894471" y="6160359"/>
            <a:ext cx="21281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  <p:pic>
        <p:nvPicPr>
          <p:cNvPr id="11" name="Imagem 10">
            <a:extLst>
              <a:ext uri="{FF2B5EF4-FFF2-40B4-BE49-F238E27FC236}">
                <a16:creationId xmlns:a16="http://schemas.microsoft.com/office/drawing/2014/main" id="{BB836953-59EA-955D-2AD4-178509DA4B1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414" y="8790867"/>
            <a:ext cx="1228286" cy="1228286"/>
          </a:xfrm>
          <a:prstGeom prst="rect">
            <a:avLst/>
          </a:prstGeom>
        </p:spPr>
      </p:pic>
      <p:cxnSp>
        <p:nvCxnSpPr>
          <p:cNvPr id="13" name="Conector reto 12">
            <a:extLst>
              <a:ext uri="{FF2B5EF4-FFF2-40B4-BE49-F238E27FC236}">
                <a16:creationId xmlns:a16="http://schemas.microsoft.com/office/drawing/2014/main" id="{B9E7B11F-61A3-DF0F-105B-7FB2647EC07E}"/>
              </a:ext>
            </a:extLst>
          </p:cNvPr>
          <p:cNvCxnSpPr/>
          <p:nvPr/>
        </p:nvCxnSpPr>
        <p:spPr>
          <a:xfrm>
            <a:off x="1739900" y="8790867"/>
            <a:ext cx="0" cy="122828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04856DBE-1BEC-E4C9-DC6B-0DCE8D47C873}"/>
              </a:ext>
            </a:extLst>
          </p:cNvPr>
          <p:cNvSpPr txBox="1"/>
          <p:nvPr/>
        </p:nvSpPr>
        <p:spPr>
          <a:xfrm>
            <a:off x="1845115" y="8866401"/>
            <a:ext cx="45265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São Paulo,  {{data}}.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nome_vendedor</a:t>
            </a:r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 [Atendimento/Vendas]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WhatsApp: (11) 94984-2894 </a:t>
            </a:r>
          </a:p>
          <a:p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E-mail: {{</a:t>
            </a:r>
            <a:r>
              <a:rPr lang="pt-BR" sz="1600" dirty="0" err="1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email_vendedor</a:t>
            </a:r>
            <a:r>
              <a:rPr lang="pt-BR" sz="160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}}</a:t>
            </a:r>
            <a:endParaRPr lang="pt-BR" sz="1600" dirty="0">
              <a:latin typeface="Arial" panose="020B0604020202020204" pitchFamily="34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17" name="Imagem 16">
            <a:extLst>
              <a:ext uri="{FF2B5EF4-FFF2-40B4-BE49-F238E27FC236}">
                <a16:creationId xmlns:a16="http://schemas.microsoft.com/office/drawing/2014/main" id="{9B50589B-B756-1E37-C729-F8675BDE6A4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10855" y="10150411"/>
            <a:ext cx="795338" cy="274618"/>
          </a:xfrm>
          <a:prstGeom prst="rect">
            <a:avLst/>
          </a:prstGeom>
        </p:spPr>
      </p:pic>
      <p:pic>
        <p:nvPicPr>
          <p:cNvPr id="1036" name="Picture 12" descr="youtube logo | Figma">
            <a:extLst>
              <a:ext uri="{FF2B5EF4-FFF2-40B4-BE49-F238E27FC236}">
                <a16:creationId xmlns:a16="http://schemas.microsoft.com/office/drawing/2014/main" id="{72C8EA68-EFB8-3009-0579-8F477FA03C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40" y="5379317"/>
            <a:ext cx="894471" cy="4473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7BDED375-9FB9-56D0-75F4-01544D688D1F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0677"/>
          <a:stretch>
            <a:fillRect/>
          </a:stretch>
        </p:blipFill>
        <p:spPr>
          <a:xfrm rot="303376">
            <a:off x="1821625" y="927818"/>
            <a:ext cx="6106756" cy="8809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0619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092B84F-C2B6-E55E-6396-16A2F8E8E90C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13" y="0"/>
            <a:ext cx="7558636" cy="10691813"/>
          </a:xfrm>
          <a:prstGeom prst="rect">
            <a:avLst/>
          </a:prstGeom>
        </p:spPr>
      </p:pic>
      <p:sp>
        <p:nvSpPr>
          <p:cNvPr id="6" name="Google Shape;147;p7">
            <a:extLst>
              <a:ext uri="{FF2B5EF4-FFF2-40B4-BE49-F238E27FC236}">
                <a16:creationId xmlns:a16="http://schemas.microsoft.com/office/drawing/2014/main" id="{D4CF83FD-7A2B-6CA5-A391-C7BA490B06F9}"/>
              </a:ext>
            </a:extLst>
          </p:cNvPr>
          <p:cNvSpPr txBox="1"/>
          <p:nvPr/>
        </p:nvSpPr>
        <p:spPr>
          <a:xfrm>
            <a:off x="1817328" y="9520438"/>
            <a:ext cx="3926604" cy="8340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pt-BR" sz="14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Rua Américo Brasiliense, 1490, sala 75, Chácara Santo Antônio, São Paulo, SP</a:t>
            </a:r>
            <a:endParaRPr sz="1400" i="0" u="none" strike="noStrike" cap="none" dirty="0">
              <a:solidFill>
                <a:srgbClr val="000000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2176E031-90C1-4B7C-2EB7-ABEA48BA9B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73427" y="3426993"/>
            <a:ext cx="3414406" cy="2416849"/>
          </a:xfrm>
          <a:prstGeom prst="rect">
            <a:avLst/>
          </a:prstGeom>
        </p:spPr>
      </p:pic>
      <p:sp>
        <p:nvSpPr>
          <p:cNvPr id="10" name="CaixaDeTexto 9">
            <a:extLst>
              <a:ext uri="{FF2B5EF4-FFF2-40B4-BE49-F238E27FC236}">
                <a16:creationId xmlns:a16="http://schemas.microsoft.com/office/drawing/2014/main" id="{13CAE41B-063C-6834-F260-2F4FA9FEF712}"/>
              </a:ext>
            </a:extLst>
          </p:cNvPr>
          <p:cNvSpPr txBox="1"/>
          <p:nvPr/>
        </p:nvSpPr>
        <p:spPr>
          <a:xfrm>
            <a:off x="2617964" y="5345906"/>
            <a:ext cx="23253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600" dirty="0">
                <a:latin typeface="Arial" panose="020B0604020202020204" pitchFamily="34" charset="0"/>
                <a:ea typeface="Inter" panose="02000503000000020004" pitchFamily="2" charset="0"/>
                <a:cs typeface="Arial" panose="020B0604020202020204" pitchFamily="34" charset="0"/>
              </a:rPr>
              <a:t>www.sohelices.com.br</a:t>
            </a:r>
          </a:p>
        </p:txBody>
      </p:sp>
    </p:spTree>
    <p:extLst>
      <p:ext uri="{BB962C8B-B14F-4D97-AF65-F5344CB8AC3E}">
        <p14:creationId xmlns:p14="http://schemas.microsoft.com/office/powerpoint/2010/main" val="37393142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Tema do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o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o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Orçamento Rushton AeroCurve</Template>
  <TotalTime>66</TotalTime>
  <Words>542</Words>
  <Application>Microsoft Office PowerPoint</Application>
  <PresentationFormat>Personalizar</PresentationFormat>
  <Paragraphs>79</Paragraphs>
  <Slides>7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Aptos</vt:lpstr>
      <vt:lpstr>Aptos Display</vt:lpstr>
      <vt:lpstr>Arial</vt:lpstr>
      <vt:lpstr>Arial Black</vt:lpstr>
      <vt:lpstr>Inter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G3 MISTURADORES DO BRASIL LTDA</dc:creator>
  <cp:lastModifiedBy>G3 MISTURADORES DO BRASIL LTDA</cp:lastModifiedBy>
  <cp:revision>3</cp:revision>
  <dcterms:created xsi:type="dcterms:W3CDTF">2026-04-01T12:06:39Z</dcterms:created>
  <dcterms:modified xsi:type="dcterms:W3CDTF">2026-04-02T12:25:10Z</dcterms:modified>
</cp:coreProperties>
</file>